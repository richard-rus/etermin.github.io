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11"/>
  </p:notesMasterIdLst>
  <p:sldIdLst>
    <p:sldId id="256" r:id="rId2"/>
    <p:sldId id="276" r:id="rId3"/>
    <p:sldId id="279" r:id="rId4"/>
    <p:sldId id="282" r:id="rId5"/>
    <p:sldId id="283" r:id="rId6"/>
    <p:sldId id="284" r:id="rId7"/>
    <p:sldId id="285" r:id="rId8"/>
    <p:sldId id="286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8" autoAdjust="0"/>
    <p:restoredTop sz="94671"/>
  </p:normalViewPr>
  <p:slideViewPr>
    <p:cSldViewPr snapToGrid="0">
      <p:cViewPr varScale="1">
        <p:scale>
          <a:sx n="74" d="100"/>
          <a:sy n="74" d="100"/>
        </p:scale>
        <p:origin x="9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9. 4. 2026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766" y="454152"/>
            <a:ext cx="8660973" cy="3566160"/>
          </a:xfrm>
        </p:spPr>
        <p:txBody>
          <a:bodyPr/>
          <a:lstStyle/>
          <a:p>
            <a:r>
              <a:rPr lang="en-US" b="1" dirty="0" err="1"/>
              <a:t>Ganttov</a:t>
            </a:r>
            <a:r>
              <a:rPr lang="en-US" b="1" dirty="0"/>
              <a:t> diagram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766" y="47912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Koperdáková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4D67-1470-CE02-5D05-F4042452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1">
            <a:extLst>
              <a:ext uri="{FF2B5EF4-FFF2-40B4-BE49-F238E27FC236}">
                <a16:creationId xmlns:a16="http://schemas.microsoft.com/office/drawing/2014/main" id="{86547C87-52A3-8A0F-DBDF-A97AEA72783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/>
              <a:t>Harmonogram</a:t>
            </a:r>
            <a:r>
              <a:rPr lang="en-US" b="1" dirty="0"/>
              <a:t> </a:t>
            </a:r>
            <a:r>
              <a:rPr lang="en-US" b="1" dirty="0" err="1"/>
              <a:t>realizácie</a:t>
            </a:r>
            <a:r>
              <a:rPr lang="en-US" b="1" dirty="0"/>
              <a:t> </a:t>
            </a:r>
            <a:r>
              <a:rPr lang="en-US" b="1" dirty="0" err="1"/>
              <a:t>eTermín</a:t>
            </a:r>
            <a:endParaRPr lang="sk-SK" sz="50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E4F1B3AC-E8FA-2F90-4987-573AA8331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560841"/>
              </p:ext>
            </p:extLst>
          </p:nvPr>
        </p:nvGraphicFramePr>
        <p:xfrm>
          <a:off x="1066800" y="1960834"/>
          <a:ext cx="10058400" cy="3913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97028">
                  <a:extLst>
                    <a:ext uri="{9D8B030D-6E8A-4147-A177-3AD203B41FA5}">
                      <a16:colId xmlns:a16="http://schemas.microsoft.com/office/drawing/2014/main" val="3032083245"/>
                    </a:ext>
                  </a:extLst>
                </a:gridCol>
                <a:gridCol w="1565343">
                  <a:extLst>
                    <a:ext uri="{9D8B030D-6E8A-4147-A177-3AD203B41FA5}">
                      <a16:colId xmlns:a16="http://schemas.microsoft.com/office/drawing/2014/main" val="1786679449"/>
                    </a:ext>
                  </a:extLst>
                </a:gridCol>
                <a:gridCol w="1565343">
                  <a:extLst>
                    <a:ext uri="{9D8B030D-6E8A-4147-A177-3AD203B41FA5}">
                      <a16:colId xmlns:a16="http://schemas.microsoft.com/office/drawing/2014/main" val="2866210463"/>
                    </a:ext>
                  </a:extLst>
                </a:gridCol>
                <a:gridCol w="1565343">
                  <a:extLst>
                    <a:ext uri="{9D8B030D-6E8A-4147-A177-3AD203B41FA5}">
                      <a16:colId xmlns:a16="http://schemas.microsoft.com/office/drawing/2014/main" val="4147966207"/>
                    </a:ext>
                  </a:extLst>
                </a:gridCol>
                <a:gridCol w="1565343">
                  <a:extLst>
                    <a:ext uri="{9D8B030D-6E8A-4147-A177-3AD203B41FA5}">
                      <a16:colId xmlns:a16="http://schemas.microsoft.com/office/drawing/2014/main" val="1230818231"/>
                    </a:ext>
                  </a:extLst>
                </a:gridCol>
              </a:tblGrid>
              <a:tr h="436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</a:rPr>
                        <a:t>Fáza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projektu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</a:rPr>
                        <a:t>Mesiac</a:t>
                      </a:r>
                      <a:r>
                        <a:rPr lang="en-US" sz="2000" b="1" dirty="0">
                          <a:effectLst/>
                        </a:rPr>
                        <a:t> 1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</a:rPr>
                        <a:t>Mesiac</a:t>
                      </a:r>
                      <a:r>
                        <a:rPr lang="en-US" sz="2000" b="1" dirty="0">
                          <a:effectLst/>
                        </a:rPr>
                        <a:t> 2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</a:rPr>
                        <a:t>Mesiac</a:t>
                      </a:r>
                      <a:r>
                        <a:rPr lang="en-US" sz="2000" b="1" dirty="0">
                          <a:effectLst/>
                        </a:rPr>
                        <a:t> 3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</a:rPr>
                        <a:t>Udržiavanie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170266"/>
                  </a:ext>
                </a:extLst>
              </a:tr>
              <a:tr h="436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1. </a:t>
                      </a:r>
                      <a:r>
                        <a:rPr lang="en-US" sz="2000" dirty="0" err="1">
                          <a:effectLst/>
                        </a:rPr>
                        <a:t>Analýza</a:t>
                      </a:r>
                      <a:r>
                        <a:rPr lang="en-US" sz="2000" dirty="0">
                          <a:effectLst/>
                        </a:rPr>
                        <a:t> &amp; UX </a:t>
                      </a:r>
                      <a:r>
                        <a:rPr lang="en-US" sz="2000" dirty="0" err="1">
                          <a:effectLst/>
                        </a:rPr>
                        <a:t>návrh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52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2. </a:t>
                      </a:r>
                      <a:r>
                        <a:rPr lang="en-US" sz="2000" dirty="0" err="1">
                          <a:effectLst/>
                        </a:rPr>
                        <a:t>Vývoj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jadra</a:t>
                      </a:r>
                      <a:r>
                        <a:rPr lang="en-US" sz="2000" dirty="0">
                          <a:effectLst/>
                        </a:rPr>
                        <a:t> (Backend)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542464"/>
                  </a:ext>
                </a:extLst>
              </a:tr>
              <a:tr h="7585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3. </a:t>
                      </a:r>
                      <a:r>
                        <a:rPr lang="en-US" sz="2000" dirty="0" err="1">
                          <a:effectLst/>
                        </a:rPr>
                        <a:t>Administrácia</a:t>
                      </a:r>
                      <a:r>
                        <a:rPr lang="en-US" sz="2000" dirty="0">
                          <a:effectLst/>
                        </a:rPr>
                        <a:t> &amp; Frontend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78074"/>
                  </a:ext>
                </a:extLst>
              </a:tr>
              <a:tr h="597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4. </a:t>
                      </a:r>
                      <a:r>
                        <a:rPr lang="en-US" sz="2000" dirty="0" err="1">
                          <a:effectLst/>
                        </a:rPr>
                        <a:t>Notifikácie</a:t>
                      </a:r>
                      <a:r>
                        <a:rPr lang="en-US" sz="2000" dirty="0">
                          <a:effectLst/>
                        </a:rPr>
                        <a:t> &amp; GDPR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717885"/>
                  </a:ext>
                </a:extLst>
              </a:tr>
              <a:tr h="597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5. </a:t>
                      </a:r>
                      <a:r>
                        <a:rPr lang="en-US" sz="2000" dirty="0" err="1">
                          <a:effectLst/>
                        </a:rPr>
                        <a:t>Pilotný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štart</a:t>
                      </a:r>
                      <a:r>
                        <a:rPr lang="en-US" sz="2000" dirty="0">
                          <a:effectLst/>
                        </a:rPr>
                        <a:t> &amp; SEO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XXXX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823774"/>
                  </a:ext>
                </a:extLst>
              </a:tr>
              <a:tr h="597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6. </a:t>
                      </a:r>
                      <a:r>
                        <a:rPr lang="en-US" sz="2000" dirty="0" err="1">
                          <a:effectLst/>
                        </a:rPr>
                        <a:t>Technická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podpora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4000"/>
                        </a:lnSpc>
                        <a:buNone/>
                      </a:pPr>
                      <a:r>
                        <a:rPr lang="en-US" sz="2000" dirty="0" err="1">
                          <a:effectLst/>
                        </a:rPr>
                        <a:t>Priebežne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6234" marR="96234" marT="64156" marB="641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69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78B3B4C-41EE-1F85-CCF9-030B2323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4701C8B4-60DA-FF70-64DF-ECCEF4BBEE4C}"/>
              </a:ext>
            </a:extLst>
          </p:cNvPr>
          <p:cNvSpPr txBox="1">
            <a:spLocks/>
          </p:cNvSpPr>
          <p:nvPr/>
        </p:nvSpPr>
        <p:spPr>
          <a:xfrm>
            <a:off x="583684" y="2206377"/>
            <a:ext cx="6028031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 </a:t>
            </a:r>
            <a:r>
              <a:rPr lang="en-US" dirty="0" err="1"/>
              <a:t>Transformácia</a:t>
            </a:r>
            <a:r>
              <a:rPr lang="en-US" dirty="0"/>
              <a:t> </a:t>
            </a:r>
            <a:r>
              <a:rPr lang="en-US" dirty="0" err="1"/>
              <a:t>papierových</a:t>
            </a:r>
            <a:r>
              <a:rPr lang="en-US" dirty="0"/>
              <a:t> </a:t>
            </a:r>
            <a:r>
              <a:rPr lang="en-US" dirty="0" err="1"/>
              <a:t>procesov</a:t>
            </a:r>
            <a:r>
              <a:rPr lang="en-US" dirty="0"/>
              <a:t> do </a:t>
            </a:r>
            <a:r>
              <a:rPr lang="en-US" dirty="0" err="1"/>
              <a:t>digitálu</a:t>
            </a:r>
            <a:r>
              <a:rPr lang="en-US" dirty="0"/>
              <a:t>. </a:t>
            </a:r>
            <a:r>
              <a:rPr lang="en-US" dirty="0" err="1"/>
              <a:t>Definujeme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m</a:t>
            </a:r>
            <a:r>
              <a:rPr lang="sk-SK" dirty="0"/>
              <a:t>á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efektívne</a:t>
            </a:r>
            <a:r>
              <a:rPr lang="en-US" dirty="0"/>
              <a:t> </a:t>
            </a:r>
            <a:r>
              <a:rPr lang="en-US" dirty="0" err="1"/>
              <a:t>nahrádza</a:t>
            </a:r>
            <a:r>
              <a:rPr lang="sk-SK" dirty="0"/>
              <a:t>ť</a:t>
            </a:r>
            <a:r>
              <a:rPr lang="en-US" dirty="0"/>
              <a:t> </a:t>
            </a:r>
            <a:r>
              <a:rPr lang="en-US" dirty="0" err="1"/>
              <a:t>papie</a:t>
            </a:r>
            <a:r>
              <a:rPr lang="sk-SK" dirty="0"/>
              <a:t>r</a:t>
            </a:r>
            <a:r>
              <a:rPr lang="en-US" dirty="0"/>
              <a:t>.</a:t>
            </a:r>
          </a:p>
          <a:p>
            <a:r>
              <a:rPr lang="sk-SK" dirty="0"/>
              <a:t> </a:t>
            </a:r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rozhrania</a:t>
            </a:r>
            <a:r>
              <a:rPr lang="en-US" dirty="0"/>
              <a:t> s </a:t>
            </a:r>
            <a:r>
              <a:rPr lang="en-US" dirty="0" err="1"/>
              <a:t>dôrazom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overené</a:t>
            </a:r>
            <a:r>
              <a:rPr lang="en-US" dirty="0"/>
              <a:t> </a:t>
            </a:r>
            <a:r>
              <a:rPr lang="en-US" dirty="0" err="1"/>
              <a:t>recenzie</a:t>
            </a:r>
            <a:r>
              <a:rPr lang="en-US" dirty="0"/>
              <a:t>. 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2BB4B134-2EC2-C2DF-B933-B0D7A87687A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defTabSz="914400">
              <a:lnSpc>
                <a:spcPct val="85000"/>
              </a:lnSpc>
              <a:spcBef>
                <a:spcPct val="0"/>
              </a:spcBef>
              <a:buNone/>
              <a:defRPr sz="5000" b="1" spc="-5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Analýza</a:t>
            </a:r>
            <a:r>
              <a:rPr lang="en-US" dirty="0"/>
              <a:t> &amp; UX </a:t>
            </a:r>
            <a:r>
              <a:rPr lang="en-US" dirty="0" err="1"/>
              <a:t>návrh</a:t>
            </a:r>
            <a:endParaRPr lang="sk-SK" dirty="0"/>
          </a:p>
        </p:txBody>
      </p:sp>
      <p:pic>
        <p:nvPicPr>
          <p:cNvPr id="2" name="Picture 2" descr="Čo je UX a UI dizajn a aký je rozdiel medzi nimi? • ui42.sk">
            <a:extLst>
              <a:ext uri="{FF2B5EF4-FFF2-40B4-BE49-F238E27FC236}">
                <a16:creationId xmlns:a16="http://schemas.microsoft.com/office/drawing/2014/main" id="{03FC8FD1-628C-E98F-B577-4CA572657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016" y="2410778"/>
            <a:ext cx="4575899" cy="305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23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164C-B8E2-1908-A346-9CD6D4DD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E4FB3229-4AB2-F54B-BFDA-59EEE21A4C6B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6344008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 err="1"/>
              <a:t>Technické</a:t>
            </a:r>
            <a:r>
              <a:rPr lang="en-US" dirty="0"/>
              <a:t> </a:t>
            </a:r>
            <a:r>
              <a:rPr lang="en-US" dirty="0" err="1"/>
              <a:t>jadro</a:t>
            </a:r>
            <a:r>
              <a:rPr lang="en-US" dirty="0"/>
              <a:t>. </a:t>
            </a:r>
            <a:endParaRPr lang="sk-SK" dirty="0"/>
          </a:p>
          <a:p>
            <a:r>
              <a:rPr lang="en-US" dirty="0" err="1"/>
              <a:t>Musí</a:t>
            </a:r>
            <a:r>
              <a:rPr lang="en-US" dirty="0"/>
              <a:t> </a:t>
            </a:r>
            <a:r>
              <a:rPr lang="en-US" dirty="0" err="1"/>
              <a:t>zabezpečiť</a:t>
            </a:r>
            <a:r>
              <a:rPr lang="en-US" dirty="0"/>
              <a:t> </a:t>
            </a:r>
            <a:r>
              <a:rPr lang="en-US" dirty="0" err="1"/>
              <a:t>nulovú</a:t>
            </a:r>
            <a:r>
              <a:rPr lang="en-US" dirty="0"/>
              <a:t> </a:t>
            </a:r>
            <a:r>
              <a:rPr lang="en-US" dirty="0" err="1"/>
              <a:t>chybovosť</a:t>
            </a:r>
            <a:r>
              <a:rPr lang="en-US" dirty="0"/>
              <a:t> a </a:t>
            </a:r>
            <a:r>
              <a:rPr lang="en-US" dirty="0" err="1"/>
              <a:t>ochranu</a:t>
            </a:r>
            <a:r>
              <a:rPr lang="en-US" dirty="0"/>
              <a:t> </a:t>
            </a:r>
            <a:r>
              <a:rPr lang="en-US" dirty="0" err="1"/>
              <a:t>údajov</a:t>
            </a:r>
            <a:r>
              <a:rPr lang="en-US" dirty="0"/>
              <a:t>.</a:t>
            </a:r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5C1A4E41-5F75-77B0-75AA-B2B939B727B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 err="1">
                <a:solidFill>
                  <a:schemeClr val="tx1"/>
                </a:solidFill>
              </a:rPr>
              <a:t>Vývoj</a:t>
            </a:r>
            <a:r>
              <a:rPr lang="en-US" sz="5000" b="1" dirty="0">
                <a:solidFill>
                  <a:schemeClr val="tx1"/>
                </a:solidFill>
              </a:rPr>
              <a:t> </a:t>
            </a:r>
            <a:r>
              <a:rPr lang="en-US" sz="5000" b="1" dirty="0" err="1">
                <a:solidFill>
                  <a:schemeClr val="tx1"/>
                </a:solidFill>
              </a:rPr>
              <a:t>jadra</a:t>
            </a:r>
            <a:r>
              <a:rPr lang="en-US" sz="5000" b="1" dirty="0">
                <a:solidFill>
                  <a:schemeClr val="tx1"/>
                </a:solidFill>
              </a:rPr>
              <a:t> (Backend)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How to Become a Backend Developer: Important Skills to Learn">
            <a:extLst>
              <a:ext uri="{FF2B5EF4-FFF2-40B4-BE49-F238E27FC236}">
                <a16:creationId xmlns:a16="http://schemas.microsoft.com/office/drawing/2014/main" id="{110E51CF-E9D5-06EE-239A-0445C5BBE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624" y="2633213"/>
            <a:ext cx="4896294" cy="244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67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036D-34C8-3F69-339E-4EC799D1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C8AFF928-74CC-5CB2-AB3D-E3F5E405BB3B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4928621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 err="1"/>
              <a:t>Vývoj</a:t>
            </a:r>
            <a:r>
              <a:rPr lang="en-US" dirty="0"/>
              <a:t> </a:t>
            </a:r>
            <a:r>
              <a:rPr lang="en-US" dirty="0" err="1"/>
              <a:t>prostredia</a:t>
            </a:r>
            <a:r>
              <a:rPr lang="en-US" dirty="0"/>
              <a:t> pre </a:t>
            </a:r>
            <a:r>
              <a:rPr lang="en-US" dirty="0" err="1"/>
              <a:t>personál</a:t>
            </a:r>
            <a:r>
              <a:rPr lang="en-US" dirty="0"/>
              <a:t>.</a:t>
            </a:r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A9E34ED1-FDC3-F9AF-E1FA-8615C9B10EF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 err="1">
                <a:solidFill>
                  <a:schemeClr val="tx1"/>
                </a:solidFill>
              </a:rPr>
              <a:t>Administrácia</a:t>
            </a:r>
            <a:r>
              <a:rPr lang="en-US" sz="5000" b="1" dirty="0">
                <a:solidFill>
                  <a:schemeClr val="tx1"/>
                </a:solidFill>
              </a:rPr>
              <a:t> &amp; Frontend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8B7D91FE-E345-DBB4-FC33-CAEAAAB9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3" t="8415" r="5917" b="9299"/>
          <a:stretch>
            <a:fillRect/>
          </a:stretch>
        </p:blipFill>
        <p:spPr>
          <a:xfrm>
            <a:off x="6096000" y="2351247"/>
            <a:ext cx="5451902" cy="30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5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6792-70E7-F413-0118-6A67883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5930372C-5E5D-79B1-06FB-085A2048A375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6344008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fontAlgn="base"/>
            <a:r>
              <a:rPr lang="en-US" dirty="0" err="1"/>
              <a:t>Nasadenie</a:t>
            </a:r>
            <a:r>
              <a:rPr lang="en-US" dirty="0"/>
              <a:t> SMS </a:t>
            </a:r>
            <a:r>
              <a:rPr lang="en-US" dirty="0" err="1"/>
              <a:t>notifikácií</a:t>
            </a:r>
            <a:r>
              <a:rPr lang="en-US" dirty="0"/>
              <a:t> </a:t>
            </a:r>
            <a:endParaRPr lang="sk-SK" dirty="0"/>
          </a:p>
          <a:p>
            <a:pPr lvl="0" fontAlgn="base"/>
            <a:r>
              <a:rPr lang="sk-SK" dirty="0"/>
              <a:t>F</a:t>
            </a:r>
            <a:r>
              <a:rPr lang="en-US" dirty="0" err="1"/>
              <a:t>inálny</a:t>
            </a:r>
            <a:r>
              <a:rPr lang="en-US" dirty="0"/>
              <a:t> audit </a:t>
            </a:r>
            <a:r>
              <a:rPr lang="en-US" dirty="0" err="1"/>
              <a:t>bezpečnosti</a:t>
            </a:r>
            <a:r>
              <a:rPr lang="en-US" dirty="0"/>
              <a:t> </a:t>
            </a:r>
            <a:r>
              <a:rPr lang="en-US" dirty="0" err="1"/>
              <a:t>podľa</a:t>
            </a:r>
            <a:r>
              <a:rPr lang="en-US" dirty="0"/>
              <a:t> GDPR.</a:t>
            </a:r>
          </a:p>
          <a:p>
            <a:pPr lvl="0"/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41742EA-73E5-A829-9AA1-6171B9332627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 err="1">
                <a:solidFill>
                  <a:schemeClr val="tx1"/>
                </a:solidFill>
              </a:rPr>
              <a:t>Notifikácie</a:t>
            </a:r>
            <a:r>
              <a:rPr lang="en-US" sz="5000" b="1" dirty="0">
                <a:solidFill>
                  <a:schemeClr val="tx1"/>
                </a:solidFill>
              </a:rPr>
              <a:t> &amp; GDPR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34EA835-5578-621A-82F2-9ABB8CBF6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14" y="1876087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7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3CF0-E08B-111A-428C-BCA2DD68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D91EC476-4FBB-1AD4-A3DC-9B0FEDD2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46" t="5536" r="12664" b="9894"/>
          <a:stretch>
            <a:fillRect/>
          </a:stretch>
        </p:blipFill>
        <p:spPr>
          <a:xfrm>
            <a:off x="7117772" y="2124133"/>
            <a:ext cx="4987638" cy="3157686"/>
          </a:xfrm>
          <a:prstGeom prst="rect">
            <a:avLst/>
          </a:prstGeom>
        </p:spPr>
      </p:pic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850E7E4F-506F-31AF-0B55-4882602BF355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6113812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fontAlgn="base"/>
            <a:r>
              <a:rPr lang="en-US" dirty="0"/>
              <a:t> </a:t>
            </a:r>
            <a:r>
              <a:rPr lang="en-US" dirty="0" err="1"/>
              <a:t>Spustenie</a:t>
            </a:r>
            <a:r>
              <a:rPr lang="en-US" dirty="0"/>
              <a:t> u </a:t>
            </a:r>
            <a:r>
              <a:rPr lang="en-US" dirty="0" err="1"/>
              <a:t>prvých</a:t>
            </a:r>
            <a:r>
              <a:rPr lang="en-US" dirty="0"/>
              <a:t> </a:t>
            </a:r>
            <a:r>
              <a:rPr lang="en-US" dirty="0" err="1"/>
              <a:t>lekárov</a:t>
            </a:r>
            <a:endParaRPr lang="sk-SK" dirty="0"/>
          </a:p>
          <a:p>
            <a:pPr lvl="0" fontAlgn="base"/>
            <a:r>
              <a:rPr lang="sk-SK" dirty="0"/>
              <a:t> O</a:t>
            </a:r>
            <a:r>
              <a:rPr lang="en-US" dirty="0" err="1"/>
              <a:t>ptimalizácia</a:t>
            </a:r>
            <a:r>
              <a:rPr lang="en-US" dirty="0"/>
              <a:t> </a:t>
            </a:r>
            <a:r>
              <a:rPr lang="en-US" dirty="0" err="1"/>
              <a:t>profilov</a:t>
            </a:r>
            <a:r>
              <a:rPr lang="en-US" dirty="0"/>
              <a:t> pre </a:t>
            </a:r>
            <a:r>
              <a:rPr lang="en-US" dirty="0" err="1"/>
              <a:t>vyhľadávače</a:t>
            </a:r>
            <a:r>
              <a:rPr lang="en-US" dirty="0"/>
              <a:t> (SEO).</a:t>
            </a:r>
          </a:p>
          <a:p>
            <a:pPr lvl="0"/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3CDD0A79-D294-EC03-A25C-E1126C6A5CC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 err="1">
                <a:solidFill>
                  <a:schemeClr val="tx1"/>
                </a:solidFill>
              </a:rPr>
              <a:t>Pilotný</a:t>
            </a:r>
            <a:r>
              <a:rPr lang="en-US" sz="5000" b="1" dirty="0">
                <a:solidFill>
                  <a:schemeClr val="tx1"/>
                </a:solidFill>
              </a:rPr>
              <a:t> </a:t>
            </a:r>
            <a:r>
              <a:rPr lang="en-US" sz="5000" b="1" dirty="0" err="1">
                <a:solidFill>
                  <a:schemeClr val="tx1"/>
                </a:solidFill>
              </a:rPr>
              <a:t>štart</a:t>
            </a:r>
            <a:r>
              <a:rPr lang="en-US" sz="5000" b="1" dirty="0">
                <a:solidFill>
                  <a:schemeClr val="tx1"/>
                </a:solidFill>
              </a:rPr>
              <a:t> &amp; SEO</a:t>
            </a:r>
            <a:endParaRPr lang="sk-SK" sz="5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60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9B23-FD57-4FBC-C416-6CDD7F6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CC693D4E-402F-BDC9-D8B0-D0B495180C0F}"/>
              </a:ext>
            </a:extLst>
          </p:cNvPr>
          <p:cNvSpPr txBox="1">
            <a:spLocks/>
          </p:cNvSpPr>
          <p:nvPr/>
        </p:nvSpPr>
        <p:spPr>
          <a:xfrm>
            <a:off x="919286" y="2124133"/>
            <a:ext cx="6344008" cy="34663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fontAlgn="base"/>
            <a:r>
              <a:rPr lang="en-US" dirty="0" err="1"/>
              <a:t>Pravidelné</a:t>
            </a:r>
            <a:r>
              <a:rPr lang="en-US" dirty="0"/>
              <a:t> </a:t>
            </a:r>
            <a:r>
              <a:rPr lang="en-US" dirty="0" err="1"/>
              <a:t>aktualizácie</a:t>
            </a:r>
            <a:r>
              <a:rPr lang="sk-SK" dirty="0"/>
              <a:t>.</a:t>
            </a:r>
          </a:p>
          <a:p>
            <a:pPr lvl="0" fontAlgn="base"/>
            <a:r>
              <a:rPr lang="sk-SK" dirty="0"/>
              <a:t>Z</a:t>
            </a:r>
            <a:r>
              <a:rPr lang="en-US" dirty="0" err="1"/>
              <a:t>álohy</a:t>
            </a:r>
            <a:r>
              <a:rPr lang="sk-SK" dirty="0"/>
              <a:t>.</a:t>
            </a:r>
          </a:p>
          <a:p>
            <a:pPr lvl="0" fontAlgn="base"/>
            <a:r>
              <a:rPr lang="sk-SK" dirty="0"/>
              <a:t>T</a:t>
            </a:r>
            <a:r>
              <a:rPr lang="en-US" dirty="0" err="1"/>
              <a:t>echnická</a:t>
            </a:r>
            <a:r>
              <a:rPr lang="en-US" dirty="0"/>
              <a:t> </a:t>
            </a:r>
            <a:r>
              <a:rPr lang="en-US" dirty="0" err="1"/>
              <a:t>pomoc</a:t>
            </a:r>
            <a:r>
              <a:rPr lang="en-US" dirty="0"/>
              <a:t> pre </a:t>
            </a:r>
            <a:r>
              <a:rPr lang="en-US" dirty="0" err="1"/>
              <a:t>kliniky</a:t>
            </a:r>
            <a:r>
              <a:rPr lang="en-US" dirty="0"/>
              <a:t>.</a:t>
            </a:r>
          </a:p>
          <a:p>
            <a:pPr lvl="0"/>
            <a:endParaRPr lang="sk-SK" dirty="0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A50A9525-E355-9BE3-FEA9-E44AC85DF45F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 err="1">
                <a:solidFill>
                  <a:schemeClr val="tx1"/>
                </a:solidFill>
              </a:rPr>
              <a:t>Technická</a:t>
            </a:r>
            <a:r>
              <a:rPr lang="en-US" sz="5000" b="1" dirty="0">
                <a:solidFill>
                  <a:schemeClr val="tx1"/>
                </a:solidFill>
              </a:rPr>
              <a:t> </a:t>
            </a:r>
            <a:r>
              <a:rPr lang="en-US" sz="5000" b="1" dirty="0" err="1">
                <a:solidFill>
                  <a:schemeClr val="tx1"/>
                </a:solidFill>
              </a:rPr>
              <a:t>podpora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F61B39E2-8069-1F36-A865-61E3F64B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55"/>
          <a:stretch>
            <a:fillRect/>
          </a:stretch>
        </p:blipFill>
        <p:spPr>
          <a:xfrm>
            <a:off x="7346070" y="1746825"/>
            <a:ext cx="4586158" cy="44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8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>
                <a:solidFill>
                  <a:schemeClr val="tx1"/>
                </a:solidFill>
              </a:rPr>
              <a:t>Ďakujeme za pozornosť</a:t>
            </a:r>
            <a:endParaRPr lang="sk-SK" sz="6000" b="1" dirty="0">
              <a:solidFill>
                <a:schemeClr val="tx1"/>
              </a:solidFill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C9D7EEF-74DD-D964-CB15-AE513574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03" y="2023777"/>
            <a:ext cx="5001924" cy="281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lastné 16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303D8B"/>
    </a:accent1>
    <a:accent2>
      <a:srgbClr val="303D8B"/>
    </a:accent2>
    <a:accent3>
      <a:srgbClr val="303D8B"/>
    </a:accent3>
    <a:accent4>
      <a:srgbClr val="303D8B"/>
    </a:accent4>
    <a:accent5>
      <a:srgbClr val="303D8B"/>
    </a:accent5>
    <a:accent6>
      <a:srgbClr val="303D8B"/>
    </a:accent6>
    <a:hlink>
      <a:srgbClr val="303D8B"/>
    </a:hlink>
    <a:folHlink>
      <a:srgbClr val="303D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Words>185</Words>
  <Application>Microsoft Office PowerPoint</Application>
  <PresentationFormat>Širokouhlá</PresentationFormat>
  <Paragraphs>59</Paragraphs>
  <Slides>9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Retrospektíva</vt:lpstr>
      <vt:lpstr>Ganttov diagram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Ľudmila Koperdáková</cp:lastModifiedBy>
  <cp:revision>31</cp:revision>
  <dcterms:created xsi:type="dcterms:W3CDTF">2026-02-24T18:24:02Z</dcterms:created>
  <dcterms:modified xsi:type="dcterms:W3CDTF">2026-04-09T21:44:52Z</dcterms:modified>
</cp:coreProperties>
</file>