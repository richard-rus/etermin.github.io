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5_71B27030.xml" ContentType="application/vnd.ms-powerpoint.comments+xml"/>
  <Override PartName="/ppt/comments/modernComment_12C_392D76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2" r:id="rId1"/>
  </p:sldMasterIdLst>
  <p:notesMasterIdLst>
    <p:notesMasterId r:id="rId59"/>
  </p:notesMasterIdLst>
  <p:sldIdLst>
    <p:sldId id="274" r:id="rId2"/>
    <p:sldId id="273" r:id="rId3"/>
    <p:sldId id="275" r:id="rId4"/>
    <p:sldId id="279" r:id="rId5"/>
    <p:sldId id="276" r:id="rId6"/>
    <p:sldId id="280" r:id="rId7"/>
    <p:sldId id="277" r:id="rId8"/>
    <p:sldId id="278" r:id="rId9"/>
    <p:sldId id="281" r:id="rId10"/>
    <p:sldId id="282" r:id="rId11"/>
    <p:sldId id="256" r:id="rId12"/>
    <p:sldId id="262" r:id="rId13"/>
    <p:sldId id="261" r:id="rId14"/>
    <p:sldId id="268" r:id="rId15"/>
    <p:sldId id="269" r:id="rId16"/>
    <p:sldId id="271" r:id="rId17"/>
    <p:sldId id="285" r:id="rId18"/>
    <p:sldId id="286" r:id="rId19"/>
    <p:sldId id="287" r:id="rId20"/>
    <p:sldId id="288" r:id="rId21"/>
    <p:sldId id="289" r:id="rId22"/>
    <p:sldId id="290" r:id="rId23"/>
    <p:sldId id="291" r:id="rId24"/>
    <p:sldId id="292" r:id="rId25"/>
    <p:sldId id="294" r:id="rId26"/>
    <p:sldId id="295" r:id="rId27"/>
    <p:sldId id="296" r:id="rId28"/>
    <p:sldId id="297" r:id="rId29"/>
    <p:sldId id="298" r:id="rId30"/>
    <p:sldId id="299" r:id="rId31"/>
    <p:sldId id="300" r:id="rId32"/>
    <p:sldId id="305" r:id="rId33"/>
    <p:sldId id="306" r:id="rId34"/>
    <p:sldId id="307" r:id="rId35"/>
    <p:sldId id="308" r:id="rId36"/>
    <p:sldId id="309" r:id="rId37"/>
    <p:sldId id="310" r:id="rId38"/>
    <p:sldId id="311" r:id="rId39"/>
    <p:sldId id="312" r:id="rId40"/>
    <p:sldId id="313" r:id="rId41"/>
    <p:sldId id="283" r:id="rId42"/>
    <p:sldId id="284" r:id="rId43"/>
    <p:sldId id="314" r:id="rId44"/>
    <p:sldId id="315" r:id="rId45"/>
    <p:sldId id="316" r:id="rId46"/>
    <p:sldId id="317" r:id="rId47"/>
    <p:sldId id="320" r:id="rId48"/>
    <p:sldId id="322" r:id="rId49"/>
    <p:sldId id="323" r:id="rId50"/>
    <p:sldId id="324" r:id="rId51"/>
    <p:sldId id="325" r:id="rId52"/>
    <p:sldId id="326" r:id="rId53"/>
    <p:sldId id="328" r:id="rId54"/>
    <p:sldId id="329" r:id="rId55"/>
    <p:sldId id="330" r:id="rId56"/>
    <p:sldId id="331" r:id="rId57"/>
    <p:sldId id="332"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64E3444-9AEB-9276-F7C3-848099A462EB}" name="Ľudmila Koperdáková" initials="ĽK" userId="S::5409892@upjs.sk::c249861a-c87d-411e-b5bc-0e4b74742b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93175"/>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D4BE63-2179-EAB1-330F-3790ED7B9A07}" v="32" dt="2026-05-02T11:48:04.418"/>
  </p1510:revLst>
</p1510:revInfo>
</file>

<file path=ppt/tableStyles.xml><?xml version="1.0" encoding="utf-8"?>
<a:tblStyleLst xmlns:a="http://schemas.openxmlformats.org/drawingml/2006/main" def="{5C22544A-7EE6-4342-B048-85BDC9FD1C3A}">
  <a:tblStyle styleId="{5C22544A-7EE6-4342-B048-85BDC9FD1C3A}" styleName="Stredný štýl 2 - zvýrazneni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2C_392D768.xml><?xml version="1.0" encoding="utf-8"?>
<p188:cmLst xmlns:a="http://schemas.openxmlformats.org/drawingml/2006/main" xmlns:r="http://schemas.openxmlformats.org/officeDocument/2006/relationships" xmlns:p188="http://schemas.microsoft.com/office/powerpoint/2018/8/main">
  <p188:cm id="{AE210A38-62F8-4ED1-B029-FD8FF0E9175A}" authorId="{764E3444-9AEB-9276-F7C3-848099A462EB}" created="2026-04-29T16:54:42.614">
    <pc:sldMkLst xmlns:pc="http://schemas.microsoft.com/office/powerpoint/2013/main/command">
      <pc:docMk/>
      <pc:sldMk cId="59955048" sldId="300"/>
    </pc:sldMkLst>
    <p188:txBody>
      <a:bodyPr/>
      <a:lstStyle/>
      <a:p>
        <a:r>
          <a:rPr lang="sk-SK"/>
          <a:t>odstranila som slidy pre ER rozkuskovany 
diagram</a:t>
        </a:r>
      </a:p>
    </p188:txBody>
  </p188:cm>
</p188:cmLst>
</file>

<file path=ppt/comments/modernComment_105_71B27030.xml><?xml version="1.0" encoding="utf-8"?>
<p188:cmLst xmlns:a="http://schemas.openxmlformats.org/drawingml/2006/main" xmlns:r="http://schemas.openxmlformats.org/officeDocument/2006/relationships" xmlns:p188="http://schemas.microsoft.com/office/powerpoint/2018/8/main">
  <p188:cm id="{BBE2DB5B-CD13-4357-97A3-4E7B54211FAA}" authorId="{764E3444-9AEB-9276-F7C3-848099A462EB}" created="2026-04-29T16:55:56.633">
    <pc:sldMkLst xmlns:pc="http://schemas.microsoft.com/office/powerpoint/2013/main/command">
      <pc:docMk/>
      <pc:sldMk cId="1907519536" sldId="261"/>
    </pc:sldMkLst>
    <p188:txBody>
      <a:bodyPr/>
      <a:lstStyle/>
      <a:p>
        <a:r>
          <a:rPr lang="sk-SK"/>
          <a:t>CO ZNAMENA ABSENCIA DETAILNEHO TEXTU V DOKUMENTACII?
overovanie zakonnych zastupcov nam uz netreba</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801307-CE49-48A6-B875-1DF97EAA6D01}" type="doc">
      <dgm:prSet loTypeId="urn:microsoft.com/office/officeart/2005/8/layout/hierarchy1" loCatId="hierarchy" qsTypeId="urn:microsoft.com/office/officeart/2005/8/quickstyle/simple2" qsCatId="simple" csTypeId="urn:microsoft.com/office/officeart/2005/8/colors/colorful1" csCatId="colorful" phldr="1"/>
      <dgm:spPr/>
      <dgm:t>
        <a:bodyPr/>
        <a:lstStyle/>
        <a:p>
          <a:endParaRPr lang="en-US"/>
        </a:p>
      </dgm:t>
    </dgm:pt>
    <dgm:pt modelId="{E0A5259E-41F6-4659-81BA-B4AF446A31C3}">
      <dgm:prSet/>
      <dgm:spPr>
        <a:xfrm>
          <a:off x="4654903" y="1357012"/>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A1D68B">
              <a:hueOff val="0"/>
              <a:satOff val="0"/>
              <a:lumOff val="0"/>
              <a:alphaOff val="0"/>
            </a:srgbClr>
          </a:solidFill>
          <a:prstDash val="solid"/>
        </a:ln>
        <a:effectLst/>
      </dgm:spPr>
      <dgm:t>
        <a:bodyPr/>
        <a:lstStyle/>
        <a:p>
          <a:pPr>
            <a:buNone/>
          </a:pPr>
          <a:r>
            <a:rPr lang="sk-SK" noProof="0" err="1">
              <a:solidFill>
                <a:sysClr val="windowText" lastClr="000000">
                  <a:hueOff val="0"/>
                  <a:satOff val="0"/>
                  <a:lumOff val="0"/>
                  <a:alphaOff val="0"/>
                </a:sysClr>
              </a:solidFill>
              <a:latin typeface="Arial" panose="020B0604020202020204"/>
              <a:ea typeface="+mn-ea"/>
              <a:cs typeface="+mn-cs"/>
            </a:rPr>
            <a:t>eTermín</a:t>
          </a:r>
          <a:endParaRPr lang="sk-SK" noProof="0">
            <a:solidFill>
              <a:sysClr val="windowText" lastClr="000000">
                <a:hueOff val="0"/>
                <a:satOff val="0"/>
                <a:lumOff val="0"/>
                <a:alphaOff val="0"/>
              </a:sysClr>
            </a:solidFill>
            <a:latin typeface="Arial" panose="020B0604020202020204"/>
            <a:ea typeface="+mn-ea"/>
            <a:cs typeface="+mn-cs"/>
          </a:endParaRPr>
        </a:p>
      </dgm:t>
    </dgm:pt>
    <dgm:pt modelId="{D6B24DC1-0B0A-43F6-AADF-BBFD521F8433}" type="parTrans" cxnId="{025ABC63-4F27-4DA6-86FC-F53BBA104558}">
      <dgm:prSet/>
      <dgm:spPr/>
      <dgm:t>
        <a:bodyPr/>
        <a:lstStyle/>
        <a:p>
          <a:endParaRPr lang="en-US"/>
        </a:p>
      </dgm:t>
    </dgm:pt>
    <dgm:pt modelId="{A6EA178E-8B38-4A4C-A885-8A59635952D0}" type="sibTrans" cxnId="{025ABC63-4F27-4DA6-86FC-F53BBA104558}">
      <dgm:prSet/>
      <dgm:spPr/>
      <dgm:t>
        <a:bodyPr/>
        <a:lstStyle/>
        <a:p>
          <a:endParaRPr lang="en-US"/>
        </a:p>
      </dgm:t>
    </dgm:pt>
    <dgm:pt modelId="{86C50E28-1961-4B26-98C4-969F8B1B764F}">
      <dgm:prSet custT="1"/>
      <dgm:spPr>
        <a:xfrm>
          <a:off x="183979" y="4367434"/>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gm:spPr>
      <dgm:t>
        <a:bodyPr spcFirstLastPara="0" vert="horz" wrap="square" lIns="64770" tIns="64770" rIns="64770" bIns="64770" numCol="1" spcCol="1270" anchor="ctr" anchorCtr="0"/>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Vyhľadávanie lekára</a:t>
          </a:r>
        </a:p>
      </dgm:t>
    </dgm:pt>
    <dgm:pt modelId="{9F4BF4A3-F1F7-4756-959B-B241AA9CE4D6}" type="parTrans" cxnId="{310A1D0E-FFF3-40A2-BFFD-DB6A8CE82597}">
      <dgm:prSet/>
      <dgm:spPr>
        <a:xfrm>
          <a:off x="816231" y="3722989"/>
          <a:ext cx="1987077" cy="472834"/>
        </a:xfrm>
        <a:custGeom>
          <a:avLst/>
          <a:gdLst/>
          <a:ahLst/>
          <a:cxnLst/>
          <a:rect l="0" t="0" r="0" b="0"/>
          <a:pathLst>
            <a:path>
              <a:moveTo>
                <a:pt x="1882151" y="0"/>
              </a:moveTo>
              <a:lnTo>
                <a:pt x="1882151" y="305207"/>
              </a:lnTo>
              <a:lnTo>
                <a:pt x="0" y="305207"/>
              </a:lnTo>
              <a:lnTo>
                <a:pt x="0" y="447866"/>
              </a:lnTo>
            </a:path>
          </a:pathLst>
        </a:custGeom>
        <a:noFill/>
        <a:ln w="15875" cap="flat" cmpd="sng" algn="ctr">
          <a:solidFill>
            <a:srgbClr val="5EC795">
              <a:hueOff val="0"/>
              <a:satOff val="0"/>
              <a:lumOff val="0"/>
              <a:alphaOff val="0"/>
            </a:srgbClr>
          </a:solidFill>
          <a:prstDash val="solid"/>
        </a:ln>
        <a:effectLst/>
      </dgm:spPr>
      <dgm:t>
        <a:bodyPr/>
        <a:lstStyle/>
        <a:p>
          <a:endParaRPr lang="en-US"/>
        </a:p>
      </dgm:t>
    </dgm:pt>
    <dgm:pt modelId="{9B825252-6981-4AF7-B110-BE8BF88BDE51}" type="sibTrans" cxnId="{310A1D0E-FFF3-40A2-BFFD-DB6A8CE82597}">
      <dgm:prSet/>
      <dgm:spPr/>
      <dgm:t>
        <a:bodyPr/>
        <a:lstStyle/>
        <a:p>
          <a:endParaRPr lang="en-US"/>
        </a:p>
      </dgm:t>
    </dgm:pt>
    <dgm:pt modelId="{B3DBFC18-7D6C-459F-B98E-6B4C25C25F24}">
      <dgm:prSet custT="1"/>
      <dgm:spPr>
        <a:xfrm>
          <a:off x="2171056" y="4367434"/>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gm:spPr>
      <dgm:t>
        <a:bodyPr spcFirstLastPara="0" vert="horz" wrap="square" lIns="64770" tIns="64770" rIns="64770" bIns="64770" numCol="1" spcCol="1270" anchor="ctr" anchorCtr="0"/>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Prehľad termínov</a:t>
          </a:r>
        </a:p>
      </dgm:t>
    </dgm:pt>
    <dgm:pt modelId="{CEB0761D-4A76-48D0-AA9C-8C37FA078788}" type="parTrans" cxnId="{EE88F583-7162-4B39-A754-D46362183B80}">
      <dgm:prSet/>
      <dgm:spPr>
        <a:xfrm>
          <a:off x="2757588" y="3722989"/>
          <a:ext cx="91440" cy="472834"/>
        </a:xfrm>
        <a:custGeom>
          <a:avLst/>
          <a:gdLst/>
          <a:ahLst/>
          <a:cxnLst/>
          <a:rect l="0" t="0" r="0" b="0"/>
          <a:pathLst>
            <a:path>
              <a:moveTo>
                <a:pt x="45720" y="0"/>
              </a:moveTo>
              <a:lnTo>
                <a:pt x="45720" y="447866"/>
              </a:lnTo>
            </a:path>
          </a:pathLst>
        </a:custGeom>
        <a:noFill/>
        <a:ln w="15875" cap="flat" cmpd="sng" algn="ctr">
          <a:solidFill>
            <a:srgbClr val="5EC795">
              <a:hueOff val="0"/>
              <a:satOff val="0"/>
              <a:lumOff val="0"/>
              <a:alphaOff val="0"/>
            </a:srgbClr>
          </a:solidFill>
          <a:prstDash val="solid"/>
        </a:ln>
        <a:effectLst/>
      </dgm:spPr>
      <dgm:t>
        <a:bodyPr/>
        <a:lstStyle/>
        <a:p>
          <a:endParaRPr lang="en-US"/>
        </a:p>
      </dgm:t>
    </dgm:pt>
    <dgm:pt modelId="{941FDC00-B83B-4D7A-A231-57792E9DDA66}" type="sibTrans" cxnId="{EE88F583-7162-4B39-A754-D46362183B80}">
      <dgm:prSet/>
      <dgm:spPr/>
      <dgm:t>
        <a:bodyPr/>
        <a:lstStyle/>
        <a:p>
          <a:endParaRPr lang="en-US"/>
        </a:p>
      </dgm:t>
    </dgm:pt>
    <dgm:pt modelId="{01D30B48-5796-4727-8AB4-8728E5D3522B}">
      <dgm:prSet custT="1"/>
      <dgm:spPr>
        <a:xfrm>
          <a:off x="4158134" y="4367434"/>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gm:spPr>
      <dgm:t>
        <a:bodyPr spcFirstLastPara="0" vert="horz" wrap="square" lIns="64770" tIns="64770" rIns="64770" bIns="64770" numCol="1" spcCol="1270" anchor="ctr" anchorCtr="0"/>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Rezervácia</a:t>
          </a:r>
          <a:r>
            <a:rPr lang="sk-SK" sz="2100" kern="1200" noProof="0">
              <a:solidFill>
                <a:prstClr val="black">
                  <a:hueOff val="0"/>
                  <a:satOff val="0"/>
                  <a:lumOff val="0"/>
                  <a:alphaOff val="0"/>
                </a:prstClr>
              </a:solidFill>
              <a:latin typeface="Arial" panose="020B0604020202020204"/>
              <a:ea typeface="+mn-ea"/>
              <a:cs typeface="+mn-cs"/>
            </a:rPr>
            <a:t> </a:t>
          </a:r>
          <a:r>
            <a:rPr lang="sk-SK" sz="1700" kern="1200" noProof="0">
              <a:solidFill>
                <a:prstClr val="black">
                  <a:hueOff val="0"/>
                  <a:satOff val="0"/>
                  <a:lumOff val="0"/>
                  <a:alphaOff val="0"/>
                </a:prstClr>
              </a:solidFill>
              <a:latin typeface="Arial" panose="020B0604020202020204"/>
              <a:ea typeface="+mn-ea"/>
              <a:cs typeface="+mn-cs"/>
            </a:rPr>
            <a:t>návštevy</a:t>
          </a:r>
        </a:p>
      </dgm:t>
    </dgm:pt>
    <dgm:pt modelId="{179767CE-1AB3-49A8-BD0B-0C64FB322CDB}" type="parTrans" cxnId="{FDCE28A2-445C-464A-A854-09AAF578CAF2}">
      <dgm:prSet/>
      <dgm:spPr>
        <a:xfrm>
          <a:off x="2803308" y="3722989"/>
          <a:ext cx="1987077" cy="472834"/>
        </a:xfrm>
        <a:custGeom>
          <a:avLst/>
          <a:gdLst/>
          <a:ahLst/>
          <a:cxnLst/>
          <a:rect l="0" t="0" r="0" b="0"/>
          <a:pathLst>
            <a:path>
              <a:moveTo>
                <a:pt x="0" y="0"/>
              </a:moveTo>
              <a:lnTo>
                <a:pt x="0" y="305207"/>
              </a:lnTo>
              <a:lnTo>
                <a:pt x="1882151" y="305207"/>
              </a:lnTo>
              <a:lnTo>
                <a:pt x="1882151" y="447866"/>
              </a:lnTo>
            </a:path>
          </a:pathLst>
        </a:custGeom>
        <a:noFill/>
        <a:ln w="15875" cap="flat" cmpd="sng" algn="ctr">
          <a:solidFill>
            <a:srgbClr val="5EC795">
              <a:hueOff val="0"/>
              <a:satOff val="0"/>
              <a:lumOff val="0"/>
              <a:alphaOff val="0"/>
            </a:srgbClr>
          </a:solidFill>
          <a:prstDash val="solid"/>
        </a:ln>
        <a:effectLst/>
      </dgm:spPr>
      <dgm:t>
        <a:bodyPr/>
        <a:lstStyle/>
        <a:p>
          <a:endParaRPr lang="en-US"/>
        </a:p>
      </dgm:t>
    </dgm:pt>
    <dgm:pt modelId="{724DE7FC-C924-4898-AA5C-3D42F076F3D0}" type="sibTrans" cxnId="{FDCE28A2-445C-464A-A854-09AAF578CAF2}">
      <dgm:prSet/>
      <dgm:spPr/>
      <dgm:t>
        <a:bodyPr/>
        <a:lstStyle/>
        <a:p>
          <a:endParaRPr lang="en-US"/>
        </a:p>
      </dgm:t>
    </dgm:pt>
    <dgm:pt modelId="{5A25BD11-CAE5-4D08-8D79-F4D231CEC518}">
      <dgm:prSet custT="1"/>
      <dgm:spPr>
        <a:xfrm>
          <a:off x="7138749" y="2862223"/>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4DADCF">
              <a:hueOff val="0"/>
              <a:satOff val="0"/>
              <a:lumOff val="0"/>
              <a:alphaOff val="0"/>
            </a:srgbClr>
          </a:solidFill>
          <a:prstDash val="solid"/>
        </a:ln>
        <a:effectLst/>
      </dgm:spPr>
      <dgm:t>
        <a:bodyPr spcFirstLastPara="0" vert="horz" wrap="square" lIns="57150" tIns="57150" rIns="57150" bIns="57150" numCol="1" spcCol="1270" anchor="ctr" anchorCtr="0"/>
        <a:lstStyle/>
        <a:p>
          <a:pPr marL="0" lvl="0" indent="0" algn="ctr" defTabSz="666750">
            <a:lnSpc>
              <a:spcPct val="90000"/>
            </a:lnSpc>
            <a:spcBef>
              <a:spcPct val="0"/>
            </a:spcBef>
            <a:spcAft>
              <a:spcPct val="35000"/>
            </a:spcAft>
            <a:buNone/>
          </a:pPr>
          <a:r>
            <a:rPr lang="sk-SK" sz="1500" kern="1200" noProof="0">
              <a:solidFill>
                <a:prstClr val="black">
                  <a:hueOff val="0"/>
                  <a:satOff val="0"/>
                  <a:lumOff val="0"/>
                  <a:alphaOff val="0"/>
                </a:prstClr>
              </a:solidFill>
              <a:latin typeface="Arial" panose="020B0604020202020204"/>
              <a:ea typeface="+mn-ea"/>
              <a:cs typeface="+mn-cs"/>
            </a:rPr>
            <a:t>Administratívny portál</a:t>
          </a:r>
        </a:p>
      </dgm:t>
    </dgm:pt>
    <dgm:pt modelId="{23B2C1B2-833D-4F04-BAB7-2C51366308F1}" type="parTrans" cxnId="{B546EDC4-CFD5-4291-8EB3-9358FAAF3263}">
      <dgm:prSet/>
      <dgm:spPr>
        <a:xfrm>
          <a:off x="5287155" y="2217778"/>
          <a:ext cx="2483846" cy="472834"/>
        </a:xfrm>
        <a:custGeom>
          <a:avLst/>
          <a:gdLst/>
          <a:ahLst/>
          <a:cxnLst/>
          <a:rect l="0" t="0" r="0" b="0"/>
          <a:pathLst>
            <a:path>
              <a:moveTo>
                <a:pt x="0" y="0"/>
              </a:moveTo>
              <a:lnTo>
                <a:pt x="0" y="305207"/>
              </a:lnTo>
              <a:lnTo>
                <a:pt x="2352689" y="305207"/>
              </a:lnTo>
              <a:lnTo>
                <a:pt x="2352689" y="447866"/>
              </a:lnTo>
            </a:path>
          </a:pathLst>
        </a:custGeom>
        <a:noFill/>
        <a:ln w="15875" cap="flat" cmpd="sng" algn="ctr">
          <a:solidFill>
            <a:srgbClr val="92D050"/>
          </a:solidFill>
          <a:prstDash val="solid"/>
        </a:ln>
        <a:effectLst/>
      </dgm:spPr>
      <dgm:t>
        <a:bodyPr/>
        <a:lstStyle/>
        <a:p>
          <a:endParaRPr lang="en-US"/>
        </a:p>
      </dgm:t>
    </dgm:pt>
    <dgm:pt modelId="{FF759857-E560-4A93-9A71-1A5DADFFF999}" type="sibTrans" cxnId="{B546EDC4-CFD5-4291-8EB3-9358FAAF3263}">
      <dgm:prSet/>
      <dgm:spPr/>
      <dgm:t>
        <a:bodyPr/>
        <a:lstStyle/>
        <a:p>
          <a:endParaRPr lang="en-US"/>
        </a:p>
      </dgm:t>
    </dgm:pt>
    <dgm:pt modelId="{4B5A1655-227B-46D1-852C-BEBB3461D737}">
      <dgm:prSet custT="1"/>
      <dgm:spPr>
        <a:xfrm>
          <a:off x="6145211" y="4367434"/>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gm:spPr>
      <dgm:t>
        <a:bodyPr/>
        <a:lstStyle/>
        <a:p>
          <a:pPr>
            <a:buNone/>
          </a:pPr>
          <a:r>
            <a:rPr lang="sk-SK" sz="1700" kern="1200" noProof="0">
              <a:solidFill>
                <a:prstClr val="black">
                  <a:hueOff val="0"/>
                  <a:satOff val="0"/>
                  <a:lumOff val="0"/>
                  <a:alphaOff val="0"/>
                </a:prstClr>
              </a:solidFill>
              <a:latin typeface="Arial" panose="020B0604020202020204"/>
              <a:ea typeface="+mn-ea"/>
              <a:cs typeface="+mn-cs"/>
            </a:rPr>
            <a:t>Správa</a:t>
          </a:r>
          <a:r>
            <a:rPr lang="sk-SK" sz="2200" kern="1200" noProof="0">
              <a:solidFill>
                <a:sysClr val="windowText" lastClr="000000">
                  <a:hueOff val="0"/>
                  <a:satOff val="0"/>
                  <a:lumOff val="0"/>
                  <a:alphaOff val="0"/>
                </a:sysClr>
              </a:solidFill>
              <a:latin typeface="Arial" panose="020B0604020202020204"/>
              <a:ea typeface="+mn-ea"/>
              <a:cs typeface="+mn-cs"/>
            </a:rPr>
            <a:t> </a:t>
          </a:r>
          <a:r>
            <a:rPr lang="sk-SK" sz="1700" kern="1200" noProof="0">
              <a:solidFill>
                <a:prstClr val="black">
                  <a:hueOff val="0"/>
                  <a:satOff val="0"/>
                  <a:lumOff val="0"/>
                  <a:alphaOff val="0"/>
                </a:prstClr>
              </a:solidFill>
              <a:latin typeface="Arial" panose="020B0604020202020204"/>
              <a:ea typeface="+mn-ea"/>
              <a:cs typeface="+mn-cs"/>
            </a:rPr>
            <a:t>kalendára</a:t>
          </a:r>
        </a:p>
      </dgm:t>
    </dgm:pt>
    <dgm:pt modelId="{B10510E8-F2E9-4397-8C1C-5C946CA89D6D}" type="parTrans" cxnId="{0DA312BE-671F-4BD0-864E-C085DC054E0B}">
      <dgm:prSet/>
      <dgm:spPr>
        <a:xfrm>
          <a:off x="6777462" y="3722989"/>
          <a:ext cx="993538" cy="472834"/>
        </a:xfrm>
        <a:custGeom>
          <a:avLst/>
          <a:gdLst/>
          <a:ahLst/>
          <a:cxnLst/>
          <a:rect l="0" t="0" r="0" b="0"/>
          <a:pathLst>
            <a:path>
              <a:moveTo>
                <a:pt x="993538" y="0"/>
              </a:moveTo>
              <a:lnTo>
                <a:pt x="993538" y="322222"/>
              </a:lnTo>
              <a:lnTo>
                <a:pt x="0" y="322222"/>
              </a:lnTo>
              <a:lnTo>
                <a:pt x="0" y="472834"/>
              </a:lnTo>
            </a:path>
          </a:pathLst>
        </a:custGeom>
        <a:noFill/>
        <a:ln w="15875" cap="flat" cmpd="sng" algn="ctr">
          <a:solidFill>
            <a:srgbClr val="4DADCF">
              <a:hueOff val="0"/>
              <a:satOff val="0"/>
              <a:lumOff val="0"/>
              <a:alphaOff val="0"/>
            </a:srgbClr>
          </a:solidFill>
          <a:prstDash val="solid"/>
        </a:ln>
        <a:effectLst/>
      </dgm:spPr>
      <dgm:t>
        <a:bodyPr/>
        <a:lstStyle/>
        <a:p>
          <a:endParaRPr lang="en-US"/>
        </a:p>
      </dgm:t>
    </dgm:pt>
    <dgm:pt modelId="{E2C7ED9B-608B-4750-AA2B-5FD55F760B2B}" type="sibTrans" cxnId="{0DA312BE-671F-4BD0-864E-C085DC054E0B}">
      <dgm:prSet/>
      <dgm:spPr/>
      <dgm:t>
        <a:bodyPr/>
        <a:lstStyle/>
        <a:p>
          <a:endParaRPr lang="en-US"/>
        </a:p>
      </dgm:t>
    </dgm:pt>
    <dgm:pt modelId="{E9548930-E6EE-4228-815E-98D2EB40A014}">
      <dgm:prSet custT="1"/>
      <dgm:spPr>
        <a:xfrm>
          <a:off x="8132288" y="4367434"/>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gm:spPr>
      <dgm:t>
        <a:bodyPr/>
        <a:lstStyle/>
        <a:p>
          <a:pPr>
            <a:buNone/>
          </a:pPr>
          <a:r>
            <a:rPr lang="sk-SK" sz="1700" kern="1200" noProof="0">
              <a:solidFill>
                <a:prstClr val="black">
                  <a:hueOff val="0"/>
                  <a:satOff val="0"/>
                  <a:lumOff val="0"/>
                  <a:alphaOff val="0"/>
                </a:prstClr>
              </a:solidFill>
              <a:latin typeface="Arial" panose="020B0604020202020204"/>
              <a:ea typeface="+mn-ea"/>
              <a:cs typeface="+mn-cs"/>
            </a:rPr>
            <a:t>Správa</a:t>
          </a:r>
          <a:r>
            <a:rPr lang="sk-SK" sz="2200" kern="1200" noProof="0">
              <a:solidFill>
                <a:sysClr val="windowText" lastClr="000000">
                  <a:hueOff val="0"/>
                  <a:satOff val="0"/>
                  <a:lumOff val="0"/>
                  <a:alphaOff val="0"/>
                </a:sysClr>
              </a:solidFill>
              <a:latin typeface="Arial" panose="020B0604020202020204"/>
              <a:ea typeface="+mn-ea"/>
              <a:cs typeface="+mn-cs"/>
            </a:rPr>
            <a:t> </a:t>
          </a:r>
          <a:r>
            <a:rPr lang="sk-SK" sz="1700" kern="1200" noProof="0">
              <a:solidFill>
                <a:prstClr val="black">
                  <a:hueOff val="0"/>
                  <a:satOff val="0"/>
                  <a:lumOff val="0"/>
                  <a:alphaOff val="0"/>
                </a:prstClr>
              </a:solidFill>
              <a:latin typeface="Arial" panose="020B0604020202020204"/>
              <a:ea typeface="+mn-ea"/>
              <a:cs typeface="+mn-cs"/>
            </a:rPr>
            <a:t>záznamov</a:t>
          </a:r>
        </a:p>
      </dgm:t>
    </dgm:pt>
    <dgm:pt modelId="{E1EE9B28-4BFF-4D2B-BDE2-06F611981674}" type="parTrans" cxnId="{BF55C116-8850-47F0-B1A4-5CD6E6415983}">
      <dgm:prSet/>
      <dgm:spPr>
        <a:xfrm>
          <a:off x="7771001" y="3722989"/>
          <a:ext cx="993538" cy="472834"/>
        </a:xfrm>
        <a:custGeom>
          <a:avLst/>
          <a:gdLst/>
          <a:ahLst/>
          <a:cxnLst/>
          <a:rect l="0" t="0" r="0" b="0"/>
          <a:pathLst>
            <a:path>
              <a:moveTo>
                <a:pt x="0" y="0"/>
              </a:moveTo>
              <a:lnTo>
                <a:pt x="0" y="322222"/>
              </a:lnTo>
              <a:lnTo>
                <a:pt x="993538" y="322222"/>
              </a:lnTo>
              <a:lnTo>
                <a:pt x="993538" y="472834"/>
              </a:lnTo>
            </a:path>
          </a:pathLst>
        </a:custGeom>
        <a:noFill/>
        <a:ln w="15875" cap="flat" cmpd="sng" algn="ctr">
          <a:solidFill>
            <a:srgbClr val="4DADCF">
              <a:hueOff val="0"/>
              <a:satOff val="0"/>
              <a:lumOff val="0"/>
              <a:alphaOff val="0"/>
            </a:srgbClr>
          </a:solidFill>
          <a:prstDash val="solid"/>
        </a:ln>
        <a:effectLst/>
      </dgm:spPr>
      <dgm:t>
        <a:bodyPr/>
        <a:lstStyle/>
        <a:p>
          <a:endParaRPr lang="en-US"/>
        </a:p>
      </dgm:t>
    </dgm:pt>
    <dgm:pt modelId="{A170F6BE-73C8-4AE4-AD68-2B9981612EC9}" type="sibTrans" cxnId="{BF55C116-8850-47F0-B1A4-5CD6E6415983}">
      <dgm:prSet/>
      <dgm:spPr/>
      <dgm:t>
        <a:bodyPr/>
        <a:lstStyle/>
        <a:p>
          <a:endParaRPr lang="en-US"/>
        </a:p>
      </dgm:t>
    </dgm:pt>
    <dgm:pt modelId="{7A325A8F-CD63-4CF6-BEE5-B597899FCA4B}">
      <dgm:prSet custT="1"/>
      <dgm:spPr>
        <a:xfrm>
          <a:off x="2171056" y="2862223"/>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5EC795">
              <a:hueOff val="0"/>
              <a:satOff val="0"/>
              <a:lumOff val="0"/>
              <a:alphaOff val="0"/>
            </a:srgbClr>
          </a:solidFill>
          <a:prstDash val="solid"/>
        </a:ln>
        <a:effectLst/>
      </dgm:spPr>
      <dgm:t>
        <a:bodyPr/>
        <a:lstStyle/>
        <a:p>
          <a:pPr>
            <a:buNone/>
          </a:pPr>
          <a:r>
            <a:rPr lang="sk-SK" sz="1500" noProof="0">
              <a:solidFill>
                <a:sysClr val="windowText" lastClr="000000">
                  <a:hueOff val="0"/>
                  <a:satOff val="0"/>
                  <a:lumOff val="0"/>
                  <a:alphaOff val="0"/>
                </a:sysClr>
              </a:solidFill>
              <a:latin typeface="Arial" panose="020B0604020202020204"/>
              <a:ea typeface="+mn-ea"/>
              <a:cs typeface="+mn-cs"/>
            </a:rPr>
            <a:t>Pacientsky portál</a:t>
          </a:r>
        </a:p>
      </dgm:t>
    </dgm:pt>
    <dgm:pt modelId="{B76EC083-DFA4-4D8B-BBE7-95D70A231735}" type="parTrans" cxnId="{945A374F-BB38-4593-9517-67C0A6AE6355}">
      <dgm:prSet/>
      <dgm:spPr>
        <a:xfrm>
          <a:off x="2803308" y="2217778"/>
          <a:ext cx="2483846" cy="472834"/>
        </a:xfrm>
        <a:custGeom>
          <a:avLst/>
          <a:gdLst/>
          <a:ahLst/>
          <a:cxnLst/>
          <a:rect l="0" t="0" r="0" b="0"/>
          <a:pathLst>
            <a:path>
              <a:moveTo>
                <a:pt x="2483846" y="0"/>
              </a:moveTo>
              <a:lnTo>
                <a:pt x="2483846" y="322222"/>
              </a:lnTo>
              <a:lnTo>
                <a:pt x="0" y="322222"/>
              </a:lnTo>
              <a:lnTo>
                <a:pt x="0" y="472834"/>
              </a:lnTo>
            </a:path>
          </a:pathLst>
        </a:custGeom>
        <a:noFill/>
        <a:ln w="15875" cap="flat" cmpd="sng" algn="ctr">
          <a:solidFill>
            <a:srgbClr val="92D050"/>
          </a:solidFill>
          <a:prstDash val="solid"/>
        </a:ln>
        <a:effectLst/>
      </dgm:spPr>
      <dgm:t>
        <a:bodyPr/>
        <a:lstStyle/>
        <a:p>
          <a:endParaRPr lang="en-US"/>
        </a:p>
      </dgm:t>
    </dgm:pt>
    <dgm:pt modelId="{794BD854-E4BA-4BD0-8996-88D00296E3FC}" type="sibTrans" cxnId="{945A374F-BB38-4593-9517-67C0A6AE6355}">
      <dgm:prSet/>
      <dgm:spPr/>
      <dgm:t>
        <a:bodyPr/>
        <a:lstStyle/>
        <a:p>
          <a:endParaRPr lang="en-US"/>
        </a:p>
      </dgm:t>
    </dgm:pt>
    <dgm:pt modelId="{E51650F2-5325-4C87-8C48-A31C5A056977}" type="pres">
      <dgm:prSet presAssocID="{7B801307-CE49-48A6-B875-1DF97EAA6D01}" presName="hierChild1" presStyleCnt="0">
        <dgm:presLayoutVars>
          <dgm:chPref val="1"/>
          <dgm:dir/>
          <dgm:animOne val="branch"/>
          <dgm:animLvl val="lvl"/>
          <dgm:resizeHandles/>
        </dgm:presLayoutVars>
      </dgm:prSet>
      <dgm:spPr/>
    </dgm:pt>
    <dgm:pt modelId="{21440664-F21D-4712-83AC-ECE79C01C680}" type="pres">
      <dgm:prSet presAssocID="{E0A5259E-41F6-4659-81BA-B4AF446A31C3}" presName="hierRoot1" presStyleCnt="0"/>
      <dgm:spPr/>
    </dgm:pt>
    <dgm:pt modelId="{D402266D-6E2B-4CC8-B131-B5D58AFEB6A4}" type="pres">
      <dgm:prSet presAssocID="{E0A5259E-41F6-4659-81BA-B4AF446A31C3}" presName="composite" presStyleCnt="0"/>
      <dgm:spPr/>
    </dgm:pt>
    <dgm:pt modelId="{E00636BA-9BB6-4834-B4F9-B898DF9DF1BF}" type="pres">
      <dgm:prSet presAssocID="{E0A5259E-41F6-4659-81BA-B4AF446A31C3}" presName="background" presStyleLbl="node0" presStyleIdx="0" presStyleCnt="1"/>
      <dgm:spPr>
        <a:xfrm>
          <a:off x="4474259" y="1185401"/>
          <a:ext cx="1625790" cy="1032376"/>
        </a:xfrm>
        <a:prstGeom prst="roundRect">
          <a:avLst>
            <a:gd name="adj" fmla="val 10000"/>
          </a:avLst>
        </a:prstGeom>
        <a:solidFill>
          <a:srgbClr val="92D050"/>
        </a:solidFill>
        <a:ln w="22225" cap="flat" cmpd="sng" algn="ctr">
          <a:solidFill>
            <a:prstClr val="white">
              <a:hueOff val="0"/>
              <a:satOff val="0"/>
              <a:lumOff val="0"/>
              <a:alphaOff val="0"/>
            </a:prstClr>
          </a:solidFill>
          <a:prstDash val="solid"/>
        </a:ln>
        <a:effectLst/>
      </dgm:spPr>
    </dgm:pt>
    <dgm:pt modelId="{ED547C46-EAF4-4FE6-A1E6-D24D07004785}" type="pres">
      <dgm:prSet presAssocID="{E0A5259E-41F6-4659-81BA-B4AF446A31C3}" presName="text" presStyleLbl="fgAcc0" presStyleIdx="0" presStyleCnt="1">
        <dgm:presLayoutVars>
          <dgm:chPref val="3"/>
        </dgm:presLayoutVars>
      </dgm:prSet>
      <dgm:spPr/>
    </dgm:pt>
    <dgm:pt modelId="{AF0030FE-078C-438A-B212-EAFCA9BC8233}" type="pres">
      <dgm:prSet presAssocID="{E0A5259E-41F6-4659-81BA-B4AF446A31C3}" presName="hierChild2" presStyleCnt="0"/>
      <dgm:spPr/>
    </dgm:pt>
    <dgm:pt modelId="{CAFF84E9-68AD-4800-B2A1-909B87FDADCE}" type="pres">
      <dgm:prSet presAssocID="{B76EC083-DFA4-4D8B-BBE7-95D70A231735}" presName="Name10" presStyleLbl="parChTrans1D2" presStyleIdx="0" presStyleCnt="2"/>
      <dgm:spPr/>
    </dgm:pt>
    <dgm:pt modelId="{F169C3E5-BDAF-46F1-B930-E65277A18489}" type="pres">
      <dgm:prSet presAssocID="{7A325A8F-CD63-4CF6-BEE5-B597899FCA4B}" presName="hierRoot2" presStyleCnt="0"/>
      <dgm:spPr/>
    </dgm:pt>
    <dgm:pt modelId="{A4670589-0517-4586-B06F-00AB22CF7DA6}" type="pres">
      <dgm:prSet presAssocID="{7A325A8F-CD63-4CF6-BEE5-B597899FCA4B}" presName="composite2" presStyleCnt="0"/>
      <dgm:spPr/>
    </dgm:pt>
    <dgm:pt modelId="{877150CE-1506-4FF7-B0C8-E168C826700B}" type="pres">
      <dgm:prSet presAssocID="{7A325A8F-CD63-4CF6-BEE5-B597899FCA4B}" presName="background2" presStyleLbl="node2" presStyleIdx="0" presStyleCnt="2"/>
      <dgm:spPr>
        <a:xfrm>
          <a:off x="1990413" y="2690612"/>
          <a:ext cx="1625790" cy="1032376"/>
        </a:xfrm>
        <a:prstGeom prst="roundRect">
          <a:avLst>
            <a:gd name="adj" fmla="val 10000"/>
          </a:avLst>
        </a:prstGeom>
        <a:solidFill>
          <a:srgbClr val="5EC795">
            <a:hueOff val="0"/>
            <a:satOff val="0"/>
            <a:lumOff val="0"/>
            <a:alphaOff val="0"/>
          </a:srgbClr>
        </a:solidFill>
        <a:ln w="22225" cap="flat" cmpd="sng" algn="ctr">
          <a:solidFill>
            <a:sysClr val="window" lastClr="FFFFFF">
              <a:hueOff val="0"/>
              <a:satOff val="0"/>
              <a:lumOff val="0"/>
              <a:alphaOff val="0"/>
            </a:sysClr>
          </a:solidFill>
          <a:prstDash val="solid"/>
        </a:ln>
        <a:effectLst/>
      </dgm:spPr>
    </dgm:pt>
    <dgm:pt modelId="{54E502FF-189E-4B43-8B4D-DE4009B0989C}" type="pres">
      <dgm:prSet presAssocID="{7A325A8F-CD63-4CF6-BEE5-B597899FCA4B}" presName="text2" presStyleLbl="fgAcc2" presStyleIdx="0" presStyleCnt="2">
        <dgm:presLayoutVars>
          <dgm:chPref val="3"/>
        </dgm:presLayoutVars>
      </dgm:prSet>
      <dgm:spPr/>
    </dgm:pt>
    <dgm:pt modelId="{4FC155FF-F6C6-43B9-A769-303BB535722F}" type="pres">
      <dgm:prSet presAssocID="{7A325A8F-CD63-4CF6-BEE5-B597899FCA4B}" presName="hierChild3" presStyleCnt="0"/>
      <dgm:spPr/>
    </dgm:pt>
    <dgm:pt modelId="{EBB3C75C-8CA6-4ACE-832D-5804DF2B609C}" type="pres">
      <dgm:prSet presAssocID="{9F4BF4A3-F1F7-4756-959B-B241AA9CE4D6}" presName="Name17" presStyleLbl="parChTrans1D3" presStyleIdx="0" presStyleCnt="5"/>
      <dgm:spPr>
        <a:xfrm>
          <a:off x="773131" y="3200680"/>
          <a:ext cx="1882151" cy="447866"/>
        </a:xfrm>
        <a:custGeom>
          <a:avLst/>
          <a:gdLst/>
          <a:ahLst/>
          <a:cxnLst/>
          <a:rect l="0" t="0" r="0" b="0"/>
          <a:pathLst>
            <a:path>
              <a:moveTo>
                <a:pt x="1882151" y="0"/>
              </a:moveTo>
              <a:lnTo>
                <a:pt x="1882151" y="305207"/>
              </a:lnTo>
              <a:lnTo>
                <a:pt x="0" y="305207"/>
              </a:lnTo>
              <a:lnTo>
                <a:pt x="0" y="447866"/>
              </a:lnTo>
            </a:path>
          </a:pathLst>
        </a:custGeom>
      </dgm:spPr>
    </dgm:pt>
    <dgm:pt modelId="{047FCA25-3BF3-425F-BCCF-114C59650522}" type="pres">
      <dgm:prSet presAssocID="{86C50E28-1961-4B26-98C4-969F8B1B764F}" presName="hierRoot3" presStyleCnt="0"/>
      <dgm:spPr/>
    </dgm:pt>
    <dgm:pt modelId="{0D40AEDA-65C1-4E41-AA07-43A3BF229521}" type="pres">
      <dgm:prSet presAssocID="{86C50E28-1961-4B26-98C4-969F8B1B764F}" presName="composite3" presStyleCnt="0"/>
      <dgm:spPr/>
    </dgm:pt>
    <dgm:pt modelId="{FEE6B1F7-E40A-4652-866C-1B42912FDB91}" type="pres">
      <dgm:prSet presAssocID="{86C50E28-1961-4B26-98C4-969F8B1B764F}" presName="background3" presStyleLbl="node3" presStyleIdx="0" presStyleCnt="5"/>
      <dgm:spPr>
        <a:xfrm>
          <a:off x="3336" y="4195823"/>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gm:spPr>
    </dgm:pt>
    <dgm:pt modelId="{CA1F5F0D-301A-4634-B38E-1C023E293A28}" type="pres">
      <dgm:prSet presAssocID="{86C50E28-1961-4B26-98C4-969F8B1B764F}" presName="text3" presStyleLbl="fgAcc3" presStyleIdx="0" presStyleCnt="5">
        <dgm:presLayoutVars>
          <dgm:chPref val="3"/>
        </dgm:presLayoutVars>
      </dgm:prSet>
      <dgm:spPr>
        <a:xfrm>
          <a:off x="174264" y="3811096"/>
          <a:ext cx="1539942" cy="977863"/>
        </a:xfrm>
        <a:prstGeom prst="roundRect">
          <a:avLst>
            <a:gd name="adj" fmla="val 10000"/>
          </a:avLst>
        </a:prstGeom>
      </dgm:spPr>
    </dgm:pt>
    <dgm:pt modelId="{7364934B-245D-4630-9AD5-2C135DE1856F}" type="pres">
      <dgm:prSet presAssocID="{86C50E28-1961-4B26-98C4-969F8B1B764F}" presName="hierChild4" presStyleCnt="0"/>
      <dgm:spPr/>
    </dgm:pt>
    <dgm:pt modelId="{DE28A2EE-C62A-43DD-8050-91B21061EB70}" type="pres">
      <dgm:prSet presAssocID="{CEB0761D-4A76-48D0-AA9C-8C37FA078788}" presName="Name17" presStyleLbl="parChTrans1D3" presStyleIdx="1" presStyleCnt="5"/>
      <dgm:spPr>
        <a:xfrm>
          <a:off x="2609563" y="3200680"/>
          <a:ext cx="91440" cy="447866"/>
        </a:xfrm>
        <a:custGeom>
          <a:avLst/>
          <a:gdLst/>
          <a:ahLst/>
          <a:cxnLst/>
          <a:rect l="0" t="0" r="0" b="0"/>
          <a:pathLst>
            <a:path>
              <a:moveTo>
                <a:pt x="45720" y="0"/>
              </a:moveTo>
              <a:lnTo>
                <a:pt x="45720" y="447866"/>
              </a:lnTo>
            </a:path>
          </a:pathLst>
        </a:custGeom>
      </dgm:spPr>
    </dgm:pt>
    <dgm:pt modelId="{00703F61-7501-4C59-B524-ECCD929E0BDE}" type="pres">
      <dgm:prSet presAssocID="{B3DBFC18-7D6C-459F-B98E-6B4C25C25F24}" presName="hierRoot3" presStyleCnt="0"/>
      <dgm:spPr/>
    </dgm:pt>
    <dgm:pt modelId="{AAF6A243-F376-43FE-B2D4-E0D791A37F0E}" type="pres">
      <dgm:prSet presAssocID="{B3DBFC18-7D6C-459F-B98E-6B4C25C25F24}" presName="composite3" presStyleCnt="0"/>
      <dgm:spPr/>
    </dgm:pt>
    <dgm:pt modelId="{C1D03790-1868-4C7E-847E-D14B1997074B}" type="pres">
      <dgm:prSet presAssocID="{B3DBFC18-7D6C-459F-B98E-6B4C25C25F24}" presName="background3" presStyleLbl="node3" presStyleIdx="1" presStyleCnt="5"/>
      <dgm:spPr>
        <a:xfrm>
          <a:off x="1990413" y="4195823"/>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gm:spPr>
    </dgm:pt>
    <dgm:pt modelId="{113D8BD1-9DCB-4CAF-93E1-326B489FD8AE}" type="pres">
      <dgm:prSet presAssocID="{B3DBFC18-7D6C-459F-B98E-6B4C25C25F24}" presName="text3" presStyleLbl="fgAcc3" presStyleIdx="1" presStyleCnt="5">
        <dgm:presLayoutVars>
          <dgm:chPref val="3"/>
        </dgm:presLayoutVars>
      </dgm:prSet>
      <dgm:spPr>
        <a:xfrm>
          <a:off x="2056416" y="3811096"/>
          <a:ext cx="1539942" cy="977863"/>
        </a:xfrm>
        <a:prstGeom prst="roundRect">
          <a:avLst>
            <a:gd name="adj" fmla="val 10000"/>
          </a:avLst>
        </a:prstGeom>
      </dgm:spPr>
    </dgm:pt>
    <dgm:pt modelId="{C5F95D4F-A054-423E-ADC8-981018682CA2}" type="pres">
      <dgm:prSet presAssocID="{B3DBFC18-7D6C-459F-B98E-6B4C25C25F24}" presName="hierChild4" presStyleCnt="0"/>
      <dgm:spPr/>
    </dgm:pt>
    <dgm:pt modelId="{F3381AC4-83E8-405A-B85D-E3A200F2AB1E}" type="pres">
      <dgm:prSet presAssocID="{179767CE-1AB3-49A8-BD0B-0C64FB322CDB}" presName="Name17" presStyleLbl="parChTrans1D3" presStyleIdx="2" presStyleCnt="5"/>
      <dgm:spPr>
        <a:xfrm>
          <a:off x="2655283" y="3200680"/>
          <a:ext cx="1882151" cy="447866"/>
        </a:xfrm>
        <a:custGeom>
          <a:avLst/>
          <a:gdLst/>
          <a:ahLst/>
          <a:cxnLst/>
          <a:rect l="0" t="0" r="0" b="0"/>
          <a:pathLst>
            <a:path>
              <a:moveTo>
                <a:pt x="0" y="0"/>
              </a:moveTo>
              <a:lnTo>
                <a:pt x="0" y="305207"/>
              </a:lnTo>
              <a:lnTo>
                <a:pt x="1882151" y="305207"/>
              </a:lnTo>
              <a:lnTo>
                <a:pt x="1882151" y="447866"/>
              </a:lnTo>
            </a:path>
          </a:pathLst>
        </a:custGeom>
      </dgm:spPr>
    </dgm:pt>
    <dgm:pt modelId="{6DE40F5E-B70C-44F2-84F9-24D3006A0812}" type="pres">
      <dgm:prSet presAssocID="{01D30B48-5796-4727-8AB4-8728E5D3522B}" presName="hierRoot3" presStyleCnt="0"/>
      <dgm:spPr/>
    </dgm:pt>
    <dgm:pt modelId="{C1F29B7A-9FF5-435A-BAB5-D5D181345A9F}" type="pres">
      <dgm:prSet presAssocID="{01D30B48-5796-4727-8AB4-8728E5D3522B}" presName="composite3" presStyleCnt="0"/>
      <dgm:spPr/>
    </dgm:pt>
    <dgm:pt modelId="{2ED9699D-EEF4-41FC-9FBD-9A0E91A436D9}" type="pres">
      <dgm:prSet presAssocID="{01D30B48-5796-4727-8AB4-8728E5D3522B}" presName="background3" presStyleLbl="node3" presStyleIdx="2" presStyleCnt="5"/>
      <dgm:spPr>
        <a:xfrm>
          <a:off x="3977490" y="4195823"/>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gm:spPr>
    </dgm:pt>
    <dgm:pt modelId="{D2D86782-E476-4315-9D90-01B9188D9A6A}" type="pres">
      <dgm:prSet presAssocID="{01D30B48-5796-4727-8AB4-8728E5D3522B}" presName="text3" presStyleLbl="fgAcc3" presStyleIdx="2" presStyleCnt="5">
        <dgm:presLayoutVars>
          <dgm:chPref val="3"/>
        </dgm:presLayoutVars>
      </dgm:prSet>
      <dgm:spPr>
        <a:xfrm>
          <a:off x="3938568" y="3811096"/>
          <a:ext cx="1539942" cy="977863"/>
        </a:xfrm>
        <a:prstGeom prst="roundRect">
          <a:avLst>
            <a:gd name="adj" fmla="val 10000"/>
          </a:avLst>
        </a:prstGeom>
      </dgm:spPr>
    </dgm:pt>
    <dgm:pt modelId="{E92C7AC3-E89C-4DD3-969E-3C04A443CC1D}" type="pres">
      <dgm:prSet presAssocID="{01D30B48-5796-4727-8AB4-8728E5D3522B}" presName="hierChild4" presStyleCnt="0"/>
      <dgm:spPr/>
    </dgm:pt>
    <dgm:pt modelId="{872B6060-F4E4-4CA9-A0FD-939830BD3B41}" type="pres">
      <dgm:prSet presAssocID="{23B2C1B2-833D-4F04-BAB7-2C51366308F1}" presName="Name10" presStyleLbl="parChTrans1D2" presStyleIdx="1" presStyleCnt="2"/>
      <dgm:spPr>
        <a:xfrm>
          <a:off x="5007972" y="1774950"/>
          <a:ext cx="2352689" cy="447866"/>
        </a:xfrm>
        <a:custGeom>
          <a:avLst/>
          <a:gdLst/>
          <a:ahLst/>
          <a:cxnLst/>
          <a:rect l="0" t="0" r="0" b="0"/>
          <a:pathLst>
            <a:path>
              <a:moveTo>
                <a:pt x="0" y="0"/>
              </a:moveTo>
              <a:lnTo>
                <a:pt x="0" y="305207"/>
              </a:lnTo>
              <a:lnTo>
                <a:pt x="2352689" y="305207"/>
              </a:lnTo>
              <a:lnTo>
                <a:pt x="2352689" y="447866"/>
              </a:lnTo>
            </a:path>
          </a:pathLst>
        </a:custGeom>
      </dgm:spPr>
    </dgm:pt>
    <dgm:pt modelId="{0AD5B418-5E08-42DA-96D6-B22667938D13}" type="pres">
      <dgm:prSet presAssocID="{5A25BD11-CAE5-4D08-8D79-F4D231CEC518}" presName="hierRoot2" presStyleCnt="0"/>
      <dgm:spPr/>
    </dgm:pt>
    <dgm:pt modelId="{BA9AD3BB-BA5A-40CD-86ED-346DBC427CD2}" type="pres">
      <dgm:prSet presAssocID="{5A25BD11-CAE5-4D08-8D79-F4D231CEC518}" presName="composite2" presStyleCnt="0"/>
      <dgm:spPr/>
    </dgm:pt>
    <dgm:pt modelId="{62E72D48-D2F6-4274-9D8E-AC1B943AF0BC}" type="pres">
      <dgm:prSet presAssocID="{5A25BD11-CAE5-4D08-8D79-F4D231CEC518}" presName="background2" presStyleLbl="node2" presStyleIdx="1" presStyleCnt="2"/>
      <dgm:spPr>
        <a:xfrm>
          <a:off x="6958106" y="2690612"/>
          <a:ext cx="1625790" cy="1032376"/>
        </a:xfrm>
        <a:prstGeom prst="roundRect">
          <a:avLst>
            <a:gd name="adj" fmla="val 10000"/>
          </a:avLst>
        </a:prstGeom>
        <a:solidFill>
          <a:srgbClr val="4DADCF">
            <a:hueOff val="0"/>
            <a:satOff val="0"/>
            <a:lumOff val="0"/>
            <a:alphaOff val="0"/>
          </a:srgbClr>
        </a:solidFill>
        <a:ln w="22225" cap="flat" cmpd="sng" algn="ctr">
          <a:solidFill>
            <a:prstClr val="white">
              <a:hueOff val="0"/>
              <a:satOff val="0"/>
              <a:lumOff val="0"/>
              <a:alphaOff val="0"/>
            </a:prstClr>
          </a:solidFill>
          <a:prstDash val="solid"/>
        </a:ln>
        <a:effectLst/>
      </dgm:spPr>
    </dgm:pt>
    <dgm:pt modelId="{D682DDB7-0493-4D3B-BE9F-F3B77EC84507}" type="pres">
      <dgm:prSet presAssocID="{5A25BD11-CAE5-4D08-8D79-F4D231CEC518}" presName="text2" presStyleLbl="fgAcc2" presStyleIdx="1" presStyleCnt="2">
        <dgm:presLayoutVars>
          <dgm:chPref val="3"/>
        </dgm:presLayoutVars>
      </dgm:prSet>
      <dgm:spPr>
        <a:xfrm>
          <a:off x="6761795" y="2385366"/>
          <a:ext cx="1539942" cy="977863"/>
        </a:xfrm>
        <a:prstGeom prst="roundRect">
          <a:avLst>
            <a:gd name="adj" fmla="val 10000"/>
          </a:avLst>
        </a:prstGeom>
      </dgm:spPr>
    </dgm:pt>
    <dgm:pt modelId="{C29A6606-EBD5-43A6-A371-C46FCB254BC1}" type="pres">
      <dgm:prSet presAssocID="{5A25BD11-CAE5-4D08-8D79-F4D231CEC518}" presName="hierChild3" presStyleCnt="0"/>
      <dgm:spPr/>
    </dgm:pt>
    <dgm:pt modelId="{F823274A-F718-4A8C-B548-2165A0FC6078}" type="pres">
      <dgm:prSet presAssocID="{B10510E8-F2E9-4397-8C1C-5C946CA89D6D}" presName="Name17" presStyleLbl="parChTrans1D3" presStyleIdx="3" presStyleCnt="5"/>
      <dgm:spPr/>
    </dgm:pt>
    <dgm:pt modelId="{408C70C8-5B02-47E6-90A6-9B3A354A672F}" type="pres">
      <dgm:prSet presAssocID="{4B5A1655-227B-46D1-852C-BEBB3461D737}" presName="hierRoot3" presStyleCnt="0"/>
      <dgm:spPr/>
    </dgm:pt>
    <dgm:pt modelId="{FFBCF40B-31FD-4686-8045-C91DFBE6E7B9}" type="pres">
      <dgm:prSet presAssocID="{4B5A1655-227B-46D1-852C-BEBB3461D737}" presName="composite3" presStyleCnt="0"/>
      <dgm:spPr/>
    </dgm:pt>
    <dgm:pt modelId="{A8CB4F81-FF69-4A0B-A27B-1946FB954873}" type="pres">
      <dgm:prSet presAssocID="{4B5A1655-227B-46D1-852C-BEBB3461D737}" presName="background3" presStyleLbl="node3" presStyleIdx="3" presStyleCnt="5"/>
      <dgm:spPr>
        <a:xfrm>
          <a:off x="5964567" y="4195823"/>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gm:spPr>
    </dgm:pt>
    <dgm:pt modelId="{1DE0426A-7448-4AB8-8E25-565FFF7964D5}" type="pres">
      <dgm:prSet presAssocID="{4B5A1655-227B-46D1-852C-BEBB3461D737}" presName="text3" presStyleLbl="fgAcc3" presStyleIdx="3" presStyleCnt="5">
        <dgm:presLayoutVars>
          <dgm:chPref val="3"/>
        </dgm:presLayoutVars>
      </dgm:prSet>
      <dgm:spPr/>
    </dgm:pt>
    <dgm:pt modelId="{7C522A19-DA00-48AE-ADBF-AE92F3E87A08}" type="pres">
      <dgm:prSet presAssocID="{4B5A1655-227B-46D1-852C-BEBB3461D737}" presName="hierChild4" presStyleCnt="0"/>
      <dgm:spPr/>
    </dgm:pt>
    <dgm:pt modelId="{19CBEAFA-F720-4FF8-85C3-EE952442044F}" type="pres">
      <dgm:prSet presAssocID="{E1EE9B28-4BFF-4D2B-BDE2-06F611981674}" presName="Name17" presStyleLbl="parChTrans1D3" presStyleIdx="4" presStyleCnt="5"/>
      <dgm:spPr/>
    </dgm:pt>
    <dgm:pt modelId="{1D4F52BF-21B5-433C-86E4-E908256700E8}" type="pres">
      <dgm:prSet presAssocID="{E9548930-E6EE-4228-815E-98D2EB40A014}" presName="hierRoot3" presStyleCnt="0"/>
      <dgm:spPr/>
    </dgm:pt>
    <dgm:pt modelId="{70B36D01-396B-41E5-A6BE-47B37A989468}" type="pres">
      <dgm:prSet presAssocID="{E9548930-E6EE-4228-815E-98D2EB40A014}" presName="composite3" presStyleCnt="0"/>
      <dgm:spPr/>
    </dgm:pt>
    <dgm:pt modelId="{2FC3F9B4-A260-4EAD-9451-1A57ADE6FB08}" type="pres">
      <dgm:prSet presAssocID="{E9548930-E6EE-4228-815E-98D2EB40A014}" presName="background3" presStyleLbl="node3" presStyleIdx="4" presStyleCnt="5"/>
      <dgm:spPr>
        <a:xfrm>
          <a:off x="7951644" y="4195823"/>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gm:spPr>
    </dgm:pt>
    <dgm:pt modelId="{338D459D-7F9E-4A63-AE8E-6B3ED42F6687}" type="pres">
      <dgm:prSet presAssocID="{E9548930-E6EE-4228-815E-98D2EB40A014}" presName="text3" presStyleLbl="fgAcc3" presStyleIdx="4" presStyleCnt="5">
        <dgm:presLayoutVars>
          <dgm:chPref val="3"/>
        </dgm:presLayoutVars>
      </dgm:prSet>
      <dgm:spPr/>
    </dgm:pt>
    <dgm:pt modelId="{B43046C5-7BDF-4BCB-938A-F5646D4E1D2A}" type="pres">
      <dgm:prSet presAssocID="{E9548930-E6EE-4228-815E-98D2EB40A014}" presName="hierChild4" presStyleCnt="0"/>
      <dgm:spPr/>
    </dgm:pt>
  </dgm:ptLst>
  <dgm:cxnLst>
    <dgm:cxn modelId="{310A1D0E-FFF3-40A2-BFFD-DB6A8CE82597}" srcId="{7A325A8F-CD63-4CF6-BEE5-B597899FCA4B}" destId="{86C50E28-1961-4B26-98C4-969F8B1B764F}" srcOrd="0" destOrd="0" parTransId="{9F4BF4A3-F1F7-4756-959B-B241AA9CE4D6}" sibTransId="{9B825252-6981-4AF7-B110-BE8BF88BDE51}"/>
    <dgm:cxn modelId="{BF55C116-8850-47F0-B1A4-5CD6E6415983}" srcId="{5A25BD11-CAE5-4D08-8D79-F4D231CEC518}" destId="{E9548930-E6EE-4228-815E-98D2EB40A014}" srcOrd="1" destOrd="0" parTransId="{E1EE9B28-4BFF-4D2B-BDE2-06F611981674}" sibTransId="{A170F6BE-73C8-4AE4-AD68-2B9981612EC9}"/>
    <dgm:cxn modelId="{03C3F223-4CFC-4544-81A3-2F0F1CF31C26}" type="presOf" srcId="{4B5A1655-227B-46D1-852C-BEBB3461D737}" destId="{1DE0426A-7448-4AB8-8E25-565FFF7964D5}" srcOrd="0" destOrd="0" presId="urn:microsoft.com/office/officeart/2005/8/layout/hierarchy1"/>
    <dgm:cxn modelId="{025ABC63-4F27-4DA6-86FC-F53BBA104558}" srcId="{7B801307-CE49-48A6-B875-1DF97EAA6D01}" destId="{E0A5259E-41F6-4659-81BA-B4AF446A31C3}" srcOrd="0" destOrd="0" parTransId="{D6B24DC1-0B0A-43F6-AADF-BBFD521F8433}" sibTransId="{A6EA178E-8B38-4A4C-A885-8A59635952D0}"/>
    <dgm:cxn modelId="{F0B5EC43-1BE8-443C-9788-C7DC6E95FAAE}" type="presOf" srcId="{B10510E8-F2E9-4397-8C1C-5C946CA89D6D}" destId="{F823274A-F718-4A8C-B548-2165A0FC6078}" srcOrd="0" destOrd="0" presId="urn:microsoft.com/office/officeart/2005/8/layout/hierarchy1"/>
    <dgm:cxn modelId="{945A374F-BB38-4593-9517-67C0A6AE6355}" srcId="{E0A5259E-41F6-4659-81BA-B4AF446A31C3}" destId="{7A325A8F-CD63-4CF6-BEE5-B597899FCA4B}" srcOrd="0" destOrd="0" parTransId="{B76EC083-DFA4-4D8B-BBE7-95D70A231735}" sibTransId="{794BD854-E4BA-4BD0-8996-88D00296E3FC}"/>
    <dgm:cxn modelId="{D22FD94F-E1FC-43B9-8571-33E44031B818}" type="presOf" srcId="{CEB0761D-4A76-48D0-AA9C-8C37FA078788}" destId="{DE28A2EE-C62A-43DD-8050-91B21061EB70}" srcOrd="0" destOrd="0" presId="urn:microsoft.com/office/officeart/2005/8/layout/hierarchy1"/>
    <dgm:cxn modelId="{21953750-4C34-4DC5-8AE1-AA9F4B5F943F}" type="presOf" srcId="{86C50E28-1961-4B26-98C4-969F8B1B764F}" destId="{CA1F5F0D-301A-4634-B38E-1C023E293A28}" srcOrd="0" destOrd="0" presId="urn:microsoft.com/office/officeart/2005/8/layout/hierarchy1"/>
    <dgm:cxn modelId="{F1741375-7ECA-4D70-AEF4-EBFAAF6DD2EE}" type="presOf" srcId="{5A25BD11-CAE5-4D08-8D79-F4D231CEC518}" destId="{D682DDB7-0493-4D3B-BE9F-F3B77EC84507}" srcOrd="0" destOrd="0" presId="urn:microsoft.com/office/officeart/2005/8/layout/hierarchy1"/>
    <dgm:cxn modelId="{3478C676-5E4A-4F04-9B5B-DF201CDF7594}" type="presOf" srcId="{9F4BF4A3-F1F7-4756-959B-B241AA9CE4D6}" destId="{EBB3C75C-8CA6-4ACE-832D-5804DF2B609C}" srcOrd="0" destOrd="0" presId="urn:microsoft.com/office/officeart/2005/8/layout/hierarchy1"/>
    <dgm:cxn modelId="{8BAC3083-7E1B-4A1A-A544-52DB9F59804B}" type="presOf" srcId="{E1EE9B28-4BFF-4D2B-BDE2-06F611981674}" destId="{19CBEAFA-F720-4FF8-85C3-EE952442044F}" srcOrd="0" destOrd="0" presId="urn:microsoft.com/office/officeart/2005/8/layout/hierarchy1"/>
    <dgm:cxn modelId="{EE88F583-7162-4B39-A754-D46362183B80}" srcId="{7A325A8F-CD63-4CF6-BEE5-B597899FCA4B}" destId="{B3DBFC18-7D6C-459F-B98E-6B4C25C25F24}" srcOrd="1" destOrd="0" parTransId="{CEB0761D-4A76-48D0-AA9C-8C37FA078788}" sibTransId="{941FDC00-B83B-4D7A-A231-57792E9DDA66}"/>
    <dgm:cxn modelId="{821D238F-CC1B-48BD-966A-B01A6356EB0C}" type="presOf" srcId="{B76EC083-DFA4-4D8B-BBE7-95D70A231735}" destId="{CAFF84E9-68AD-4800-B2A1-909B87FDADCE}" srcOrd="0" destOrd="0" presId="urn:microsoft.com/office/officeart/2005/8/layout/hierarchy1"/>
    <dgm:cxn modelId="{B377C48F-F27D-42BC-8326-E9ACEBAC719D}" type="presOf" srcId="{B3DBFC18-7D6C-459F-B98E-6B4C25C25F24}" destId="{113D8BD1-9DCB-4CAF-93E1-326B489FD8AE}" srcOrd="0" destOrd="0" presId="urn:microsoft.com/office/officeart/2005/8/layout/hierarchy1"/>
    <dgm:cxn modelId="{D2242293-8AC4-4A4E-8CE9-9932A911B3C1}" type="presOf" srcId="{23B2C1B2-833D-4F04-BAB7-2C51366308F1}" destId="{872B6060-F4E4-4CA9-A0FD-939830BD3B41}" srcOrd="0" destOrd="0" presId="urn:microsoft.com/office/officeart/2005/8/layout/hierarchy1"/>
    <dgm:cxn modelId="{FDCE28A2-445C-464A-A854-09AAF578CAF2}" srcId="{7A325A8F-CD63-4CF6-BEE5-B597899FCA4B}" destId="{01D30B48-5796-4727-8AB4-8728E5D3522B}" srcOrd="2" destOrd="0" parTransId="{179767CE-1AB3-49A8-BD0B-0C64FB322CDB}" sibTransId="{724DE7FC-C924-4898-AA5C-3D42F076F3D0}"/>
    <dgm:cxn modelId="{5B05B3BA-126F-46B3-9049-AE782F6EDB5B}" type="presOf" srcId="{7A325A8F-CD63-4CF6-BEE5-B597899FCA4B}" destId="{54E502FF-189E-4B43-8B4D-DE4009B0989C}" srcOrd="0" destOrd="0" presId="urn:microsoft.com/office/officeart/2005/8/layout/hierarchy1"/>
    <dgm:cxn modelId="{0DA312BE-671F-4BD0-864E-C085DC054E0B}" srcId="{5A25BD11-CAE5-4D08-8D79-F4D231CEC518}" destId="{4B5A1655-227B-46D1-852C-BEBB3461D737}" srcOrd="0" destOrd="0" parTransId="{B10510E8-F2E9-4397-8C1C-5C946CA89D6D}" sibTransId="{E2C7ED9B-608B-4750-AA2B-5FD55F760B2B}"/>
    <dgm:cxn modelId="{B546EDC4-CFD5-4291-8EB3-9358FAAF3263}" srcId="{E0A5259E-41F6-4659-81BA-B4AF446A31C3}" destId="{5A25BD11-CAE5-4D08-8D79-F4D231CEC518}" srcOrd="1" destOrd="0" parTransId="{23B2C1B2-833D-4F04-BAB7-2C51366308F1}" sibTransId="{FF759857-E560-4A93-9A71-1A5DADFFF999}"/>
    <dgm:cxn modelId="{B11E91CA-301C-453E-9A4E-6CB9512B7ACE}" type="presOf" srcId="{7B801307-CE49-48A6-B875-1DF97EAA6D01}" destId="{E51650F2-5325-4C87-8C48-A31C5A056977}" srcOrd="0" destOrd="0" presId="urn:microsoft.com/office/officeart/2005/8/layout/hierarchy1"/>
    <dgm:cxn modelId="{B5B995CE-5C1F-4C1E-80AA-0A9C12D324EE}" type="presOf" srcId="{01D30B48-5796-4727-8AB4-8728E5D3522B}" destId="{D2D86782-E476-4315-9D90-01B9188D9A6A}" srcOrd="0" destOrd="0" presId="urn:microsoft.com/office/officeart/2005/8/layout/hierarchy1"/>
    <dgm:cxn modelId="{210822E2-EB07-47F5-9784-7693EDB2A19D}" type="presOf" srcId="{E9548930-E6EE-4228-815E-98D2EB40A014}" destId="{338D459D-7F9E-4A63-AE8E-6B3ED42F6687}" srcOrd="0" destOrd="0" presId="urn:microsoft.com/office/officeart/2005/8/layout/hierarchy1"/>
    <dgm:cxn modelId="{CFCD91E6-E6AB-4B90-95D5-F945B2E5F108}" type="presOf" srcId="{E0A5259E-41F6-4659-81BA-B4AF446A31C3}" destId="{ED547C46-EAF4-4FE6-A1E6-D24D07004785}" srcOrd="0" destOrd="0" presId="urn:microsoft.com/office/officeart/2005/8/layout/hierarchy1"/>
    <dgm:cxn modelId="{428FFDEB-BBCB-4F31-94C5-68CCB1379CC7}" type="presOf" srcId="{179767CE-1AB3-49A8-BD0B-0C64FB322CDB}" destId="{F3381AC4-83E8-405A-B85D-E3A200F2AB1E}" srcOrd="0" destOrd="0" presId="urn:microsoft.com/office/officeart/2005/8/layout/hierarchy1"/>
    <dgm:cxn modelId="{267FC9B9-B6EA-4219-B1A7-B37AAE6D10BB}" type="presParOf" srcId="{E51650F2-5325-4C87-8C48-A31C5A056977}" destId="{21440664-F21D-4712-83AC-ECE79C01C680}" srcOrd="0" destOrd="0" presId="urn:microsoft.com/office/officeart/2005/8/layout/hierarchy1"/>
    <dgm:cxn modelId="{10C77158-A537-4D1C-AC6A-2560F6BC975E}" type="presParOf" srcId="{21440664-F21D-4712-83AC-ECE79C01C680}" destId="{D402266D-6E2B-4CC8-B131-B5D58AFEB6A4}" srcOrd="0" destOrd="0" presId="urn:microsoft.com/office/officeart/2005/8/layout/hierarchy1"/>
    <dgm:cxn modelId="{97AD8072-9C9F-48C4-BDD3-50265326CB75}" type="presParOf" srcId="{D402266D-6E2B-4CC8-B131-B5D58AFEB6A4}" destId="{E00636BA-9BB6-4834-B4F9-B898DF9DF1BF}" srcOrd="0" destOrd="0" presId="urn:microsoft.com/office/officeart/2005/8/layout/hierarchy1"/>
    <dgm:cxn modelId="{E82034E4-BB24-41DE-A700-51F457108F9A}" type="presParOf" srcId="{D402266D-6E2B-4CC8-B131-B5D58AFEB6A4}" destId="{ED547C46-EAF4-4FE6-A1E6-D24D07004785}" srcOrd="1" destOrd="0" presId="urn:microsoft.com/office/officeart/2005/8/layout/hierarchy1"/>
    <dgm:cxn modelId="{BCBDB030-093F-4220-B190-BE3460440EF4}" type="presParOf" srcId="{21440664-F21D-4712-83AC-ECE79C01C680}" destId="{AF0030FE-078C-438A-B212-EAFCA9BC8233}" srcOrd="1" destOrd="0" presId="urn:microsoft.com/office/officeart/2005/8/layout/hierarchy1"/>
    <dgm:cxn modelId="{27BBEC05-3524-40AC-892B-CC7B1DE0A9AA}" type="presParOf" srcId="{AF0030FE-078C-438A-B212-EAFCA9BC8233}" destId="{CAFF84E9-68AD-4800-B2A1-909B87FDADCE}" srcOrd="0" destOrd="0" presId="urn:microsoft.com/office/officeart/2005/8/layout/hierarchy1"/>
    <dgm:cxn modelId="{EB1DDBE2-4984-434B-B031-41F3441D5035}" type="presParOf" srcId="{AF0030FE-078C-438A-B212-EAFCA9BC8233}" destId="{F169C3E5-BDAF-46F1-B930-E65277A18489}" srcOrd="1" destOrd="0" presId="urn:microsoft.com/office/officeart/2005/8/layout/hierarchy1"/>
    <dgm:cxn modelId="{93DB674C-B63A-4556-8482-F713D4FE59B5}" type="presParOf" srcId="{F169C3E5-BDAF-46F1-B930-E65277A18489}" destId="{A4670589-0517-4586-B06F-00AB22CF7DA6}" srcOrd="0" destOrd="0" presId="urn:microsoft.com/office/officeart/2005/8/layout/hierarchy1"/>
    <dgm:cxn modelId="{B15E2F50-63C1-4506-B0BF-8088C7CBD36C}" type="presParOf" srcId="{A4670589-0517-4586-B06F-00AB22CF7DA6}" destId="{877150CE-1506-4FF7-B0C8-E168C826700B}" srcOrd="0" destOrd="0" presId="urn:microsoft.com/office/officeart/2005/8/layout/hierarchy1"/>
    <dgm:cxn modelId="{132F11E9-B291-4058-89A8-A2A417FB81DC}" type="presParOf" srcId="{A4670589-0517-4586-B06F-00AB22CF7DA6}" destId="{54E502FF-189E-4B43-8B4D-DE4009B0989C}" srcOrd="1" destOrd="0" presId="urn:microsoft.com/office/officeart/2005/8/layout/hierarchy1"/>
    <dgm:cxn modelId="{E6EF8E3C-80B6-4935-B998-CDA975B9E7D4}" type="presParOf" srcId="{F169C3E5-BDAF-46F1-B930-E65277A18489}" destId="{4FC155FF-F6C6-43B9-A769-303BB535722F}" srcOrd="1" destOrd="0" presId="urn:microsoft.com/office/officeart/2005/8/layout/hierarchy1"/>
    <dgm:cxn modelId="{4538F643-2DF2-43E8-8F5B-F526D7C386B3}" type="presParOf" srcId="{4FC155FF-F6C6-43B9-A769-303BB535722F}" destId="{EBB3C75C-8CA6-4ACE-832D-5804DF2B609C}" srcOrd="0" destOrd="0" presId="urn:microsoft.com/office/officeart/2005/8/layout/hierarchy1"/>
    <dgm:cxn modelId="{370A9F24-B4DB-42FA-A5A5-2AD1CD6B71C1}" type="presParOf" srcId="{4FC155FF-F6C6-43B9-A769-303BB535722F}" destId="{047FCA25-3BF3-425F-BCCF-114C59650522}" srcOrd="1" destOrd="0" presId="urn:microsoft.com/office/officeart/2005/8/layout/hierarchy1"/>
    <dgm:cxn modelId="{0E58898F-E144-49A7-9399-E2FB4CFBBC6A}" type="presParOf" srcId="{047FCA25-3BF3-425F-BCCF-114C59650522}" destId="{0D40AEDA-65C1-4E41-AA07-43A3BF229521}" srcOrd="0" destOrd="0" presId="urn:microsoft.com/office/officeart/2005/8/layout/hierarchy1"/>
    <dgm:cxn modelId="{8D939BFF-DA78-4A2F-B26B-5F891EDE4611}" type="presParOf" srcId="{0D40AEDA-65C1-4E41-AA07-43A3BF229521}" destId="{FEE6B1F7-E40A-4652-866C-1B42912FDB91}" srcOrd="0" destOrd="0" presId="urn:microsoft.com/office/officeart/2005/8/layout/hierarchy1"/>
    <dgm:cxn modelId="{F7350A54-50EB-4AB0-83FA-DB4CF081DC60}" type="presParOf" srcId="{0D40AEDA-65C1-4E41-AA07-43A3BF229521}" destId="{CA1F5F0D-301A-4634-B38E-1C023E293A28}" srcOrd="1" destOrd="0" presId="urn:microsoft.com/office/officeart/2005/8/layout/hierarchy1"/>
    <dgm:cxn modelId="{FEE63F0D-E761-4630-B64C-8819421D81BD}" type="presParOf" srcId="{047FCA25-3BF3-425F-BCCF-114C59650522}" destId="{7364934B-245D-4630-9AD5-2C135DE1856F}" srcOrd="1" destOrd="0" presId="urn:microsoft.com/office/officeart/2005/8/layout/hierarchy1"/>
    <dgm:cxn modelId="{B0739D16-1998-464E-AF16-AD975364F889}" type="presParOf" srcId="{4FC155FF-F6C6-43B9-A769-303BB535722F}" destId="{DE28A2EE-C62A-43DD-8050-91B21061EB70}" srcOrd="2" destOrd="0" presId="urn:microsoft.com/office/officeart/2005/8/layout/hierarchy1"/>
    <dgm:cxn modelId="{03ECE98C-407D-443D-8B1A-17964476EEAC}" type="presParOf" srcId="{4FC155FF-F6C6-43B9-A769-303BB535722F}" destId="{00703F61-7501-4C59-B524-ECCD929E0BDE}" srcOrd="3" destOrd="0" presId="urn:microsoft.com/office/officeart/2005/8/layout/hierarchy1"/>
    <dgm:cxn modelId="{CB2415ED-99B5-4397-916F-3B3EE83A39B8}" type="presParOf" srcId="{00703F61-7501-4C59-B524-ECCD929E0BDE}" destId="{AAF6A243-F376-43FE-B2D4-E0D791A37F0E}" srcOrd="0" destOrd="0" presId="urn:microsoft.com/office/officeart/2005/8/layout/hierarchy1"/>
    <dgm:cxn modelId="{EE1B7D31-FDC7-4029-AB86-3D0C69C791D9}" type="presParOf" srcId="{AAF6A243-F376-43FE-B2D4-E0D791A37F0E}" destId="{C1D03790-1868-4C7E-847E-D14B1997074B}" srcOrd="0" destOrd="0" presId="urn:microsoft.com/office/officeart/2005/8/layout/hierarchy1"/>
    <dgm:cxn modelId="{3F360E64-8807-45BB-ACA5-C0A91214C0F2}" type="presParOf" srcId="{AAF6A243-F376-43FE-B2D4-E0D791A37F0E}" destId="{113D8BD1-9DCB-4CAF-93E1-326B489FD8AE}" srcOrd="1" destOrd="0" presId="urn:microsoft.com/office/officeart/2005/8/layout/hierarchy1"/>
    <dgm:cxn modelId="{3402A55D-010E-473A-B935-8418F2DC10BF}" type="presParOf" srcId="{00703F61-7501-4C59-B524-ECCD929E0BDE}" destId="{C5F95D4F-A054-423E-ADC8-981018682CA2}" srcOrd="1" destOrd="0" presId="urn:microsoft.com/office/officeart/2005/8/layout/hierarchy1"/>
    <dgm:cxn modelId="{0374CDF0-0427-4904-A098-A88E35A90BF4}" type="presParOf" srcId="{4FC155FF-F6C6-43B9-A769-303BB535722F}" destId="{F3381AC4-83E8-405A-B85D-E3A200F2AB1E}" srcOrd="4" destOrd="0" presId="urn:microsoft.com/office/officeart/2005/8/layout/hierarchy1"/>
    <dgm:cxn modelId="{B1751D71-F5B6-40E4-B48D-CA805B46BFD4}" type="presParOf" srcId="{4FC155FF-F6C6-43B9-A769-303BB535722F}" destId="{6DE40F5E-B70C-44F2-84F9-24D3006A0812}" srcOrd="5" destOrd="0" presId="urn:microsoft.com/office/officeart/2005/8/layout/hierarchy1"/>
    <dgm:cxn modelId="{0F3BE756-1667-4BED-B01F-E6E5A28FD1DC}" type="presParOf" srcId="{6DE40F5E-B70C-44F2-84F9-24D3006A0812}" destId="{C1F29B7A-9FF5-435A-BAB5-D5D181345A9F}" srcOrd="0" destOrd="0" presId="urn:microsoft.com/office/officeart/2005/8/layout/hierarchy1"/>
    <dgm:cxn modelId="{CA451FA0-07DD-424C-AEE9-B424EA7565CE}" type="presParOf" srcId="{C1F29B7A-9FF5-435A-BAB5-D5D181345A9F}" destId="{2ED9699D-EEF4-41FC-9FBD-9A0E91A436D9}" srcOrd="0" destOrd="0" presId="urn:microsoft.com/office/officeart/2005/8/layout/hierarchy1"/>
    <dgm:cxn modelId="{891A16D2-335E-45E1-8C2D-111ACB084970}" type="presParOf" srcId="{C1F29B7A-9FF5-435A-BAB5-D5D181345A9F}" destId="{D2D86782-E476-4315-9D90-01B9188D9A6A}" srcOrd="1" destOrd="0" presId="urn:microsoft.com/office/officeart/2005/8/layout/hierarchy1"/>
    <dgm:cxn modelId="{ACE82C99-8A7D-4E42-B67D-EF8D7CDF7EB5}" type="presParOf" srcId="{6DE40F5E-B70C-44F2-84F9-24D3006A0812}" destId="{E92C7AC3-E89C-4DD3-969E-3C04A443CC1D}" srcOrd="1" destOrd="0" presId="urn:microsoft.com/office/officeart/2005/8/layout/hierarchy1"/>
    <dgm:cxn modelId="{BD67A13B-F978-4CA6-9EBB-1BABEFAED478}" type="presParOf" srcId="{AF0030FE-078C-438A-B212-EAFCA9BC8233}" destId="{872B6060-F4E4-4CA9-A0FD-939830BD3B41}" srcOrd="2" destOrd="0" presId="urn:microsoft.com/office/officeart/2005/8/layout/hierarchy1"/>
    <dgm:cxn modelId="{8C30C457-2CC1-4E32-BBCC-A59D4AE11792}" type="presParOf" srcId="{AF0030FE-078C-438A-B212-EAFCA9BC8233}" destId="{0AD5B418-5E08-42DA-96D6-B22667938D13}" srcOrd="3" destOrd="0" presId="urn:microsoft.com/office/officeart/2005/8/layout/hierarchy1"/>
    <dgm:cxn modelId="{49C1CD7E-B8C9-44D7-844D-323034C60ED4}" type="presParOf" srcId="{0AD5B418-5E08-42DA-96D6-B22667938D13}" destId="{BA9AD3BB-BA5A-40CD-86ED-346DBC427CD2}" srcOrd="0" destOrd="0" presId="urn:microsoft.com/office/officeart/2005/8/layout/hierarchy1"/>
    <dgm:cxn modelId="{1E8769C6-1D24-4966-87FC-9B2CF71F041C}" type="presParOf" srcId="{BA9AD3BB-BA5A-40CD-86ED-346DBC427CD2}" destId="{62E72D48-D2F6-4274-9D8E-AC1B943AF0BC}" srcOrd="0" destOrd="0" presId="urn:microsoft.com/office/officeart/2005/8/layout/hierarchy1"/>
    <dgm:cxn modelId="{3E1FA2F9-78FA-4267-A847-C3B6F3FAB1D2}" type="presParOf" srcId="{BA9AD3BB-BA5A-40CD-86ED-346DBC427CD2}" destId="{D682DDB7-0493-4D3B-BE9F-F3B77EC84507}" srcOrd="1" destOrd="0" presId="urn:microsoft.com/office/officeart/2005/8/layout/hierarchy1"/>
    <dgm:cxn modelId="{5D2095E7-CEE7-4CC3-ADF7-023458F2B731}" type="presParOf" srcId="{0AD5B418-5E08-42DA-96D6-B22667938D13}" destId="{C29A6606-EBD5-43A6-A371-C46FCB254BC1}" srcOrd="1" destOrd="0" presId="urn:microsoft.com/office/officeart/2005/8/layout/hierarchy1"/>
    <dgm:cxn modelId="{840BD70C-A1F6-4203-9D08-26BF89669020}" type="presParOf" srcId="{C29A6606-EBD5-43A6-A371-C46FCB254BC1}" destId="{F823274A-F718-4A8C-B548-2165A0FC6078}" srcOrd="0" destOrd="0" presId="urn:microsoft.com/office/officeart/2005/8/layout/hierarchy1"/>
    <dgm:cxn modelId="{B002CD4F-8A5E-42AD-B8C4-48515D510DAC}" type="presParOf" srcId="{C29A6606-EBD5-43A6-A371-C46FCB254BC1}" destId="{408C70C8-5B02-47E6-90A6-9B3A354A672F}" srcOrd="1" destOrd="0" presId="urn:microsoft.com/office/officeart/2005/8/layout/hierarchy1"/>
    <dgm:cxn modelId="{2F7760C1-93D6-4B7C-8AFD-080663423B31}" type="presParOf" srcId="{408C70C8-5B02-47E6-90A6-9B3A354A672F}" destId="{FFBCF40B-31FD-4686-8045-C91DFBE6E7B9}" srcOrd="0" destOrd="0" presId="urn:microsoft.com/office/officeart/2005/8/layout/hierarchy1"/>
    <dgm:cxn modelId="{73864B7D-242F-4989-A949-26DAFCDA5F55}" type="presParOf" srcId="{FFBCF40B-31FD-4686-8045-C91DFBE6E7B9}" destId="{A8CB4F81-FF69-4A0B-A27B-1946FB954873}" srcOrd="0" destOrd="0" presId="urn:microsoft.com/office/officeart/2005/8/layout/hierarchy1"/>
    <dgm:cxn modelId="{DC51A0FB-E487-41D8-8B9E-5EFF9B51C1FC}" type="presParOf" srcId="{FFBCF40B-31FD-4686-8045-C91DFBE6E7B9}" destId="{1DE0426A-7448-4AB8-8E25-565FFF7964D5}" srcOrd="1" destOrd="0" presId="urn:microsoft.com/office/officeart/2005/8/layout/hierarchy1"/>
    <dgm:cxn modelId="{AC0CBCB4-CC87-4B39-A6FC-8957A49D74E3}" type="presParOf" srcId="{408C70C8-5B02-47E6-90A6-9B3A354A672F}" destId="{7C522A19-DA00-48AE-ADBF-AE92F3E87A08}" srcOrd="1" destOrd="0" presId="urn:microsoft.com/office/officeart/2005/8/layout/hierarchy1"/>
    <dgm:cxn modelId="{93420BA6-961E-4C22-8328-91EC520434C4}" type="presParOf" srcId="{C29A6606-EBD5-43A6-A371-C46FCB254BC1}" destId="{19CBEAFA-F720-4FF8-85C3-EE952442044F}" srcOrd="2" destOrd="0" presId="urn:microsoft.com/office/officeart/2005/8/layout/hierarchy1"/>
    <dgm:cxn modelId="{4B05A3DE-1D4F-4A74-AA66-7353A69BB9EB}" type="presParOf" srcId="{C29A6606-EBD5-43A6-A371-C46FCB254BC1}" destId="{1D4F52BF-21B5-433C-86E4-E908256700E8}" srcOrd="3" destOrd="0" presId="urn:microsoft.com/office/officeart/2005/8/layout/hierarchy1"/>
    <dgm:cxn modelId="{141311BB-FC7E-4318-86C4-D5E1A327C761}" type="presParOf" srcId="{1D4F52BF-21B5-433C-86E4-E908256700E8}" destId="{70B36D01-396B-41E5-A6BE-47B37A989468}" srcOrd="0" destOrd="0" presId="urn:microsoft.com/office/officeart/2005/8/layout/hierarchy1"/>
    <dgm:cxn modelId="{21921F17-93BF-4D9B-83CE-DB9399B9E4ED}" type="presParOf" srcId="{70B36D01-396B-41E5-A6BE-47B37A989468}" destId="{2FC3F9B4-A260-4EAD-9451-1A57ADE6FB08}" srcOrd="0" destOrd="0" presId="urn:microsoft.com/office/officeart/2005/8/layout/hierarchy1"/>
    <dgm:cxn modelId="{BE136B6A-A683-41E5-B083-6B13B0E20174}" type="presParOf" srcId="{70B36D01-396B-41E5-A6BE-47B37A989468}" destId="{338D459D-7F9E-4A63-AE8E-6B3ED42F6687}" srcOrd="1" destOrd="0" presId="urn:microsoft.com/office/officeart/2005/8/layout/hierarchy1"/>
    <dgm:cxn modelId="{DC5BA27A-9329-49B9-8E1A-F32424AD265C}" type="presParOf" srcId="{1D4F52BF-21B5-433C-86E4-E908256700E8}" destId="{B43046C5-7BDF-4BCB-938A-F5646D4E1D2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BEAFA-F720-4FF8-85C3-EE952442044F}">
      <dsp:nvSpPr>
        <dsp:cNvPr id="0" name=""/>
        <dsp:cNvSpPr/>
      </dsp:nvSpPr>
      <dsp:spPr>
        <a:xfrm>
          <a:off x="7771001" y="2954056"/>
          <a:ext cx="993538" cy="472834"/>
        </a:xfrm>
        <a:custGeom>
          <a:avLst/>
          <a:gdLst/>
          <a:ahLst/>
          <a:cxnLst/>
          <a:rect l="0" t="0" r="0" b="0"/>
          <a:pathLst>
            <a:path>
              <a:moveTo>
                <a:pt x="0" y="0"/>
              </a:moveTo>
              <a:lnTo>
                <a:pt x="0" y="322222"/>
              </a:lnTo>
              <a:lnTo>
                <a:pt x="993538" y="322222"/>
              </a:lnTo>
              <a:lnTo>
                <a:pt x="993538" y="472834"/>
              </a:lnTo>
            </a:path>
          </a:pathLst>
        </a:custGeom>
        <a:noFill/>
        <a:ln w="15875" cap="flat" cmpd="sng" algn="ctr">
          <a:solidFill>
            <a:srgbClr val="4DADCF">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F823274A-F718-4A8C-B548-2165A0FC6078}">
      <dsp:nvSpPr>
        <dsp:cNvPr id="0" name=""/>
        <dsp:cNvSpPr/>
      </dsp:nvSpPr>
      <dsp:spPr>
        <a:xfrm>
          <a:off x="6777462" y="2954056"/>
          <a:ext cx="993538" cy="472834"/>
        </a:xfrm>
        <a:custGeom>
          <a:avLst/>
          <a:gdLst/>
          <a:ahLst/>
          <a:cxnLst/>
          <a:rect l="0" t="0" r="0" b="0"/>
          <a:pathLst>
            <a:path>
              <a:moveTo>
                <a:pt x="993538" y="0"/>
              </a:moveTo>
              <a:lnTo>
                <a:pt x="993538" y="322222"/>
              </a:lnTo>
              <a:lnTo>
                <a:pt x="0" y="322222"/>
              </a:lnTo>
              <a:lnTo>
                <a:pt x="0" y="472834"/>
              </a:lnTo>
            </a:path>
          </a:pathLst>
        </a:custGeom>
        <a:noFill/>
        <a:ln w="15875" cap="flat" cmpd="sng" algn="ctr">
          <a:solidFill>
            <a:srgbClr val="4DADCF">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872B6060-F4E4-4CA9-A0FD-939830BD3B41}">
      <dsp:nvSpPr>
        <dsp:cNvPr id="0" name=""/>
        <dsp:cNvSpPr/>
      </dsp:nvSpPr>
      <dsp:spPr>
        <a:xfrm>
          <a:off x="5287155" y="1448845"/>
          <a:ext cx="2483846" cy="472834"/>
        </a:xfrm>
        <a:custGeom>
          <a:avLst/>
          <a:gdLst/>
          <a:ahLst/>
          <a:cxnLst/>
          <a:rect l="0" t="0" r="0" b="0"/>
          <a:pathLst>
            <a:path>
              <a:moveTo>
                <a:pt x="0" y="0"/>
              </a:moveTo>
              <a:lnTo>
                <a:pt x="0" y="305207"/>
              </a:lnTo>
              <a:lnTo>
                <a:pt x="2352689" y="305207"/>
              </a:lnTo>
              <a:lnTo>
                <a:pt x="2352689" y="447866"/>
              </a:lnTo>
            </a:path>
          </a:pathLst>
        </a:custGeom>
        <a:noFill/>
        <a:ln w="15875" cap="flat" cmpd="sng" algn="ctr">
          <a:solidFill>
            <a:srgbClr val="92D050"/>
          </a:solidFill>
          <a:prstDash val="solid"/>
        </a:ln>
        <a:effectLst/>
      </dsp:spPr>
      <dsp:style>
        <a:lnRef idx="2">
          <a:scrgbClr r="0" g="0" b="0"/>
        </a:lnRef>
        <a:fillRef idx="0">
          <a:scrgbClr r="0" g="0" b="0"/>
        </a:fillRef>
        <a:effectRef idx="0">
          <a:scrgbClr r="0" g="0" b="0"/>
        </a:effectRef>
        <a:fontRef idx="minor"/>
      </dsp:style>
    </dsp:sp>
    <dsp:sp modelId="{F3381AC4-83E8-405A-B85D-E3A200F2AB1E}">
      <dsp:nvSpPr>
        <dsp:cNvPr id="0" name=""/>
        <dsp:cNvSpPr/>
      </dsp:nvSpPr>
      <dsp:spPr>
        <a:xfrm>
          <a:off x="2803308" y="2954056"/>
          <a:ext cx="1987077" cy="472834"/>
        </a:xfrm>
        <a:custGeom>
          <a:avLst/>
          <a:gdLst/>
          <a:ahLst/>
          <a:cxnLst/>
          <a:rect l="0" t="0" r="0" b="0"/>
          <a:pathLst>
            <a:path>
              <a:moveTo>
                <a:pt x="0" y="0"/>
              </a:moveTo>
              <a:lnTo>
                <a:pt x="0" y="305207"/>
              </a:lnTo>
              <a:lnTo>
                <a:pt x="1882151" y="305207"/>
              </a:lnTo>
              <a:lnTo>
                <a:pt x="1882151" y="447866"/>
              </a:lnTo>
            </a:path>
          </a:pathLst>
        </a:custGeom>
        <a:noFill/>
        <a:ln w="15875" cap="flat" cmpd="sng" algn="ctr">
          <a:solidFill>
            <a:srgbClr val="5EC795">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DE28A2EE-C62A-43DD-8050-91B21061EB70}">
      <dsp:nvSpPr>
        <dsp:cNvPr id="0" name=""/>
        <dsp:cNvSpPr/>
      </dsp:nvSpPr>
      <dsp:spPr>
        <a:xfrm>
          <a:off x="2757588" y="2954056"/>
          <a:ext cx="91440" cy="472834"/>
        </a:xfrm>
        <a:custGeom>
          <a:avLst/>
          <a:gdLst/>
          <a:ahLst/>
          <a:cxnLst/>
          <a:rect l="0" t="0" r="0" b="0"/>
          <a:pathLst>
            <a:path>
              <a:moveTo>
                <a:pt x="45720" y="0"/>
              </a:moveTo>
              <a:lnTo>
                <a:pt x="45720" y="447866"/>
              </a:lnTo>
            </a:path>
          </a:pathLst>
        </a:custGeom>
        <a:noFill/>
        <a:ln w="15875" cap="flat" cmpd="sng" algn="ctr">
          <a:solidFill>
            <a:srgbClr val="5EC795">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EBB3C75C-8CA6-4ACE-832D-5804DF2B609C}">
      <dsp:nvSpPr>
        <dsp:cNvPr id="0" name=""/>
        <dsp:cNvSpPr/>
      </dsp:nvSpPr>
      <dsp:spPr>
        <a:xfrm>
          <a:off x="816231" y="2954056"/>
          <a:ext cx="1987077" cy="472834"/>
        </a:xfrm>
        <a:custGeom>
          <a:avLst/>
          <a:gdLst/>
          <a:ahLst/>
          <a:cxnLst/>
          <a:rect l="0" t="0" r="0" b="0"/>
          <a:pathLst>
            <a:path>
              <a:moveTo>
                <a:pt x="1882151" y="0"/>
              </a:moveTo>
              <a:lnTo>
                <a:pt x="1882151" y="305207"/>
              </a:lnTo>
              <a:lnTo>
                <a:pt x="0" y="305207"/>
              </a:lnTo>
              <a:lnTo>
                <a:pt x="0" y="447866"/>
              </a:lnTo>
            </a:path>
          </a:pathLst>
        </a:custGeom>
        <a:noFill/>
        <a:ln w="15875" cap="flat" cmpd="sng" algn="ctr">
          <a:solidFill>
            <a:srgbClr val="5EC795">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CAFF84E9-68AD-4800-B2A1-909B87FDADCE}">
      <dsp:nvSpPr>
        <dsp:cNvPr id="0" name=""/>
        <dsp:cNvSpPr/>
      </dsp:nvSpPr>
      <dsp:spPr>
        <a:xfrm>
          <a:off x="2803308" y="1448845"/>
          <a:ext cx="2483846" cy="472834"/>
        </a:xfrm>
        <a:custGeom>
          <a:avLst/>
          <a:gdLst/>
          <a:ahLst/>
          <a:cxnLst/>
          <a:rect l="0" t="0" r="0" b="0"/>
          <a:pathLst>
            <a:path>
              <a:moveTo>
                <a:pt x="2483846" y="0"/>
              </a:moveTo>
              <a:lnTo>
                <a:pt x="2483846" y="322222"/>
              </a:lnTo>
              <a:lnTo>
                <a:pt x="0" y="322222"/>
              </a:lnTo>
              <a:lnTo>
                <a:pt x="0" y="472834"/>
              </a:lnTo>
            </a:path>
          </a:pathLst>
        </a:custGeom>
        <a:noFill/>
        <a:ln w="15875" cap="flat" cmpd="sng" algn="ctr">
          <a:solidFill>
            <a:srgbClr val="92D050"/>
          </a:solidFill>
          <a:prstDash val="solid"/>
        </a:ln>
        <a:effectLst/>
      </dsp:spPr>
      <dsp:style>
        <a:lnRef idx="2">
          <a:scrgbClr r="0" g="0" b="0"/>
        </a:lnRef>
        <a:fillRef idx="0">
          <a:scrgbClr r="0" g="0" b="0"/>
        </a:fillRef>
        <a:effectRef idx="0">
          <a:scrgbClr r="0" g="0" b="0"/>
        </a:effectRef>
        <a:fontRef idx="minor"/>
      </dsp:style>
    </dsp:sp>
    <dsp:sp modelId="{E00636BA-9BB6-4834-B4F9-B898DF9DF1BF}">
      <dsp:nvSpPr>
        <dsp:cNvPr id="0" name=""/>
        <dsp:cNvSpPr/>
      </dsp:nvSpPr>
      <dsp:spPr>
        <a:xfrm>
          <a:off x="4474259" y="416469"/>
          <a:ext cx="1625790" cy="1032376"/>
        </a:xfrm>
        <a:prstGeom prst="roundRect">
          <a:avLst>
            <a:gd name="adj" fmla="val 10000"/>
          </a:avLst>
        </a:prstGeom>
        <a:solidFill>
          <a:srgbClr val="92D050"/>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ED547C46-EAF4-4FE6-A1E6-D24D07004785}">
      <dsp:nvSpPr>
        <dsp:cNvPr id="0" name=""/>
        <dsp:cNvSpPr/>
      </dsp:nvSpPr>
      <dsp:spPr>
        <a:xfrm>
          <a:off x="4654903" y="588080"/>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A1D68B">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sk-SK" sz="2900" kern="1200" noProof="0" err="1">
              <a:solidFill>
                <a:sysClr val="windowText" lastClr="000000">
                  <a:hueOff val="0"/>
                  <a:satOff val="0"/>
                  <a:lumOff val="0"/>
                  <a:alphaOff val="0"/>
                </a:sysClr>
              </a:solidFill>
              <a:latin typeface="Arial" panose="020B0604020202020204"/>
              <a:ea typeface="+mn-ea"/>
              <a:cs typeface="+mn-cs"/>
            </a:rPr>
            <a:t>eTermín</a:t>
          </a:r>
          <a:endParaRPr lang="sk-SK" sz="2900" kern="1200" noProof="0">
            <a:solidFill>
              <a:sysClr val="windowText" lastClr="000000">
                <a:hueOff val="0"/>
                <a:satOff val="0"/>
                <a:lumOff val="0"/>
                <a:alphaOff val="0"/>
              </a:sysClr>
            </a:solidFill>
            <a:latin typeface="Arial" panose="020B0604020202020204"/>
            <a:ea typeface="+mn-ea"/>
            <a:cs typeface="+mn-cs"/>
          </a:endParaRPr>
        </a:p>
      </dsp:txBody>
      <dsp:txXfrm>
        <a:off x="4685140" y="618317"/>
        <a:ext cx="1565316" cy="971902"/>
      </dsp:txXfrm>
    </dsp:sp>
    <dsp:sp modelId="{877150CE-1506-4FF7-B0C8-E168C826700B}">
      <dsp:nvSpPr>
        <dsp:cNvPr id="0" name=""/>
        <dsp:cNvSpPr/>
      </dsp:nvSpPr>
      <dsp:spPr>
        <a:xfrm>
          <a:off x="1990413" y="1921679"/>
          <a:ext cx="1625790" cy="1032376"/>
        </a:xfrm>
        <a:prstGeom prst="roundRect">
          <a:avLst>
            <a:gd name="adj" fmla="val 10000"/>
          </a:avLst>
        </a:prstGeom>
        <a:solidFill>
          <a:srgbClr val="5EC795">
            <a:hueOff val="0"/>
            <a:satOff val="0"/>
            <a:lumOff val="0"/>
            <a:alphaOff val="0"/>
          </a:srgbClr>
        </a:solidFill>
        <a:ln w="22225" cap="flat"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sp>
    <dsp:sp modelId="{54E502FF-189E-4B43-8B4D-DE4009B0989C}">
      <dsp:nvSpPr>
        <dsp:cNvPr id="0" name=""/>
        <dsp:cNvSpPr/>
      </dsp:nvSpPr>
      <dsp:spPr>
        <a:xfrm>
          <a:off x="2171056" y="2093291"/>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sk-SK" sz="1500" kern="1200" noProof="0">
              <a:solidFill>
                <a:sysClr val="windowText" lastClr="000000">
                  <a:hueOff val="0"/>
                  <a:satOff val="0"/>
                  <a:lumOff val="0"/>
                  <a:alphaOff val="0"/>
                </a:sysClr>
              </a:solidFill>
              <a:latin typeface="Arial" panose="020B0604020202020204"/>
              <a:ea typeface="+mn-ea"/>
              <a:cs typeface="+mn-cs"/>
            </a:rPr>
            <a:t>Pacientsky portál</a:t>
          </a:r>
        </a:p>
      </dsp:txBody>
      <dsp:txXfrm>
        <a:off x="2201293" y="2123528"/>
        <a:ext cx="1565316" cy="971902"/>
      </dsp:txXfrm>
    </dsp:sp>
    <dsp:sp modelId="{FEE6B1F7-E40A-4652-866C-1B42912FDB91}">
      <dsp:nvSpPr>
        <dsp:cNvPr id="0" name=""/>
        <dsp:cNvSpPr/>
      </dsp:nvSpPr>
      <dsp:spPr>
        <a:xfrm>
          <a:off x="3336" y="3426890"/>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CA1F5F0D-301A-4634-B38E-1C023E293A28}">
      <dsp:nvSpPr>
        <dsp:cNvPr id="0" name=""/>
        <dsp:cNvSpPr/>
      </dsp:nvSpPr>
      <dsp:spPr>
        <a:xfrm>
          <a:off x="183979" y="3598502"/>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Vyhľadávanie lekára</a:t>
          </a:r>
        </a:p>
      </dsp:txBody>
      <dsp:txXfrm>
        <a:off x="214216" y="3628739"/>
        <a:ext cx="1565316" cy="971902"/>
      </dsp:txXfrm>
    </dsp:sp>
    <dsp:sp modelId="{C1D03790-1868-4C7E-847E-D14B1997074B}">
      <dsp:nvSpPr>
        <dsp:cNvPr id="0" name=""/>
        <dsp:cNvSpPr/>
      </dsp:nvSpPr>
      <dsp:spPr>
        <a:xfrm>
          <a:off x="1990413" y="3426890"/>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113D8BD1-9DCB-4CAF-93E1-326B489FD8AE}">
      <dsp:nvSpPr>
        <dsp:cNvPr id="0" name=""/>
        <dsp:cNvSpPr/>
      </dsp:nvSpPr>
      <dsp:spPr>
        <a:xfrm>
          <a:off x="2171056" y="3598502"/>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Prehľad termínov</a:t>
          </a:r>
        </a:p>
      </dsp:txBody>
      <dsp:txXfrm>
        <a:off x="2201293" y="3628739"/>
        <a:ext cx="1565316" cy="971902"/>
      </dsp:txXfrm>
    </dsp:sp>
    <dsp:sp modelId="{2ED9699D-EEF4-41FC-9FBD-9A0E91A436D9}">
      <dsp:nvSpPr>
        <dsp:cNvPr id="0" name=""/>
        <dsp:cNvSpPr/>
      </dsp:nvSpPr>
      <dsp:spPr>
        <a:xfrm>
          <a:off x="3977490" y="3426890"/>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D2D86782-E476-4315-9D90-01B9188D9A6A}">
      <dsp:nvSpPr>
        <dsp:cNvPr id="0" name=""/>
        <dsp:cNvSpPr/>
      </dsp:nvSpPr>
      <dsp:spPr>
        <a:xfrm>
          <a:off x="4158134" y="3598502"/>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Rezervácia</a:t>
          </a:r>
          <a:r>
            <a:rPr lang="sk-SK" sz="2100" kern="1200" noProof="0">
              <a:solidFill>
                <a:prstClr val="black">
                  <a:hueOff val="0"/>
                  <a:satOff val="0"/>
                  <a:lumOff val="0"/>
                  <a:alphaOff val="0"/>
                </a:prstClr>
              </a:solidFill>
              <a:latin typeface="Arial" panose="020B0604020202020204"/>
              <a:ea typeface="+mn-ea"/>
              <a:cs typeface="+mn-cs"/>
            </a:rPr>
            <a:t> </a:t>
          </a:r>
          <a:r>
            <a:rPr lang="sk-SK" sz="1700" kern="1200" noProof="0">
              <a:solidFill>
                <a:prstClr val="black">
                  <a:hueOff val="0"/>
                  <a:satOff val="0"/>
                  <a:lumOff val="0"/>
                  <a:alphaOff val="0"/>
                </a:prstClr>
              </a:solidFill>
              <a:latin typeface="Arial" panose="020B0604020202020204"/>
              <a:ea typeface="+mn-ea"/>
              <a:cs typeface="+mn-cs"/>
            </a:rPr>
            <a:t>návštevy</a:t>
          </a:r>
        </a:p>
      </dsp:txBody>
      <dsp:txXfrm>
        <a:off x="4188371" y="3628739"/>
        <a:ext cx="1565316" cy="971902"/>
      </dsp:txXfrm>
    </dsp:sp>
    <dsp:sp modelId="{62E72D48-D2F6-4274-9D8E-AC1B943AF0BC}">
      <dsp:nvSpPr>
        <dsp:cNvPr id="0" name=""/>
        <dsp:cNvSpPr/>
      </dsp:nvSpPr>
      <dsp:spPr>
        <a:xfrm>
          <a:off x="6958106" y="1921679"/>
          <a:ext cx="1625790" cy="1032376"/>
        </a:xfrm>
        <a:prstGeom prst="roundRect">
          <a:avLst>
            <a:gd name="adj" fmla="val 10000"/>
          </a:avLst>
        </a:prstGeom>
        <a:solidFill>
          <a:srgbClr val="4DADCF">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D682DDB7-0493-4D3B-BE9F-F3B77EC84507}">
      <dsp:nvSpPr>
        <dsp:cNvPr id="0" name=""/>
        <dsp:cNvSpPr/>
      </dsp:nvSpPr>
      <dsp:spPr>
        <a:xfrm>
          <a:off x="7138749" y="2093291"/>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4DADC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sk-SK" sz="1500" kern="1200" noProof="0">
              <a:solidFill>
                <a:prstClr val="black">
                  <a:hueOff val="0"/>
                  <a:satOff val="0"/>
                  <a:lumOff val="0"/>
                  <a:alphaOff val="0"/>
                </a:prstClr>
              </a:solidFill>
              <a:latin typeface="Arial" panose="020B0604020202020204"/>
              <a:ea typeface="+mn-ea"/>
              <a:cs typeface="+mn-cs"/>
            </a:rPr>
            <a:t>Administratívny portál</a:t>
          </a:r>
        </a:p>
      </dsp:txBody>
      <dsp:txXfrm>
        <a:off x="7168986" y="2123528"/>
        <a:ext cx="1565316" cy="971902"/>
      </dsp:txXfrm>
    </dsp:sp>
    <dsp:sp modelId="{A8CB4F81-FF69-4A0B-A27B-1946FB954873}">
      <dsp:nvSpPr>
        <dsp:cNvPr id="0" name=""/>
        <dsp:cNvSpPr/>
      </dsp:nvSpPr>
      <dsp:spPr>
        <a:xfrm>
          <a:off x="5964567" y="3426890"/>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sp>
    <dsp:sp modelId="{1DE0426A-7448-4AB8-8E25-565FFF7964D5}">
      <dsp:nvSpPr>
        <dsp:cNvPr id="0" name=""/>
        <dsp:cNvSpPr/>
      </dsp:nvSpPr>
      <dsp:spPr>
        <a:xfrm>
          <a:off x="6145211" y="3598502"/>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Správa</a:t>
          </a:r>
          <a:r>
            <a:rPr lang="sk-SK" sz="2200" kern="1200" noProof="0">
              <a:solidFill>
                <a:sysClr val="windowText" lastClr="000000">
                  <a:hueOff val="0"/>
                  <a:satOff val="0"/>
                  <a:lumOff val="0"/>
                  <a:alphaOff val="0"/>
                </a:sysClr>
              </a:solidFill>
              <a:latin typeface="Arial" panose="020B0604020202020204"/>
              <a:ea typeface="+mn-ea"/>
              <a:cs typeface="+mn-cs"/>
            </a:rPr>
            <a:t> </a:t>
          </a:r>
          <a:r>
            <a:rPr lang="sk-SK" sz="1700" kern="1200" noProof="0">
              <a:solidFill>
                <a:prstClr val="black">
                  <a:hueOff val="0"/>
                  <a:satOff val="0"/>
                  <a:lumOff val="0"/>
                  <a:alphaOff val="0"/>
                </a:prstClr>
              </a:solidFill>
              <a:latin typeface="Arial" panose="020B0604020202020204"/>
              <a:ea typeface="+mn-ea"/>
              <a:cs typeface="+mn-cs"/>
            </a:rPr>
            <a:t>kalendára</a:t>
          </a:r>
        </a:p>
      </dsp:txBody>
      <dsp:txXfrm>
        <a:off x="6175448" y="3628739"/>
        <a:ext cx="1565316" cy="971902"/>
      </dsp:txXfrm>
    </dsp:sp>
    <dsp:sp modelId="{2FC3F9B4-A260-4EAD-9451-1A57ADE6FB08}">
      <dsp:nvSpPr>
        <dsp:cNvPr id="0" name=""/>
        <dsp:cNvSpPr/>
      </dsp:nvSpPr>
      <dsp:spPr>
        <a:xfrm>
          <a:off x="7951644" y="3426890"/>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sp>
    <dsp:sp modelId="{338D459D-7F9E-4A63-AE8E-6B3ED42F6687}">
      <dsp:nvSpPr>
        <dsp:cNvPr id="0" name=""/>
        <dsp:cNvSpPr/>
      </dsp:nvSpPr>
      <dsp:spPr>
        <a:xfrm>
          <a:off x="8132288" y="3598502"/>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noProof="0">
              <a:solidFill>
                <a:prstClr val="black">
                  <a:hueOff val="0"/>
                  <a:satOff val="0"/>
                  <a:lumOff val="0"/>
                  <a:alphaOff val="0"/>
                </a:prstClr>
              </a:solidFill>
              <a:latin typeface="Arial" panose="020B0604020202020204"/>
              <a:ea typeface="+mn-ea"/>
              <a:cs typeface="+mn-cs"/>
            </a:rPr>
            <a:t>Správa</a:t>
          </a:r>
          <a:r>
            <a:rPr lang="sk-SK" sz="2200" kern="1200" noProof="0">
              <a:solidFill>
                <a:sysClr val="windowText" lastClr="000000">
                  <a:hueOff val="0"/>
                  <a:satOff val="0"/>
                  <a:lumOff val="0"/>
                  <a:alphaOff val="0"/>
                </a:sysClr>
              </a:solidFill>
              <a:latin typeface="Arial" panose="020B0604020202020204"/>
              <a:ea typeface="+mn-ea"/>
              <a:cs typeface="+mn-cs"/>
            </a:rPr>
            <a:t> </a:t>
          </a:r>
          <a:r>
            <a:rPr lang="sk-SK" sz="1700" kern="1200" noProof="0">
              <a:solidFill>
                <a:prstClr val="black">
                  <a:hueOff val="0"/>
                  <a:satOff val="0"/>
                  <a:lumOff val="0"/>
                  <a:alphaOff val="0"/>
                </a:prstClr>
              </a:solidFill>
              <a:latin typeface="Arial" panose="020B0604020202020204"/>
              <a:ea typeface="+mn-ea"/>
              <a:cs typeface="+mn-cs"/>
            </a:rPr>
            <a:t>záznamov</a:t>
          </a:r>
        </a:p>
      </dsp:txBody>
      <dsp:txXfrm>
        <a:off x="8162525" y="3628739"/>
        <a:ext cx="1565316" cy="9719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D93F9-2FAE-4317-8508-8C34E94D399D}" type="datetimeFigureOut">
              <a:rPr lang="sk-SK" smtClean="0"/>
              <a:t>2. 5. 2026</a:t>
            </a:fld>
            <a:endParaRPr lang="sk-SK"/>
          </a:p>
        </p:txBody>
      </p:sp>
      <p:sp>
        <p:nvSpPr>
          <p:cNvPr id="4" name="Zástupný objekt pre obrázok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4D178-9940-4229-B9AB-D1ABBAB2CB88}" type="slidenum">
              <a:rPr lang="sk-SK" smtClean="0"/>
              <a:t>‹#›</a:t>
            </a:fld>
            <a:endParaRPr lang="sk-SK"/>
          </a:p>
        </p:txBody>
      </p:sp>
    </p:spTree>
    <p:extLst>
      <p:ext uri="{BB962C8B-B14F-4D97-AF65-F5344CB8AC3E}">
        <p14:creationId xmlns:p14="http://schemas.microsoft.com/office/powerpoint/2010/main" val="787789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á snímka">
    <p:spTree>
      <p:nvGrpSpPr>
        <p:cNvPr id="1" name=""/>
        <p:cNvGrpSpPr/>
        <p:nvPr/>
      </p:nvGrpSpPr>
      <p:grpSpPr>
        <a:xfrm>
          <a:off x="0" y="0"/>
          <a:ext cx="0" cy="0"/>
          <a:chOff x="0" y="0"/>
          <a:chExt cx="0" cy="0"/>
        </a:xfrm>
      </p:grpSpPr>
      <p:sp>
        <p:nvSpPr>
          <p:cNvPr id="7" name="Rectangle 6"/>
          <p:cNvSpPr/>
          <p:nvPr/>
        </p:nvSpPr>
        <p:spPr>
          <a:xfrm>
            <a:off x="-56707" y="6400800"/>
            <a:ext cx="1224870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userDrawn="1"/>
        </p:nvSpPr>
        <p:spPr>
          <a:xfrm>
            <a:off x="15" y="6334316"/>
            <a:ext cx="1219198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sk-SK"/>
              <a:t>Kliknutím upravte štýl predlohy nadpisu</a:t>
            </a:r>
            <a:endParaRPr lang="en-US"/>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sk-SK"/>
              <a:t>Kliknutím upravte štýl predlohy podnadpisu</a:t>
            </a:r>
            <a:endParaRPr lang="en-US"/>
          </a:p>
        </p:txBody>
      </p:sp>
      <p:sp>
        <p:nvSpPr>
          <p:cNvPr id="4" name="Date Placeholder 3"/>
          <p:cNvSpPr>
            <a:spLocks noGrp="1"/>
          </p:cNvSpPr>
          <p:nvPr>
            <p:ph type="dt" sz="half" idx="10"/>
          </p:nvPr>
        </p:nvSpPr>
        <p:spPr/>
        <p:txBody>
          <a:bodyPr/>
          <a:lstStyle/>
          <a:p>
            <a:fld id="{5586B75A-687E-405C-8A0B-8D00578BA2C3}"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6">
            <a:extLst>
              <a:ext uri="{FF2B5EF4-FFF2-40B4-BE49-F238E27FC236}">
                <a16:creationId xmlns:a16="http://schemas.microsoft.com/office/drawing/2014/main" id="{B557B41B-3F4A-458C-6282-6D94CEE66D36}"/>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1" name="Rectangle 7">
            <a:extLst>
              <a:ext uri="{FF2B5EF4-FFF2-40B4-BE49-F238E27FC236}">
                <a16:creationId xmlns:a16="http://schemas.microsoft.com/office/drawing/2014/main" id="{608104C2-16AC-D39D-59FE-EA56610AEC27}"/>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38264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Date Placeholder 3"/>
          <p:cNvSpPr>
            <a:spLocks noGrp="1"/>
          </p:cNvSpPr>
          <p:nvPr>
            <p:ph type="dt" sz="half" idx="10"/>
          </p:nvPr>
        </p:nvSpPr>
        <p:spPr/>
        <p:txBody>
          <a:bodyPr/>
          <a:lstStyle/>
          <a:p>
            <a:fld id="{5586B75A-687E-405C-8A0B-8D00578BA2C3}"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3235338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Hlavička sekcie">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sk-SK"/>
              <a:t>Kliknutím upravte štýl predlohy nadpisu</a:t>
            </a:r>
            <a:endParaRPr lang="en-US"/>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Kliknite sem a upravte štýly predlohy textu</a:t>
            </a:r>
          </a:p>
        </p:txBody>
      </p:sp>
      <p:sp>
        <p:nvSpPr>
          <p:cNvPr id="4" name="Date Placeholder 3"/>
          <p:cNvSpPr>
            <a:spLocks noGrp="1"/>
          </p:cNvSpPr>
          <p:nvPr>
            <p:ph type="dt" sz="half" idx="10"/>
          </p:nvPr>
        </p:nvSpPr>
        <p:spPr/>
        <p:txBody>
          <a:bodyPr/>
          <a:lstStyle/>
          <a:p>
            <a:fld id="{5586B75A-687E-405C-8A0B-8D00578BA2C3}"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075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sk-SK"/>
              <a:t>Kliknutím upravte štýl predlohy nadpisu</a:t>
            </a:r>
            <a:endParaRPr lang="en-US"/>
          </a:p>
        </p:txBody>
      </p:sp>
      <p:sp>
        <p:nvSpPr>
          <p:cNvPr id="3" name="Content Placeholder 2"/>
          <p:cNvSpPr>
            <a:spLocks noGrp="1"/>
          </p:cNvSpPr>
          <p:nvPr>
            <p:ph sz="half" idx="1"/>
          </p:nvPr>
        </p:nvSpPr>
        <p:spPr>
          <a:xfrm>
            <a:off x="1097278" y="1845734"/>
            <a:ext cx="4937760" cy="402336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Content Placeholder 3"/>
          <p:cNvSpPr>
            <a:spLocks noGrp="1"/>
          </p:cNvSpPr>
          <p:nvPr>
            <p:ph sz="half" idx="2"/>
          </p:nvPr>
        </p:nvSpPr>
        <p:spPr>
          <a:xfrm>
            <a:off x="6217920" y="1845735"/>
            <a:ext cx="4937760" cy="402336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5" name="Date Placeholder 4"/>
          <p:cNvSpPr>
            <a:spLocks noGrp="1"/>
          </p:cNvSpPr>
          <p:nvPr>
            <p:ph type="dt" sz="half" idx="10"/>
          </p:nvPr>
        </p:nvSpPr>
        <p:spPr/>
        <p:txBody>
          <a:bodyPr/>
          <a:lstStyle/>
          <a:p>
            <a:fld id="{5586B75A-687E-405C-8A0B-8D00578BA2C3}"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930321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sk-SK"/>
              <a:t>Kliknutím upravte štýl predlohy nadpisu</a:t>
            </a:r>
            <a:endParaRPr lang="en-US"/>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Content Placeholder 3"/>
          <p:cNvSpPr>
            <a:spLocks noGrp="1"/>
          </p:cNvSpPr>
          <p:nvPr>
            <p:ph sz="half" idx="2"/>
          </p:nvPr>
        </p:nvSpPr>
        <p:spPr>
          <a:xfrm>
            <a:off x="1097280" y="2582334"/>
            <a:ext cx="4937760" cy="33782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Content Placeholder 5"/>
          <p:cNvSpPr>
            <a:spLocks noGrp="1"/>
          </p:cNvSpPr>
          <p:nvPr>
            <p:ph sz="quarter" idx="4"/>
          </p:nvPr>
        </p:nvSpPr>
        <p:spPr>
          <a:xfrm>
            <a:off x="6217920" y="2582334"/>
            <a:ext cx="4937760" cy="33782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7" name="Date Placeholder 6"/>
          <p:cNvSpPr>
            <a:spLocks noGrp="1"/>
          </p:cNvSpPr>
          <p:nvPr>
            <p:ph type="dt" sz="half" idx="10"/>
          </p:nvPr>
        </p:nvSpPr>
        <p:spPr/>
        <p:txBody>
          <a:bodyPr/>
          <a:lstStyle/>
          <a:p>
            <a:fld id="{5586B75A-687E-405C-8A0B-8D00578BA2C3}"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2028680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a:p>
        </p:txBody>
      </p:sp>
      <p:sp>
        <p:nvSpPr>
          <p:cNvPr id="3" name="Date Placeholder 2"/>
          <p:cNvSpPr>
            <a:spLocks noGrp="1"/>
          </p:cNvSpPr>
          <p:nvPr>
            <p:ph type="dt" sz="half" idx="10"/>
          </p:nvPr>
        </p:nvSpPr>
        <p:spPr/>
        <p:txBody>
          <a:bodyPr/>
          <a:lstStyle/>
          <a:p>
            <a:fld id="{5586B75A-687E-405C-8A0B-8D00578BA2C3}"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63085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rázdna">
    <p:spTree>
      <p:nvGrpSpPr>
        <p:cNvPr id="1" name=""/>
        <p:cNvGrpSpPr/>
        <p:nvPr/>
      </p:nvGrpSpPr>
      <p:grpSpPr>
        <a:xfrm>
          <a:off x="0" y="0"/>
          <a:ext cx="0" cy="0"/>
          <a:chOff x="0" y="0"/>
          <a:chExt cx="0" cy="0"/>
        </a:xfrm>
      </p:grpSpPr>
      <p:sp>
        <p:nvSpPr>
          <p:cNvPr id="5" name="Rectangle 4"/>
          <p:cNvSpPr/>
          <p:nvPr/>
        </p:nvSpPr>
        <p:spPr>
          <a:xfrm>
            <a:off x="-11097" y="6400800"/>
            <a:ext cx="1220309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6" name="Rectangle 5"/>
          <p:cNvSpPr/>
          <p:nvPr/>
        </p:nvSpPr>
        <p:spPr>
          <a:xfrm>
            <a:off x="15" y="6334316"/>
            <a:ext cx="1220309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7" name="Date Placeholder 6"/>
          <p:cNvSpPr>
            <a:spLocks noGrp="1"/>
          </p:cNvSpPr>
          <p:nvPr>
            <p:ph type="dt" sz="half" idx="10"/>
          </p:nvPr>
        </p:nvSpPr>
        <p:spPr/>
        <p:txBody>
          <a:bodyPr/>
          <a:lstStyle/>
          <a:p>
            <a:fld id="{5586B75A-687E-405C-8A0B-8D00578BA2C3}" type="datetimeFigureOut">
              <a:rPr lang="en-US" smtClean="0"/>
              <a:pPr/>
              <a:t>5/2/2026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
        <p:nvSpPr>
          <p:cNvPr id="2" name="Rectangle 7">
            <a:extLst>
              <a:ext uri="{FF2B5EF4-FFF2-40B4-BE49-F238E27FC236}">
                <a16:creationId xmlns:a16="http://schemas.microsoft.com/office/drawing/2014/main" id="{1873172D-ECC8-2CA4-A467-DE5523E412B6}"/>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3" name="Rectangle 6">
            <a:extLst>
              <a:ext uri="{FF2B5EF4-FFF2-40B4-BE49-F238E27FC236}">
                <a16:creationId xmlns:a16="http://schemas.microsoft.com/office/drawing/2014/main" id="{3B05AC86-44A6-D1A7-20BA-AF3CB1D48D5C}"/>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242693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Obsah s popisom">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sk-SK"/>
              <a:t>Kliknutím upravte štýl predlohy nadpisu</a:t>
            </a:r>
            <a:endParaRPr lang="en-US"/>
          </a:p>
        </p:txBody>
      </p:sp>
      <p:sp>
        <p:nvSpPr>
          <p:cNvPr id="3" name="Content Placeholder 2"/>
          <p:cNvSpPr>
            <a:spLocks noGrp="1"/>
          </p:cNvSpPr>
          <p:nvPr>
            <p:ph idx="1"/>
          </p:nvPr>
        </p:nvSpPr>
        <p:spPr>
          <a:xfrm>
            <a:off x="4800600" y="731520"/>
            <a:ext cx="6492240" cy="52578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Kliknite sem a upravte štýly predlohy textu</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86B75A-687E-405C-8A0B-8D00578BA2C3}" type="datetimeFigureOut">
              <a:rPr lang="en-US" smtClean="0"/>
              <a:pPr/>
              <a:t>5/2/2026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238179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ázok s popiso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sk-SK"/>
              <a:t>Kliknutím upravte štýl predlohy nadpisu</a:t>
            </a:r>
            <a:endParaRPr lang="en-US"/>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k-SK"/>
              <a:t>Kliknutím na ikonu pridáte obrázok</a:t>
            </a:r>
            <a:endParaRPr lang="en-US"/>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Kliknite sem a upravte štýly predlohy textu</a:t>
            </a:r>
          </a:p>
        </p:txBody>
      </p:sp>
      <p:sp>
        <p:nvSpPr>
          <p:cNvPr id="5" name="Date Placeholder 4"/>
          <p:cNvSpPr>
            <a:spLocks noGrp="1"/>
          </p:cNvSpPr>
          <p:nvPr>
            <p:ph type="dt" sz="half" idx="10"/>
          </p:nvPr>
        </p:nvSpPr>
        <p:spPr/>
        <p:txBody>
          <a:bodyPr/>
          <a:lstStyle/>
          <a:p>
            <a:fld id="{5586B75A-687E-405C-8A0B-8D00578BA2C3}"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683996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a:p>
        </p:txBody>
      </p:sp>
      <p:sp>
        <p:nvSpPr>
          <p:cNvPr id="3" name="Vertical Text Placeholder 2"/>
          <p:cNvSpPr>
            <a:spLocks noGrp="1"/>
          </p:cNvSpPr>
          <p:nvPr>
            <p:ph type="body" orient="vert" idx="1"/>
          </p:nvPr>
        </p:nvSpPr>
        <p:spPr/>
        <p:txBody>
          <a:bodyPr vert="eaVert" lIns="45720" tIns="0" rIns="45720" bIns="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Date Placeholder 3"/>
          <p:cNvSpPr>
            <a:spLocks noGrp="1"/>
          </p:cNvSpPr>
          <p:nvPr>
            <p:ph type="dt" sz="half" idx="10"/>
          </p:nvPr>
        </p:nvSpPr>
        <p:spPr/>
        <p:txBody>
          <a:bodyPr/>
          <a:lstStyle/>
          <a:p>
            <a:fld id="{5586B75A-687E-405C-8A0B-8D00578BA2C3}"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4270936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Zvislý nadpis a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Vertical Title 1"/>
          <p:cNvSpPr>
            <a:spLocks noGrp="1"/>
          </p:cNvSpPr>
          <p:nvPr>
            <p:ph type="title" orient="vert"/>
          </p:nvPr>
        </p:nvSpPr>
        <p:spPr>
          <a:xfrm>
            <a:off x="8724900" y="412302"/>
            <a:ext cx="2628900" cy="5759898"/>
          </a:xfrm>
        </p:spPr>
        <p:txBody>
          <a:bodyPr vert="eaVert"/>
          <a:lstStyle/>
          <a:p>
            <a:r>
              <a:rPr lang="sk-SK"/>
              <a:t>Kliknutím upravte štýl predlohy nadpisu</a:t>
            </a:r>
            <a:endParaRPr lang="en-US"/>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Date Placeholder 3"/>
          <p:cNvSpPr>
            <a:spLocks noGrp="1"/>
          </p:cNvSpPr>
          <p:nvPr>
            <p:ph type="dt" sz="half" idx="10"/>
          </p:nvPr>
        </p:nvSpPr>
        <p:spPr/>
        <p:txBody>
          <a:bodyPr/>
          <a:lstStyle/>
          <a:p>
            <a:fld id="{5586B75A-687E-405C-8A0B-8D00578BA2C3}"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245360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sk-SK"/>
              <a:t>Kliknutím upravte štýl predlohy nadpisu</a:t>
            </a:r>
            <a:endParaRPr lang="en-US"/>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86B75A-687E-405C-8A0B-8D00578BA2C3}" type="datetimeFigureOut">
              <a:rPr lang="en-US" smtClean="0"/>
              <a:pPr/>
              <a:t>5/2/2026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6">
            <a:extLst>
              <a:ext uri="{FF2B5EF4-FFF2-40B4-BE49-F238E27FC236}">
                <a16:creationId xmlns:a16="http://schemas.microsoft.com/office/drawing/2014/main" id="{46CB1EA5-435B-B93D-1AB5-27774F31673B}"/>
              </a:ext>
            </a:extLst>
          </p:cNvPr>
          <p:cNvSpPr/>
          <p:nvPr userDrawn="1"/>
        </p:nvSpPr>
        <p:spPr>
          <a:xfrm>
            <a:off x="-12701" y="6400799"/>
            <a:ext cx="12217401" cy="473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4" name="Rectangle 7">
            <a:extLst>
              <a:ext uri="{FF2B5EF4-FFF2-40B4-BE49-F238E27FC236}">
                <a16:creationId xmlns:a16="http://schemas.microsoft.com/office/drawing/2014/main" id="{FA60BC72-0426-9A61-9A42-6E59696A30DD}"/>
              </a:ext>
            </a:extLst>
          </p:cNvPr>
          <p:cNvSpPr/>
          <p:nvPr userDrawn="1"/>
        </p:nvSpPr>
        <p:spPr>
          <a:xfrm>
            <a:off x="-15861" y="6334316"/>
            <a:ext cx="122174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5" name="Rectangle 6">
            <a:extLst>
              <a:ext uri="{FF2B5EF4-FFF2-40B4-BE49-F238E27FC236}">
                <a16:creationId xmlns:a16="http://schemas.microsoft.com/office/drawing/2014/main" id="{1ADF2AC7-7C88-F5CE-6ED0-1DF84C7F971B}"/>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6" name="Rectangle 7">
            <a:extLst>
              <a:ext uri="{FF2B5EF4-FFF2-40B4-BE49-F238E27FC236}">
                <a16:creationId xmlns:a16="http://schemas.microsoft.com/office/drawing/2014/main" id="{048880D3-048D-0FE3-98F0-F3459BB2C80F}"/>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2347341422"/>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05_71B2703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google.com/url?q=https%3A%2F%2Fwww.jmir.org%2F2017%2F4%2Fe134%2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2C_392D76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56F3-AAD0-DB98-7298-D73AE7C52AF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98A812A-F36D-0392-F69F-562400875D80}"/>
              </a:ext>
            </a:extLst>
          </p:cNvPr>
          <p:cNvSpPr>
            <a:spLocks noGrp="1"/>
          </p:cNvSpPr>
          <p:nvPr>
            <p:ph type="ctrTitle"/>
          </p:nvPr>
        </p:nvSpPr>
        <p:spPr>
          <a:xfrm>
            <a:off x="1097280" y="758952"/>
            <a:ext cx="10001163" cy="3566160"/>
          </a:xfrm>
        </p:spPr>
        <p:txBody>
          <a:bodyPr/>
          <a:lstStyle/>
          <a:p>
            <a:pPr algn="ctr"/>
            <a:r>
              <a:rPr lang="sk-SK" b="1" noProof="0" err="1">
                <a:solidFill>
                  <a:srgbClr val="193175"/>
                </a:solidFill>
                <a:latin typeface=""/>
              </a:rPr>
              <a:t>eTermín</a:t>
            </a:r>
            <a:r>
              <a:rPr lang="sk-SK" b="1" noProof="0">
                <a:solidFill>
                  <a:schemeClr val="tx1"/>
                </a:solidFill>
              </a:rPr>
              <a:t> </a:t>
            </a:r>
            <a:br>
              <a:rPr lang="sk-SK" b="1" noProof="0"/>
            </a:br>
            <a:r>
              <a:rPr lang="sk-SK" b="1" noProof="0">
                <a:solidFill>
                  <a:schemeClr val="tx1"/>
                </a:solidFill>
              </a:rPr>
              <a:t>Digitálne zdravotníctvo</a:t>
            </a:r>
          </a:p>
        </p:txBody>
      </p:sp>
      <p:sp>
        <p:nvSpPr>
          <p:cNvPr id="3" name="Podnadpis 2">
            <a:extLst>
              <a:ext uri="{FF2B5EF4-FFF2-40B4-BE49-F238E27FC236}">
                <a16:creationId xmlns:a16="http://schemas.microsoft.com/office/drawing/2014/main" id="{5BB0B2C1-4024-341C-7D25-E0DD260C5621}"/>
              </a:ext>
            </a:extLst>
          </p:cNvPr>
          <p:cNvSpPr>
            <a:spLocks noGrp="1"/>
          </p:cNvSpPr>
          <p:nvPr>
            <p:ph type="subTitle" idx="1"/>
          </p:nvPr>
        </p:nvSpPr>
        <p:spPr>
          <a:xfrm>
            <a:off x="229181" y="5416598"/>
            <a:ext cx="12103091" cy="879500"/>
          </a:xfrm>
        </p:spPr>
        <p:txBody>
          <a:bodyPr>
            <a:noAutofit/>
          </a:bodyPr>
          <a:lstStyle/>
          <a:p>
            <a:r>
              <a:rPr lang="sk-SK" b="1" noProof="0">
                <a:solidFill>
                  <a:schemeClr val="tx1"/>
                </a:solidFill>
                <a:latin typeface="+mn-lt"/>
              </a:rPr>
              <a:t>Terminátori:</a:t>
            </a:r>
          </a:p>
          <a:p>
            <a:r>
              <a:rPr lang="sk-SK" noProof="0">
                <a:solidFill>
                  <a:schemeClr val="tx1"/>
                </a:solidFill>
                <a:latin typeface="+mn-lt"/>
              </a:rPr>
              <a:t>Damián </a:t>
            </a:r>
            <a:r>
              <a:rPr lang="sk-SK" noProof="0" err="1">
                <a:solidFill>
                  <a:schemeClr val="tx1"/>
                </a:solidFill>
                <a:latin typeface="+mn-lt"/>
              </a:rPr>
              <a:t>Kaszycki</a:t>
            </a:r>
            <a:r>
              <a:rPr lang="sk-SK" noProof="0">
                <a:solidFill>
                  <a:schemeClr val="tx1"/>
                </a:solidFill>
                <a:latin typeface="+mn-lt"/>
              </a:rPr>
              <a:t>, Richard </a:t>
            </a:r>
            <a:r>
              <a:rPr lang="sk-SK" noProof="0" err="1">
                <a:solidFill>
                  <a:schemeClr val="tx1"/>
                </a:solidFill>
                <a:latin typeface="+mn-lt"/>
              </a:rPr>
              <a:t>Rúš</a:t>
            </a:r>
            <a:r>
              <a:rPr lang="sk-SK" noProof="0">
                <a:solidFill>
                  <a:schemeClr val="tx1"/>
                </a:solidFill>
                <a:latin typeface="+mn-lt"/>
              </a:rPr>
              <a:t>, Ľudmila </a:t>
            </a:r>
            <a:r>
              <a:rPr lang="sk-SK" noProof="0" err="1">
                <a:solidFill>
                  <a:schemeClr val="tx1"/>
                </a:solidFill>
                <a:latin typeface="+mn-lt"/>
              </a:rPr>
              <a:t>Koperdáková</a:t>
            </a:r>
            <a:r>
              <a:rPr lang="sk-SK" noProof="0">
                <a:solidFill>
                  <a:schemeClr val="tx1"/>
                </a:solidFill>
                <a:latin typeface="+mn-lt"/>
              </a:rPr>
              <a:t>, Samuel Budinský </a:t>
            </a:r>
          </a:p>
          <a:p>
            <a:endParaRPr lang="sk-SK" noProof="0"/>
          </a:p>
        </p:txBody>
      </p:sp>
    </p:spTree>
    <p:extLst>
      <p:ext uri="{BB962C8B-B14F-4D97-AF65-F5344CB8AC3E}">
        <p14:creationId xmlns:p14="http://schemas.microsoft.com/office/powerpoint/2010/main" val="80225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40D9D8D-F26D-1BDD-D0DF-9D76BDF7E753}"/>
              </a:ext>
            </a:extLst>
          </p:cNvPr>
          <p:cNvSpPr>
            <a:spLocks noGrp="1"/>
          </p:cNvSpPr>
          <p:nvPr>
            <p:ph type="title" idx="4294967295"/>
          </p:nvPr>
        </p:nvSpPr>
        <p:spPr>
          <a:xfrm>
            <a:off x="1097279" y="286603"/>
            <a:ext cx="10489773" cy="1450757"/>
          </a:xfrm>
        </p:spPr>
        <p:txBody>
          <a:bodyPr>
            <a:normAutofit/>
          </a:bodyPr>
          <a:lstStyle/>
          <a:p>
            <a:r>
              <a:rPr lang="sk-SK" sz="6000" b="1" noProof="0">
                <a:solidFill>
                  <a:schemeClr val="tx1"/>
                </a:solidFill>
              </a:rPr>
              <a:t>Aktuálna situácia v zdravotníctve</a:t>
            </a:r>
          </a:p>
        </p:txBody>
      </p:sp>
      <p:pic>
        <p:nvPicPr>
          <p:cNvPr id="5" name="Obrázok 4">
            <a:extLst>
              <a:ext uri="{FF2B5EF4-FFF2-40B4-BE49-F238E27FC236}">
                <a16:creationId xmlns:a16="http://schemas.microsoft.com/office/drawing/2014/main" id="{1D0A37A6-48BF-2215-0530-C587B43DB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275947"/>
            <a:ext cx="4738476" cy="3162933"/>
          </a:xfrm>
          <a:prstGeom prst="rect">
            <a:avLst/>
          </a:prstGeom>
          <a:ln>
            <a:noFill/>
          </a:ln>
          <a:effectLst/>
        </p:spPr>
      </p:pic>
      <p:sp>
        <p:nvSpPr>
          <p:cNvPr id="17" name="Zástupný objekt pre obsah 16">
            <a:extLst>
              <a:ext uri="{FF2B5EF4-FFF2-40B4-BE49-F238E27FC236}">
                <a16:creationId xmlns:a16="http://schemas.microsoft.com/office/drawing/2014/main" id="{7DAED9A4-5CBB-3C75-B12C-82629578A669}"/>
              </a:ext>
            </a:extLst>
          </p:cNvPr>
          <p:cNvSpPr>
            <a:spLocks noGrp="1"/>
          </p:cNvSpPr>
          <p:nvPr>
            <p:ph idx="1"/>
          </p:nvPr>
        </p:nvSpPr>
        <p:spPr>
          <a:xfrm>
            <a:off x="1097280" y="1845734"/>
            <a:ext cx="4998720" cy="4023360"/>
          </a:xfrm>
        </p:spPr>
        <p:txBody>
          <a:bodyPr vert="horz" lIns="0" tIns="45720" rIns="0" bIns="45720" rtlCol="0" anchor="ctr">
            <a:normAutofit/>
          </a:bodyPr>
          <a:lstStyle/>
          <a:p>
            <a:pPr>
              <a:buFont typeface="Wingdings" panose="05000000000000000000" pitchFamily="2" charset="2"/>
              <a:buChar char="Ø"/>
            </a:pPr>
            <a:r>
              <a:rPr lang="sk-SK" sz="2800">
                <a:solidFill>
                  <a:schemeClr val="tx1"/>
                </a:solidFill>
              </a:rPr>
              <a:t>Nejednotné</a:t>
            </a:r>
            <a:endParaRPr lang="en-US" sz="2800">
              <a:solidFill>
                <a:schemeClr val="tx1"/>
              </a:solidFill>
            </a:endParaRPr>
          </a:p>
          <a:p>
            <a:pPr>
              <a:buFont typeface="Wingdings" panose="05000000000000000000" pitchFamily="2" charset="2"/>
              <a:buChar char="Ø"/>
            </a:pPr>
            <a:r>
              <a:rPr lang="sk-SK" sz="2800">
                <a:solidFill>
                  <a:schemeClr val="tx1"/>
                </a:solidFill>
              </a:rPr>
              <a:t>Časovo náročné</a:t>
            </a:r>
            <a:endParaRPr lang="en-US" sz="2800">
              <a:solidFill>
                <a:schemeClr val="tx1"/>
              </a:solidFill>
            </a:endParaRPr>
          </a:p>
          <a:p>
            <a:pPr>
              <a:buFont typeface="Wingdings" panose="05000000000000000000" pitchFamily="2" charset="2"/>
              <a:buChar char="Ø"/>
            </a:pPr>
            <a:r>
              <a:rPr lang="sk-SK" sz="2800">
                <a:solidFill>
                  <a:schemeClr val="tx1"/>
                </a:solidFill>
              </a:rPr>
              <a:t>Zastaralé</a:t>
            </a:r>
            <a:endParaRPr lang="en-US" sz="2800">
              <a:solidFill>
                <a:schemeClr val="tx1"/>
              </a:solidFill>
            </a:endParaRPr>
          </a:p>
          <a:p>
            <a:pPr>
              <a:buFont typeface="Wingdings" panose="05000000000000000000" pitchFamily="2" charset="2"/>
              <a:buChar char="Ø"/>
            </a:pPr>
            <a:r>
              <a:rPr lang="sk-SK" sz="2800">
                <a:solidFill>
                  <a:schemeClr val="tx1"/>
                </a:solidFill>
              </a:rPr>
              <a:t>Preťažené</a:t>
            </a:r>
            <a:endParaRPr lang="en-US" sz="2800">
              <a:solidFill>
                <a:schemeClr val="tx1"/>
              </a:solidFill>
            </a:endParaRPr>
          </a:p>
        </p:txBody>
      </p:sp>
    </p:spTree>
    <p:extLst>
      <p:ext uri="{BB962C8B-B14F-4D97-AF65-F5344CB8AC3E}">
        <p14:creationId xmlns:p14="http://schemas.microsoft.com/office/powerpoint/2010/main" val="308847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4CF5-29B0-F0D1-D621-07EA85779AF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A32788A-0820-431F-3AA0-B370BF0DA226}"/>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Čo je </a:t>
            </a:r>
            <a:r>
              <a:rPr lang="sk-SK" sz="6000" b="1" noProof="0" err="1">
                <a:solidFill>
                  <a:schemeClr val="tx1"/>
                </a:solidFill>
              </a:rPr>
              <a:t>eTermín</a:t>
            </a:r>
            <a:r>
              <a:rPr lang="sk-SK" sz="6000" b="1" noProof="0">
                <a:solidFill>
                  <a:schemeClr val="tx1"/>
                </a:solidFill>
              </a:rPr>
              <a:t>?</a:t>
            </a:r>
          </a:p>
        </p:txBody>
      </p:sp>
      <p:pic>
        <p:nvPicPr>
          <p:cNvPr id="5" name="Picture 2">
            <a:extLst>
              <a:ext uri="{FF2B5EF4-FFF2-40B4-BE49-F238E27FC236}">
                <a16:creationId xmlns:a16="http://schemas.microsoft.com/office/drawing/2014/main" id="{53507D59-4877-9302-5975-DE48F636E4E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04767" y="1737360"/>
            <a:ext cx="4250913" cy="4250913"/>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6" name="Zástupný objekt pre obsah 5">
            <a:extLst>
              <a:ext uri="{FF2B5EF4-FFF2-40B4-BE49-F238E27FC236}">
                <a16:creationId xmlns:a16="http://schemas.microsoft.com/office/drawing/2014/main" id="{4124CB6E-FFAE-4E37-77B5-15AC39615582}"/>
              </a:ext>
            </a:extLst>
          </p:cNvPr>
          <p:cNvSpPr>
            <a:spLocks noGrp="1"/>
          </p:cNvSpPr>
          <p:nvPr>
            <p:ph idx="1"/>
          </p:nvPr>
        </p:nvSpPr>
        <p:spPr/>
        <p:txBody>
          <a:bodyPr vert="horz" lIns="0" tIns="45720" rIns="0" bIns="45720" rtlCol="0" anchor="ctr">
            <a:normAutofit/>
          </a:bodyPr>
          <a:lstStyle/>
          <a:p>
            <a:pPr>
              <a:buFont typeface="Wingdings" panose="05000000000000000000" pitchFamily="2" charset="2"/>
              <a:buChar char="Ø"/>
            </a:pPr>
            <a:r>
              <a:rPr lang="sk-SK" sz="2800">
                <a:solidFill>
                  <a:schemeClr val="tx1"/>
                </a:solidFill>
              </a:rPr>
              <a:t>Webová a mobilná aplikácia</a:t>
            </a:r>
            <a:endParaRPr lang="en-US" sz="2800">
              <a:solidFill>
                <a:schemeClr val="tx1"/>
              </a:solidFill>
            </a:endParaRPr>
          </a:p>
          <a:p>
            <a:pPr>
              <a:buFont typeface="Wingdings" panose="05000000000000000000" pitchFamily="2" charset="2"/>
              <a:buChar char="Ø"/>
            </a:pPr>
            <a:r>
              <a:rPr lang="sk-SK" sz="2800">
                <a:solidFill>
                  <a:schemeClr val="tx1"/>
                </a:solidFill>
              </a:rPr>
              <a:t>Digitalizuje proces</a:t>
            </a:r>
            <a:endParaRPr lang="en-US" sz="2800">
              <a:solidFill>
                <a:schemeClr val="tx1"/>
              </a:solidFill>
            </a:endParaRPr>
          </a:p>
          <a:p>
            <a:pPr>
              <a:buFont typeface="Wingdings" panose="05000000000000000000" pitchFamily="2" charset="2"/>
              <a:buChar char="Ø"/>
            </a:pPr>
            <a:r>
              <a:rPr lang="sk-SK" sz="2800">
                <a:solidFill>
                  <a:schemeClr val="tx1"/>
                </a:solidFill>
              </a:rPr>
              <a:t>Prepája pacientov a lekárov </a:t>
            </a:r>
            <a:endParaRPr lang="en-US" sz="2800">
              <a:solidFill>
                <a:schemeClr val="tx1"/>
              </a:solidFill>
            </a:endParaRPr>
          </a:p>
          <a:p>
            <a:pPr>
              <a:buFont typeface="Wingdings" panose="05000000000000000000" pitchFamily="2" charset="2"/>
              <a:buChar char="Ø"/>
            </a:pPr>
            <a:endParaRPr lang="sk-SK" sz="2800">
              <a:solidFill>
                <a:schemeClr val="tx1"/>
              </a:solidFill>
            </a:endParaRPr>
          </a:p>
        </p:txBody>
      </p:sp>
    </p:spTree>
    <p:extLst>
      <p:ext uri="{BB962C8B-B14F-4D97-AF65-F5344CB8AC3E}">
        <p14:creationId xmlns:p14="http://schemas.microsoft.com/office/powerpoint/2010/main" val="2390364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4B5B7-4FD2-9106-1DF7-3E8DC7AA4925}"/>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2B9A1AB-4565-CFED-37B2-4B12AC02893B}"/>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Architektúra systému</a:t>
            </a:r>
          </a:p>
        </p:txBody>
      </p:sp>
      <p:graphicFrame>
        <p:nvGraphicFramePr>
          <p:cNvPr id="4" name="Zástupný objekt pre obsah 2">
            <a:extLst>
              <a:ext uri="{FF2B5EF4-FFF2-40B4-BE49-F238E27FC236}">
                <a16:creationId xmlns:a16="http://schemas.microsoft.com/office/drawing/2014/main" id="{969A6252-D68E-A09B-A58E-6C6A42D21056}"/>
              </a:ext>
            </a:extLst>
          </p:cNvPr>
          <p:cNvGraphicFramePr>
            <a:graphicFrameLocks/>
          </p:cNvGraphicFramePr>
          <p:nvPr>
            <p:extLst>
              <p:ext uri="{D42A27DB-BD31-4B8C-83A1-F6EECF244321}">
                <p14:modId xmlns:p14="http://schemas.microsoft.com/office/powerpoint/2010/main" val="927255431"/>
              </p:ext>
            </p:extLst>
          </p:nvPr>
        </p:nvGraphicFramePr>
        <p:xfrm>
          <a:off x="1245772" y="1524049"/>
          <a:ext cx="9761415" cy="50473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0580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6FAD8-EF3D-5988-2B65-D38ACBBE8B9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E998529-4CA2-7478-D0AD-AEB1FA2FA1F1}"/>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Výsledok projektu</a:t>
            </a:r>
          </a:p>
        </p:txBody>
      </p:sp>
      <p:pic>
        <p:nvPicPr>
          <p:cNvPr id="4" name="Obrázok 3">
            <a:extLst>
              <a:ext uri="{FF2B5EF4-FFF2-40B4-BE49-F238E27FC236}">
                <a16:creationId xmlns:a16="http://schemas.microsoft.com/office/drawing/2014/main" id="{CFA209F1-018F-0C87-CDCF-B5F98C6835D8}"/>
              </a:ext>
            </a:extLst>
          </p:cNvPr>
          <p:cNvPicPr>
            <a:picLocks noChangeAspect="1"/>
          </p:cNvPicPr>
          <p:nvPr/>
        </p:nvPicPr>
        <p:blipFill>
          <a:blip r:embed="rId2">
            <a:extLst>
              <a:ext uri="{28A0092B-C50C-407E-A947-70E740481C1C}">
                <a14:useLocalDpi xmlns:a14="http://schemas.microsoft.com/office/drawing/2010/main" val="0"/>
              </a:ext>
            </a:extLst>
          </a:blip>
          <a:srcRect r="4650" b="2"/>
          <a:stretch>
            <a:fillRect/>
          </a:stretch>
        </p:blipFill>
        <p:spPr>
          <a:xfrm>
            <a:off x="5899916" y="1909103"/>
            <a:ext cx="5255764" cy="3679238"/>
          </a:xfrm>
          <a:prstGeom prst="rect">
            <a:avLst/>
          </a:prstGeom>
          <a:ln>
            <a:noFill/>
          </a:ln>
          <a:effectLst/>
        </p:spPr>
      </p:pic>
      <p:sp>
        <p:nvSpPr>
          <p:cNvPr id="12" name="Zástupný objekt pre obsah 11">
            <a:extLst>
              <a:ext uri="{FF2B5EF4-FFF2-40B4-BE49-F238E27FC236}">
                <a16:creationId xmlns:a16="http://schemas.microsoft.com/office/drawing/2014/main" id="{F6D63B2E-FE5E-C18B-12D6-1564142D04FE}"/>
              </a:ext>
            </a:extLst>
          </p:cNvPr>
          <p:cNvSpPr>
            <a:spLocks noGrp="1"/>
          </p:cNvSpPr>
          <p:nvPr>
            <p:ph idx="1"/>
          </p:nvPr>
        </p:nvSpPr>
        <p:spPr/>
        <p:txBody>
          <a:bodyPr vert="horz" lIns="0" tIns="45720" rIns="0" bIns="45720" rtlCol="0" anchor="ctr">
            <a:normAutofit/>
          </a:bodyPr>
          <a:lstStyle/>
          <a:p>
            <a:pPr>
              <a:buFont typeface="Wingdings" panose="05000000000000000000" pitchFamily="2" charset="2"/>
              <a:buChar char="Ø"/>
            </a:pPr>
            <a:r>
              <a:rPr lang="sk-SK" sz="2800">
                <a:solidFill>
                  <a:schemeClr val="tx1"/>
                </a:solidFill>
              </a:rPr>
              <a:t>Intuitívna </a:t>
            </a:r>
            <a:endParaRPr lang="en-US" sz="2800">
              <a:solidFill>
                <a:schemeClr val="tx1"/>
              </a:solidFill>
            </a:endParaRPr>
          </a:p>
          <a:p>
            <a:pPr>
              <a:buFont typeface="Wingdings" panose="05000000000000000000" pitchFamily="2" charset="2"/>
              <a:buChar char="Ø"/>
            </a:pPr>
            <a:r>
              <a:rPr lang="sk-SK" sz="2800">
                <a:solidFill>
                  <a:schemeClr val="tx1"/>
                </a:solidFill>
              </a:rPr>
              <a:t>Bezpečná</a:t>
            </a:r>
            <a:endParaRPr lang="en-US" sz="2800">
              <a:solidFill>
                <a:schemeClr val="tx1"/>
              </a:solidFill>
            </a:endParaRPr>
          </a:p>
          <a:p>
            <a:pPr>
              <a:buFont typeface="Wingdings" panose="05000000000000000000" pitchFamily="2" charset="2"/>
              <a:buChar char="Ø"/>
            </a:pPr>
            <a:r>
              <a:rPr lang="sk-SK" sz="2800">
                <a:solidFill>
                  <a:schemeClr val="tx1"/>
                </a:solidFill>
              </a:rPr>
              <a:t>Praktická</a:t>
            </a:r>
            <a:endParaRPr lang="en-US" sz="2800">
              <a:solidFill>
                <a:schemeClr val="tx1"/>
              </a:solidFill>
            </a:endParaRPr>
          </a:p>
          <a:p>
            <a:pPr>
              <a:buFont typeface="Wingdings" panose="05000000000000000000" pitchFamily="2" charset="2"/>
              <a:buChar char="Ø"/>
            </a:pPr>
            <a:r>
              <a:rPr lang="sk-SK" sz="2800">
                <a:solidFill>
                  <a:schemeClr val="tx1"/>
                </a:solidFill>
              </a:rPr>
              <a:t>Efektívna</a:t>
            </a:r>
            <a:endParaRPr lang="en-US" sz="2800">
              <a:solidFill>
                <a:schemeClr val="tx1"/>
              </a:solidFill>
            </a:endParaRPr>
          </a:p>
          <a:p>
            <a:pPr>
              <a:buFont typeface="Wingdings" panose="05000000000000000000" pitchFamily="2" charset="2"/>
              <a:buChar char="Ø"/>
            </a:pPr>
            <a:endParaRPr lang="sk-SK" sz="2800">
              <a:solidFill>
                <a:schemeClr val="tx1"/>
              </a:solidFill>
            </a:endParaRPr>
          </a:p>
        </p:txBody>
      </p:sp>
    </p:spTree>
    <p:extLst>
      <p:ext uri="{BB962C8B-B14F-4D97-AF65-F5344CB8AC3E}">
        <p14:creationId xmlns:p14="http://schemas.microsoft.com/office/powerpoint/2010/main" val="3504257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D05A-04DA-8583-99AE-E95273511881}"/>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8F73BC4-A09F-C931-AD89-72990384A89F}"/>
              </a:ext>
            </a:extLst>
          </p:cNvPr>
          <p:cNvSpPr>
            <a:spLocks noGrp="1"/>
          </p:cNvSpPr>
          <p:nvPr>
            <p:ph type="ctrTitle"/>
          </p:nvPr>
        </p:nvSpPr>
        <p:spPr>
          <a:xfrm>
            <a:off x="1097280" y="2169321"/>
            <a:ext cx="11284531" cy="2163193"/>
          </a:xfrm>
        </p:spPr>
        <p:txBody>
          <a:bodyPr>
            <a:noAutofit/>
          </a:bodyPr>
          <a:lstStyle/>
          <a:p>
            <a:br>
              <a:rPr lang="sk-SK" sz="8800" b="1" noProof="0"/>
            </a:br>
            <a:r>
              <a:rPr lang="sk-SK" sz="8800" b="1" noProof="0">
                <a:solidFill>
                  <a:schemeClr val="tx1"/>
                </a:solidFill>
              </a:rPr>
              <a:t>Užívateľské požiadavky</a:t>
            </a:r>
            <a:endParaRPr lang="sk-SK" sz="8800" b="1" noProof="0">
              <a:solidFill>
                <a:schemeClr val="tx1"/>
              </a:solidFill>
              <a:ea typeface="Calibri Light"/>
              <a:cs typeface="Calibri Light"/>
            </a:endParaRPr>
          </a:p>
        </p:txBody>
      </p:sp>
      <p:sp>
        <p:nvSpPr>
          <p:cNvPr id="7" name="Podnadpis 6">
            <a:extLst>
              <a:ext uri="{FF2B5EF4-FFF2-40B4-BE49-F238E27FC236}">
                <a16:creationId xmlns:a16="http://schemas.microsoft.com/office/drawing/2014/main" id="{F36D0372-8E80-31D4-552C-6A89F6535BF9}"/>
              </a:ext>
            </a:extLst>
          </p:cNvPr>
          <p:cNvSpPr>
            <a:spLocks noGrp="1"/>
          </p:cNvSpPr>
          <p:nvPr>
            <p:ph type="subTitle" idx="1"/>
          </p:nvPr>
        </p:nvSpPr>
        <p:spPr/>
        <p:txBody>
          <a:bodyPr/>
          <a:lstStyle/>
          <a:p>
            <a:endParaRPr lang="sk-SK" noProof="0"/>
          </a:p>
        </p:txBody>
      </p:sp>
    </p:spTree>
    <p:extLst>
      <p:ext uri="{BB962C8B-B14F-4D97-AF65-F5344CB8AC3E}">
        <p14:creationId xmlns:p14="http://schemas.microsoft.com/office/powerpoint/2010/main" val="646203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DB2F-6A80-F5D7-9932-947F3A510DF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9405A1D-89AF-CD02-8AD0-2A4F5F46AFB1}"/>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Požiadavky pacienta</a:t>
            </a:r>
          </a:p>
        </p:txBody>
      </p:sp>
      <p:pic>
        <p:nvPicPr>
          <p:cNvPr id="5" name="Picture 2">
            <a:extLst>
              <a:ext uri="{FF2B5EF4-FFF2-40B4-BE49-F238E27FC236}">
                <a16:creationId xmlns:a16="http://schemas.microsoft.com/office/drawing/2014/main" id="{ACA25F91-4CB3-FFBF-DDA5-04F74ABFEC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752" b="2"/>
          <a:stretch>
            <a:fillRect/>
          </a:stretch>
        </p:blipFill>
        <p:spPr bwMode="auto">
          <a:xfrm>
            <a:off x="6446294" y="1821898"/>
            <a:ext cx="4709386" cy="395478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Zástupný objekt pre obsah 6">
            <a:extLst>
              <a:ext uri="{FF2B5EF4-FFF2-40B4-BE49-F238E27FC236}">
                <a16:creationId xmlns:a16="http://schemas.microsoft.com/office/drawing/2014/main" id="{BD95A1EF-D8FE-B127-B8D1-7625956EE736}"/>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Používateľský účet</a:t>
            </a:r>
          </a:p>
          <a:p>
            <a:r>
              <a:rPr lang="sk-SK"/>
              <a:t>Recenzie lekárov</a:t>
            </a:r>
          </a:p>
          <a:p>
            <a:r>
              <a:rPr lang="sk-SK"/>
              <a:t>Vyhľadávanie lekárov</a:t>
            </a:r>
          </a:p>
          <a:p>
            <a:r>
              <a:rPr lang="sk-SK"/>
              <a:t>Rezervovanie termínu</a:t>
            </a:r>
          </a:p>
          <a:p>
            <a:r>
              <a:rPr lang="sk-SK"/>
              <a:t>Notifikácie o termínoch</a:t>
            </a:r>
          </a:p>
          <a:p>
            <a:r>
              <a:rPr lang="sk-SK"/>
              <a:t>História návštev</a:t>
            </a:r>
          </a:p>
        </p:txBody>
      </p:sp>
    </p:spTree>
    <p:extLst>
      <p:ext uri="{BB962C8B-B14F-4D97-AF65-F5344CB8AC3E}">
        <p14:creationId xmlns:p14="http://schemas.microsoft.com/office/powerpoint/2010/main" val="4524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227C-DC56-DF42-FCA2-DDD20883B3D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050948A-43E3-9260-7D7C-8C390028F822}"/>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Požiadavky lekára</a:t>
            </a:r>
          </a:p>
        </p:txBody>
      </p:sp>
      <p:sp>
        <p:nvSpPr>
          <p:cNvPr id="3" name="Zástupný objekt pre obsah 6">
            <a:extLst>
              <a:ext uri="{FF2B5EF4-FFF2-40B4-BE49-F238E27FC236}">
                <a16:creationId xmlns:a16="http://schemas.microsoft.com/office/drawing/2014/main" id="{998D2EB9-3AE4-C747-02A0-737B6685C998}"/>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Lekársky účet</a:t>
            </a:r>
          </a:p>
          <a:p>
            <a:r>
              <a:rPr lang="sk-SK"/>
              <a:t>Správa kalendára</a:t>
            </a:r>
          </a:p>
          <a:p>
            <a:r>
              <a:rPr lang="sk-SK"/>
              <a:t>Správa termínov</a:t>
            </a:r>
          </a:p>
          <a:p>
            <a:r>
              <a:rPr lang="sk-SK"/>
              <a:t>Evidencia stavu návštevy</a:t>
            </a:r>
          </a:p>
        </p:txBody>
      </p:sp>
      <p:pic>
        <p:nvPicPr>
          <p:cNvPr id="9" name="Picture 2" descr="Obrázok, na ktorom je osoba, ošatenie, chlap, vnútri&#10;&#10;Automaticky generovaný popis">
            <a:extLst>
              <a:ext uri="{FF2B5EF4-FFF2-40B4-BE49-F238E27FC236}">
                <a16:creationId xmlns:a16="http://schemas.microsoft.com/office/drawing/2014/main" id="{AC129797-76D0-0DF2-A812-47247A9CB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035" r="1" b="36911"/>
          <a:stretch>
            <a:fillRect/>
          </a:stretch>
        </p:blipFill>
        <p:spPr bwMode="auto">
          <a:xfrm>
            <a:off x="6446292" y="1821897"/>
            <a:ext cx="4709387" cy="3954789"/>
          </a:xfrm>
          <a:prstGeom prst="rect">
            <a:avLst/>
          </a:prstGeom>
          <a:solidFill>
            <a:srgbClr val="FFFFFF"/>
          </a:solidFill>
        </p:spPr>
      </p:pic>
    </p:spTree>
    <p:extLst>
      <p:ext uri="{BB962C8B-B14F-4D97-AF65-F5344CB8AC3E}">
        <p14:creationId xmlns:p14="http://schemas.microsoft.com/office/powerpoint/2010/main" val="2928004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3D85-9620-7FD2-95E0-4E900867495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CD33964-579B-6BAD-229E-191F98881983}"/>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Požiadavky administrátora</a:t>
            </a:r>
          </a:p>
        </p:txBody>
      </p:sp>
      <p:pic>
        <p:nvPicPr>
          <p:cNvPr id="8" name="Picture 2">
            <a:extLst>
              <a:ext uri="{FF2B5EF4-FFF2-40B4-BE49-F238E27FC236}">
                <a16:creationId xmlns:a16="http://schemas.microsoft.com/office/drawing/2014/main" id="{75ACB1F6-458C-3962-1830-62B7B1E4E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522" t="1" r="11610" b="-2"/>
          <a:stretch>
            <a:fillRect/>
          </a:stretch>
        </p:blipFill>
        <p:spPr bwMode="auto">
          <a:xfrm>
            <a:off x="6629306" y="1821897"/>
            <a:ext cx="4526374" cy="4035589"/>
          </a:xfrm>
          <a:prstGeom prst="rect">
            <a:avLst/>
          </a:prstGeom>
          <a:solidFill>
            <a:srgbClr val="FFFFFF"/>
          </a:solidFill>
        </p:spPr>
      </p:pic>
      <p:sp>
        <p:nvSpPr>
          <p:cNvPr id="3" name="Zástupný objekt pre obsah 6">
            <a:extLst>
              <a:ext uri="{FF2B5EF4-FFF2-40B4-BE49-F238E27FC236}">
                <a16:creationId xmlns:a16="http://schemas.microsoft.com/office/drawing/2014/main" id="{831D1464-34D5-E189-8F7C-1CA1693F0B75}"/>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Správa používateľských účtov</a:t>
            </a:r>
          </a:p>
          <a:p>
            <a:r>
              <a:rPr lang="sk-SK"/>
              <a:t>Správa lekárov a pracovísk</a:t>
            </a:r>
          </a:p>
          <a:p>
            <a:r>
              <a:rPr lang="sk-SK"/>
              <a:t>Správa prístupových práv</a:t>
            </a:r>
          </a:p>
          <a:p>
            <a:r>
              <a:rPr lang="sk-SK"/>
              <a:t>Evidencia auditných záznamov</a:t>
            </a:r>
          </a:p>
        </p:txBody>
      </p:sp>
    </p:spTree>
    <p:extLst>
      <p:ext uri="{BB962C8B-B14F-4D97-AF65-F5344CB8AC3E}">
        <p14:creationId xmlns:p14="http://schemas.microsoft.com/office/powerpoint/2010/main" val="189071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1E766-4591-D290-30EE-573B6F5E441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4ACC662-73A9-1D7C-C03E-1B9D09F143BD}"/>
              </a:ext>
            </a:extLst>
          </p:cNvPr>
          <p:cNvSpPr>
            <a:spLocks noGrp="1"/>
          </p:cNvSpPr>
          <p:nvPr>
            <p:ph type="title" idx="4294967295"/>
          </p:nvPr>
        </p:nvSpPr>
        <p:spPr>
          <a:xfrm>
            <a:off x="1097280" y="286603"/>
            <a:ext cx="10058400" cy="1450757"/>
          </a:xfrm>
        </p:spPr>
        <p:txBody>
          <a:bodyPr>
            <a:normAutofit/>
          </a:bodyPr>
          <a:lstStyle/>
          <a:p>
            <a:r>
              <a:rPr lang="sk-SK" sz="5400" b="1">
                <a:solidFill>
                  <a:schemeClr val="tx1"/>
                </a:solidFill>
                <a:ea typeface="+mj-lt"/>
                <a:cs typeface="+mj-lt"/>
              </a:rPr>
              <a:t>Prevádzkové </a:t>
            </a:r>
            <a:r>
              <a:rPr lang="sk-SK" sz="5400" b="1" dirty="0">
                <a:solidFill>
                  <a:schemeClr val="tx1"/>
                </a:solidFill>
                <a:ea typeface="+mj-lt"/>
                <a:cs typeface="+mj-lt"/>
              </a:rPr>
              <a:t>požiadavky</a:t>
            </a:r>
          </a:p>
        </p:txBody>
      </p:sp>
      <p:sp>
        <p:nvSpPr>
          <p:cNvPr id="3" name="Zástupný objekt pre obsah 6">
            <a:extLst>
              <a:ext uri="{FF2B5EF4-FFF2-40B4-BE49-F238E27FC236}">
                <a16:creationId xmlns:a16="http://schemas.microsoft.com/office/drawing/2014/main" id="{39AB2A1F-0AB3-164C-1047-4477610CEE2A}"/>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Ochrana osobných údajov</a:t>
            </a:r>
          </a:p>
          <a:p>
            <a:r>
              <a:rPr lang="sk-SK"/>
              <a:t>Šifrovanie dát</a:t>
            </a:r>
          </a:p>
          <a:p>
            <a:r>
              <a:rPr lang="sk-SK"/>
              <a:t>Autentifikácia a autorizácia používateľov</a:t>
            </a:r>
          </a:p>
          <a:p>
            <a:r>
              <a:rPr lang="sk-SK"/>
              <a:t>Škálovateľnosť systému</a:t>
            </a:r>
          </a:p>
          <a:p>
            <a:r>
              <a:rPr lang="sk-SK"/>
              <a:t>Zálohovanie dát</a:t>
            </a:r>
          </a:p>
        </p:txBody>
      </p:sp>
    </p:spTree>
    <p:extLst>
      <p:ext uri="{BB962C8B-B14F-4D97-AF65-F5344CB8AC3E}">
        <p14:creationId xmlns:p14="http://schemas.microsoft.com/office/powerpoint/2010/main" val="46545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766707" y="904628"/>
            <a:ext cx="10498737" cy="3449658"/>
          </a:xfrm>
        </p:spPr>
        <p:txBody>
          <a:bodyPr/>
          <a:lstStyle/>
          <a:p>
            <a:pPr algn="ctr"/>
            <a:br>
              <a:rPr lang="sk-SK" b="1" noProof="0"/>
            </a:br>
            <a:r>
              <a:rPr lang="sk-SK" sz="8800" b="1" noProof="0">
                <a:solidFill>
                  <a:schemeClr val="tx1"/>
                </a:solidFill>
              </a:rPr>
              <a:t>SWOT analýza</a:t>
            </a:r>
            <a:endParaRPr lang="sk-SK"/>
          </a:p>
        </p:txBody>
      </p:sp>
      <p:sp>
        <p:nvSpPr>
          <p:cNvPr id="6" name="Podnadpis 5">
            <a:extLst>
              <a:ext uri="{FF2B5EF4-FFF2-40B4-BE49-F238E27FC236}">
                <a16:creationId xmlns:a16="http://schemas.microsoft.com/office/drawing/2014/main" id="{191D88E3-15A0-0BD8-A6A6-23219D95784F}"/>
              </a:ext>
            </a:extLst>
          </p:cNvPr>
          <p:cNvSpPr>
            <a:spLocks noGrp="1"/>
          </p:cNvSpPr>
          <p:nvPr>
            <p:ph type="subTitle" idx="1"/>
          </p:nvPr>
        </p:nvSpPr>
        <p:spPr/>
        <p:txBody>
          <a:bodyPr/>
          <a:lstStyle/>
          <a:p>
            <a:endParaRPr lang="sk-SK" noProof="0"/>
          </a:p>
        </p:txBody>
      </p:sp>
    </p:spTree>
    <p:extLst>
      <p:ext uri="{BB962C8B-B14F-4D97-AF65-F5344CB8AC3E}">
        <p14:creationId xmlns:p14="http://schemas.microsoft.com/office/powerpoint/2010/main" val="1460099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6D3A-8C02-0DC6-ED3C-C4335BFB523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9446DB9-B276-E96A-1E29-CE99863C4175}"/>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SWOT analýza </a:t>
            </a:r>
            <a:r>
              <a:rPr lang="sk-SK" sz="6000" b="1" noProof="0" err="1">
                <a:solidFill>
                  <a:schemeClr val="tx1"/>
                </a:solidFill>
              </a:rPr>
              <a:t>eTermín</a:t>
            </a:r>
            <a:endParaRPr lang="sk-SK" sz="6000" b="1" noProof="0">
              <a:solidFill>
                <a:schemeClr val="tx1"/>
              </a:solidFill>
            </a:endParaRPr>
          </a:p>
        </p:txBody>
      </p:sp>
      <p:graphicFrame>
        <p:nvGraphicFramePr>
          <p:cNvPr id="3" name="Zástupný objekt pre obsah 2">
            <a:extLst>
              <a:ext uri="{FF2B5EF4-FFF2-40B4-BE49-F238E27FC236}">
                <a16:creationId xmlns:a16="http://schemas.microsoft.com/office/drawing/2014/main" id="{4343A543-7AEC-A157-82BB-F5D06F89BCE3}"/>
              </a:ext>
            </a:extLst>
          </p:cNvPr>
          <p:cNvGraphicFramePr>
            <a:graphicFrameLocks noGrp="1"/>
          </p:cNvGraphicFramePr>
          <p:nvPr>
            <p:ph idx="1"/>
            <p:extLst>
              <p:ext uri="{D42A27DB-BD31-4B8C-83A1-F6EECF244321}">
                <p14:modId xmlns:p14="http://schemas.microsoft.com/office/powerpoint/2010/main" val="3862141308"/>
              </p:ext>
            </p:extLst>
          </p:nvPr>
        </p:nvGraphicFramePr>
        <p:xfrm>
          <a:off x="1097280" y="1737360"/>
          <a:ext cx="10058399" cy="4305167"/>
        </p:xfrm>
        <a:graphic>
          <a:graphicData uri="http://schemas.openxmlformats.org/drawingml/2006/table">
            <a:tbl>
              <a:tblPr firstRow="1" firstCol="1" bandRow="1"/>
              <a:tblGrid>
                <a:gridCol w="4479506">
                  <a:extLst>
                    <a:ext uri="{9D8B030D-6E8A-4147-A177-3AD203B41FA5}">
                      <a16:colId xmlns:a16="http://schemas.microsoft.com/office/drawing/2014/main" val="4149151797"/>
                    </a:ext>
                  </a:extLst>
                </a:gridCol>
                <a:gridCol w="2133203">
                  <a:extLst>
                    <a:ext uri="{9D8B030D-6E8A-4147-A177-3AD203B41FA5}">
                      <a16:colId xmlns:a16="http://schemas.microsoft.com/office/drawing/2014/main" val="4229518840"/>
                    </a:ext>
                  </a:extLst>
                </a:gridCol>
                <a:gridCol w="1463298">
                  <a:extLst>
                    <a:ext uri="{9D8B030D-6E8A-4147-A177-3AD203B41FA5}">
                      <a16:colId xmlns:a16="http://schemas.microsoft.com/office/drawing/2014/main" val="3603529056"/>
                    </a:ext>
                  </a:extLst>
                </a:gridCol>
                <a:gridCol w="1982392">
                  <a:extLst>
                    <a:ext uri="{9D8B030D-6E8A-4147-A177-3AD203B41FA5}">
                      <a16:colId xmlns:a16="http://schemas.microsoft.com/office/drawing/2014/main" val="100551115"/>
                    </a:ext>
                  </a:extLst>
                </a:gridCol>
              </a:tblGrid>
              <a:tr h="520575">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Silné Stránky</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extLst>
                  <a:ext uri="{0D108BD9-81ED-4DB2-BD59-A6C34878D82A}">
                    <a16:rowId xmlns:a16="http://schemas.microsoft.com/office/drawing/2014/main" val="3982027976"/>
                  </a:ext>
                </a:extLst>
              </a:tr>
              <a:tr h="459407">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Digitalizácia a zefektívnenie procesov</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1,0</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2363918187"/>
                  </a:ext>
                </a:extLst>
              </a:tr>
              <a:tr h="856011">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Vysoká bezpečnosť a ochrana dát (GDPR)</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1,5</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2047722684"/>
                  </a:ext>
                </a:extLst>
              </a:tr>
              <a:tr h="617705">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Intuitívne UI pre všetky vekové kategórie</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0,8</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370173860"/>
                  </a:ext>
                </a:extLst>
              </a:tr>
              <a:tr h="846547">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Škálovateľnosť pri raste počtu používateľov</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1140840037"/>
                  </a:ext>
                </a:extLst>
              </a:tr>
              <a:tr h="735567">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Automatické notifikácie (email, SMS, </a:t>
                      </a:r>
                      <a:r>
                        <a:rPr lang="sk-SK" sz="1600" kern="0" noProof="0" err="1">
                          <a:solidFill>
                            <a:srgbClr val="000000"/>
                          </a:solidFill>
                          <a:effectLst/>
                          <a:latin typeface="+mn-lt"/>
                          <a:ea typeface="Times New Roman" panose="02020603050405020304" pitchFamily="18" charset="0"/>
                          <a:cs typeface="Times New Roman" panose="02020603050405020304" pitchFamily="18" charset="0"/>
                        </a:rPr>
                        <a:t>push</a:t>
                      </a:r>
                      <a:r>
                        <a:rPr lang="sk-SK" sz="1600" kern="0" noProof="0">
                          <a:solidFill>
                            <a:srgbClr val="000000"/>
                          </a:solidFill>
                          <a:effectLst/>
                          <a:latin typeface="+mn-lt"/>
                          <a:ea typeface="Times New Roman" panose="02020603050405020304" pitchFamily="18" charset="0"/>
                          <a:cs typeface="Times New Roman" panose="02020603050405020304" pitchFamily="18" charset="0"/>
                        </a:rPr>
                        <a:t>)</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0,8</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60008871"/>
                  </a:ext>
                </a:extLst>
              </a:tr>
              <a:tr h="269355">
                <a:tc gridSpan="3">
                  <a:txBody>
                    <a:bodyPr/>
                    <a:lstStyle/>
                    <a:p>
                      <a:pPr algn="ctr">
                        <a:lnSpc>
                          <a:spcPct val="107000"/>
                        </a:lnSpc>
                        <a:spcAft>
                          <a:spcPts val="800"/>
                        </a:spcAft>
                        <a:buNone/>
                      </a:pPr>
                      <a:r>
                        <a:rPr lang="sk-SK" sz="1600" b="1" kern="0" noProof="0">
                          <a:solidFill>
                            <a:srgbClr val="000000"/>
                          </a:solidFill>
                          <a:effectLst/>
                          <a:latin typeface="+mn-lt"/>
                          <a:ea typeface="Times New Roman" panose="02020603050405020304" pitchFamily="18" charset="0"/>
                          <a:cs typeface="Times New Roman" panose="02020603050405020304" pitchFamily="18" charset="0"/>
                        </a:rPr>
                        <a:t>KHS</a:t>
                      </a:r>
                      <a:r>
                        <a:rPr lang="sk-SK" sz="1600" kern="0" noProof="0">
                          <a:solidFill>
                            <a:srgbClr val="000000"/>
                          </a:solidFill>
                          <a:effectLst/>
                          <a:latin typeface="+mn-lt"/>
                          <a:ea typeface="Times New Roman" panose="02020603050405020304" pitchFamily="18" charset="0"/>
                          <a:cs typeface="Times New Roman" panose="02020603050405020304" pitchFamily="18" charset="0"/>
                        </a:rPr>
                        <a:t> </a:t>
                      </a: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1,0 + 1,5 + 0,8 + 0,3 + 0,8 =</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4,4</a:t>
                      </a:r>
                      <a:endParaRPr lang="sk-SK" sz="1400" u="sng"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947646564"/>
                  </a:ext>
                </a:extLst>
              </a:tr>
            </a:tbl>
          </a:graphicData>
        </a:graphic>
      </p:graphicFrame>
    </p:spTree>
    <p:extLst>
      <p:ext uri="{BB962C8B-B14F-4D97-AF65-F5344CB8AC3E}">
        <p14:creationId xmlns:p14="http://schemas.microsoft.com/office/powerpoint/2010/main" val="981378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C0CE7-9A09-2FEE-FF6E-64C19767BD7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8006BB0-1B6C-CF97-40D7-F482D387C1B4}"/>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SWOT analýza </a:t>
            </a:r>
            <a:r>
              <a:rPr lang="sk-SK" sz="6000" b="1" noProof="0" err="1">
                <a:solidFill>
                  <a:schemeClr val="tx1"/>
                </a:solidFill>
              </a:rPr>
              <a:t>eTermín</a:t>
            </a:r>
            <a:endParaRPr lang="sk-SK" sz="6000" b="1" noProof="0">
              <a:solidFill>
                <a:schemeClr val="tx1"/>
              </a:solidFill>
            </a:endParaRPr>
          </a:p>
        </p:txBody>
      </p:sp>
      <p:graphicFrame>
        <p:nvGraphicFramePr>
          <p:cNvPr id="7" name="Zástupný objekt pre obsah 6">
            <a:extLst>
              <a:ext uri="{FF2B5EF4-FFF2-40B4-BE49-F238E27FC236}">
                <a16:creationId xmlns:a16="http://schemas.microsoft.com/office/drawing/2014/main" id="{63C59155-0B5F-860B-C352-C183D9C2EE06}"/>
              </a:ext>
            </a:extLst>
          </p:cNvPr>
          <p:cNvGraphicFramePr>
            <a:graphicFrameLocks noGrp="1"/>
          </p:cNvGraphicFramePr>
          <p:nvPr>
            <p:ph idx="1"/>
            <p:extLst>
              <p:ext uri="{D42A27DB-BD31-4B8C-83A1-F6EECF244321}">
                <p14:modId xmlns:p14="http://schemas.microsoft.com/office/powerpoint/2010/main" val="662925813"/>
              </p:ext>
            </p:extLst>
          </p:nvPr>
        </p:nvGraphicFramePr>
        <p:xfrm>
          <a:off x="1097280" y="1737345"/>
          <a:ext cx="10058398" cy="4304680"/>
        </p:xfrm>
        <a:graphic>
          <a:graphicData uri="http://schemas.openxmlformats.org/drawingml/2006/table">
            <a:tbl>
              <a:tblPr firstRow="1" firstCol="1" bandRow="1"/>
              <a:tblGrid>
                <a:gridCol w="4479505">
                  <a:extLst>
                    <a:ext uri="{9D8B030D-6E8A-4147-A177-3AD203B41FA5}">
                      <a16:colId xmlns:a16="http://schemas.microsoft.com/office/drawing/2014/main" val="806842589"/>
                    </a:ext>
                  </a:extLst>
                </a:gridCol>
                <a:gridCol w="2133203">
                  <a:extLst>
                    <a:ext uri="{9D8B030D-6E8A-4147-A177-3AD203B41FA5}">
                      <a16:colId xmlns:a16="http://schemas.microsoft.com/office/drawing/2014/main" val="3428503352"/>
                    </a:ext>
                  </a:extLst>
                </a:gridCol>
                <a:gridCol w="1463298">
                  <a:extLst>
                    <a:ext uri="{9D8B030D-6E8A-4147-A177-3AD203B41FA5}">
                      <a16:colId xmlns:a16="http://schemas.microsoft.com/office/drawing/2014/main" val="1289329062"/>
                    </a:ext>
                  </a:extLst>
                </a:gridCol>
                <a:gridCol w="1982392">
                  <a:extLst>
                    <a:ext uri="{9D8B030D-6E8A-4147-A177-3AD203B41FA5}">
                      <a16:colId xmlns:a16="http://schemas.microsoft.com/office/drawing/2014/main" val="391565064"/>
                    </a:ext>
                  </a:extLst>
                </a:gridCol>
              </a:tblGrid>
              <a:tr h="516066">
                <a:tc>
                  <a:txBody>
                    <a:bodyPr/>
                    <a:lstStyle/>
                    <a:p>
                      <a:pPr algn="ctr">
                        <a:lnSpc>
                          <a:spcPct val="107000"/>
                        </a:lnSpc>
                        <a:spcAft>
                          <a:spcPts val="800"/>
                        </a:spcAft>
                        <a:buNone/>
                      </a:pPr>
                      <a:r>
                        <a:rPr lang="sk-SK" sz="1800" b="1" kern="0" noProof="0">
                          <a:solidFill>
                            <a:schemeClr val="bg1"/>
                          </a:solidFill>
                          <a:effectLst/>
                          <a:latin typeface="+mn-lt"/>
                          <a:ea typeface="Times New Roman" panose="02020603050405020304" pitchFamily="18" charset="0"/>
                          <a:cs typeface="Times New Roman"/>
                        </a:rPr>
                        <a:t>Slabé Stránky</a:t>
                      </a:r>
                      <a:endParaRPr lang="sk-SK" sz="1600" kern="100" noProof="0">
                        <a:solidFill>
                          <a:schemeClr val="bg1"/>
                        </a:solidFill>
                        <a:effectLst/>
                        <a:latin typeface="+mn-lt"/>
                        <a:ea typeface="Aptos" panose="020B0004020202020204" pitchFamily="34" charset="0"/>
                        <a:cs typeface="Times New Roman"/>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tc>
                  <a:txBody>
                    <a:bodyPr/>
                    <a:lstStyle/>
                    <a:p>
                      <a:pPr algn="ctr">
                        <a:lnSpc>
                          <a:spcPct val="107000"/>
                        </a:lnSpc>
                        <a:spcAft>
                          <a:spcPts val="800"/>
                        </a:spcAft>
                        <a:buNone/>
                      </a:pPr>
                      <a:r>
                        <a:rPr lang="sk-SK" sz="1800" b="1" kern="0" noProof="0">
                          <a:solidFill>
                            <a:schemeClr val="bg1"/>
                          </a:solidFill>
                          <a:effectLst/>
                          <a:latin typeface="+mn-lt"/>
                          <a:ea typeface="Times New Roman" panose="02020603050405020304" pitchFamily="18" charset="0"/>
                          <a:cs typeface="Times New Roman"/>
                        </a:rPr>
                        <a:t>Známka (1-5)</a:t>
                      </a:r>
                      <a:endParaRPr lang="sk-SK" sz="1600" kern="100" noProof="0">
                        <a:solidFill>
                          <a:schemeClr val="bg1"/>
                        </a:solidFill>
                        <a:effectLst/>
                        <a:latin typeface="+mn-lt"/>
                        <a:ea typeface="Aptos" panose="020B0004020202020204" pitchFamily="34" charset="0"/>
                        <a:cs typeface="Times New Roman"/>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tc>
                  <a:txBody>
                    <a:bodyPr/>
                    <a:lstStyle/>
                    <a:p>
                      <a:pPr algn="ctr">
                        <a:lnSpc>
                          <a:spcPct val="107000"/>
                        </a:lnSpc>
                        <a:spcAft>
                          <a:spcPts val="800"/>
                        </a:spcAft>
                        <a:buNone/>
                      </a:pPr>
                      <a:r>
                        <a:rPr lang="sk-SK" sz="1800" b="1" kern="0" noProof="0">
                          <a:solidFill>
                            <a:schemeClr val="bg1"/>
                          </a:solidFill>
                          <a:effectLst/>
                          <a:latin typeface="+mn-lt"/>
                          <a:ea typeface="Times New Roman" panose="02020603050405020304" pitchFamily="18" charset="0"/>
                          <a:cs typeface="Times New Roman"/>
                        </a:rPr>
                        <a:t>x Váha</a:t>
                      </a:r>
                      <a:endParaRPr lang="sk-SK" sz="1600" kern="100" noProof="0">
                        <a:solidFill>
                          <a:schemeClr val="bg1"/>
                        </a:solidFill>
                        <a:effectLst/>
                        <a:latin typeface="+mn-lt"/>
                        <a:ea typeface="Aptos" panose="020B0004020202020204" pitchFamily="34" charset="0"/>
                        <a:cs typeface="Times New Roman"/>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tc>
                  <a:txBody>
                    <a:bodyPr/>
                    <a:lstStyle/>
                    <a:p>
                      <a:pPr algn="ctr">
                        <a:lnSpc>
                          <a:spcPct val="107000"/>
                        </a:lnSpc>
                        <a:spcAft>
                          <a:spcPts val="800"/>
                        </a:spcAft>
                        <a:buNone/>
                      </a:pPr>
                      <a:r>
                        <a:rPr lang="sk-SK" sz="1800" b="1" kern="0" noProof="0">
                          <a:solidFill>
                            <a:schemeClr val="bg1"/>
                          </a:solidFill>
                          <a:effectLst/>
                          <a:latin typeface="+mn-lt"/>
                          <a:ea typeface="Times New Roman" panose="02020603050405020304" pitchFamily="18" charset="0"/>
                          <a:cs typeface="Times New Roman" panose="02020603050405020304" pitchFamily="18" charset="0"/>
                        </a:rPr>
                        <a:t>Konečná hodnota</a:t>
                      </a:r>
                      <a:endParaRPr lang="sk-SK" sz="1600" kern="100" noProof="0">
                        <a:solidFill>
                          <a:schemeClr val="bg1"/>
                        </a:solidFill>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extLst>
                  <a:ext uri="{0D108BD9-81ED-4DB2-BD59-A6C34878D82A}">
                    <a16:rowId xmlns:a16="http://schemas.microsoft.com/office/drawing/2014/main" val="2958735214"/>
                  </a:ext>
                </a:extLst>
              </a:tr>
              <a:tr h="642065">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Nutnosť zmeny návykov u konzervatívnych osôb</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1665595250"/>
                  </a:ext>
                </a:extLst>
              </a:tr>
              <a:tr h="557520">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Úplná závislosť na internetovom pripojení</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1963297141"/>
                  </a:ext>
                </a:extLst>
              </a:tr>
              <a:tr h="669183">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Absencia detailného textu v dokumentácii</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2802065537"/>
                  </a:ext>
                </a:extLst>
              </a:tr>
              <a:tr h="678754">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Obmedzená integrácia v štádiu prototypu</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1924063007"/>
                  </a:ext>
                </a:extLst>
              </a:tr>
              <a:tr h="688326">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Náročnosť overovania zákonných zástupcov</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extLst>
                  <a:ext uri="{0D108BD9-81ED-4DB2-BD59-A6C34878D82A}">
                    <a16:rowId xmlns:a16="http://schemas.microsoft.com/office/drawing/2014/main" val="3066714800"/>
                  </a:ext>
                </a:extLst>
              </a:tr>
              <a:tr h="275171">
                <a:tc gridSpan="3">
                  <a:txBody>
                    <a:bodyPr/>
                    <a:lstStyle/>
                    <a:p>
                      <a:pPr algn="ctr">
                        <a:lnSpc>
                          <a:spcPct val="107000"/>
                        </a:lnSpc>
                        <a:spcAft>
                          <a:spcPts val="800"/>
                        </a:spcAft>
                        <a:buNone/>
                      </a:pPr>
                      <a:r>
                        <a:rPr lang="sk-SK" sz="1600" b="1" kern="0" noProof="0">
                          <a:solidFill>
                            <a:srgbClr val="000000"/>
                          </a:solidFill>
                          <a:effectLst/>
                          <a:latin typeface="+mn-lt"/>
                          <a:ea typeface="Times New Roman" panose="02020603050405020304" pitchFamily="18" charset="0"/>
                          <a:cs typeface="Times New Roman"/>
                        </a:rPr>
                        <a:t>KHW</a:t>
                      </a:r>
                      <a:r>
                        <a:rPr lang="sk-SK" sz="1600" kern="0" noProof="0">
                          <a:solidFill>
                            <a:srgbClr val="000000"/>
                          </a:solidFill>
                          <a:effectLst/>
                          <a:latin typeface="+mn-lt"/>
                          <a:ea typeface="Times New Roman" panose="02020603050405020304" pitchFamily="18" charset="0"/>
                          <a:cs typeface="Times New Roman"/>
                        </a:rPr>
                        <a:t> </a:t>
                      </a:r>
                      <a:r>
                        <a:rPr lang="sk-SK" sz="1600" kern="0" noProof="0">
                          <a:solidFill>
                            <a:srgbClr val="000000"/>
                          </a:solidFill>
                          <a:effectLst/>
                          <a:latin typeface="Calibri"/>
                          <a:ea typeface="Calibri"/>
                          <a:cs typeface="Calibri"/>
                        </a:rPr>
                        <a:t>0,6 + 0,4 + 0,1 + 0,4 + 0,4 =</a:t>
                      </a:r>
                      <a:endParaRPr lang="sk-SK" sz="1400" kern="100" noProof="0">
                        <a:effectLst/>
                        <a:latin typeface="Calibri"/>
                        <a:ea typeface="Calibri"/>
                        <a:cs typeface="Calibri"/>
                      </a:endParaRPr>
                    </a:p>
                  </a:txBody>
                  <a:tcPr marL="44450" marR="444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B9B9"/>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1,9</a:t>
                      </a:r>
                      <a:endParaRPr lang="sk-SK" sz="1400" u="sng"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B9B9"/>
                    </a:solidFill>
                  </a:tcPr>
                </a:tc>
                <a:extLst>
                  <a:ext uri="{0D108BD9-81ED-4DB2-BD59-A6C34878D82A}">
                    <a16:rowId xmlns:a16="http://schemas.microsoft.com/office/drawing/2014/main" val="4136926664"/>
                  </a:ext>
                </a:extLst>
              </a:tr>
              <a:tr h="277595">
                <a:tc gridSpan="3">
                  <a:txBody>
                    <a:bodyPr/>
                    <a:lstStyle/>
                    <a:p>
                      <a:pPr algn="ctr">
                        <a:lnSpc>
                          <a:spcPct val="107000"/>
                        </a:lnSpc>
                        <a:spcAft>
                          <a:spcPts val="800"/>
                        </a:spcAft>
                        <a:buNone/>
                      </a:pPr>
                      <a:r>
                        <a:rPr lang="sk-SK" sz="1600" b="1" kern="0" noProof="0">
                          <a:solidFill>
                            <a:srgbClr val="000000"/>
                          </a:solidFill>
                          <a:effectLst/>
                          <a:latin typeface="+mn-lt"/>
                          <a:ea typeface="Times New Roman" panose="02020603050405020304" pitchFamily="18" charset="0"/>
                          <a:cs typeface="Times New Roman" panose="02020603050405020304" pitchFamily="18" charset="0"/>
                        </a:rPr>
                        <a:t>Hodnota interného prostredia </a:t>
                      </a: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4,4 - 1,9 =</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2,5</a:t>
                      </a:r>
                      <a:endParaRPr lang="sk-SK" sz="1400" u="sng"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42374969"/>
                  </a:ext>
                </a:extLst>
              </a:tr>
            </a:tbl>
          </a:graphicData>
        </a:graphic>
      </p:graphicFrame>
    </p:spTree>
    <p:extLst>
      <p:ext uri="{BB962C8B-B14F-4D97-AF65-F5344CB8AC3E}">
        <p14:creationId xmlns:p14="http://schemas.microsoft.com/office/powerpoint/2010/main" val="1907519536"/>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EAC-B333-D74E-D919-E23CF44E66D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B2BC9B9-E796-F9F2-6849-D4FA788FE030}"/>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SWOT analýza </a:t>
            </a:r>
            <a:r>
              <a:rPr lang="sk-SK" sz="6000" b="1" noProof="0" err="1">
                <a:solidFill>
                  <a:schemeClr val="tx1"/>
                </a:solidFill>
              </a:rPr>
              <a:t>eTermín</a:t>
            </a:r>
            <a:endParaRPr lang="sk-SK" sz="6000" b="1" noProof="0">
              <a:solidFill>
                <a:schemeClr val="tx1"/>
              </a:solidFill>
            </a:endParaRPr>
          </a:p>
        </p:txBody>
      </p:sp>
      <p:graphicFrame>
        <p:nvGraphicFramePr>
          <p:cNvPr id="8" name="Zástupný objekt pre obsah 7">
            <a:extLst>
              <a:ext uri="{FF2B5EF4-FFF2-40B4-BE49-F238E27FC236}">
                <a16:creationId xmlns:a16="http://schemas.microsoft.com/office/drawing/2014/main" id="{2525F06E-CD17-5DA1-D86D-03AE3EBA89F3}"/>
              </a:ext>
            </a:extLst>
          </p:cNvPr>
          <p:cNvGraphicFramePr>
            <a:graphicFrameLocks noGrp="1"/>
          </p:cNvGraphicFramePr>
          <p:nvPr>
            <p:ph idx="1"/>
            <p:extLst>
              <p:ext uri="{D42A27DB-BD31-4B8C-83A1-F6EECF244321}">
                <p14:modId xmlns:p14="http://schemas.microsoft.com/office/powerpoint/2010/main" val="2207064842"/>
              </p:ext>
            </p:extLst>
          </p:nvPr>
        </p:nvGraphicFramePr>
        <p:xfrm>
          <a:off x="1097280" y="1737360"/>
          <a:ext cx="10027921" cy="4301594"/>
        </p:xfrm>
        <a:graphic>
          <a:graphicData uri="http://schemas.openxmlformats.org/drawingml/2006/table">
            <a:tbl>
              <a:tblPr firstRow="1" firstCol="1" bandRow="1"/>
              <a:tblGrid>
                <a:gridCol w="4465932">
                  <a:extLst>
                    <a:ext uri="{9D8B030D-6E8A-4147-A177-3AD203B41FA5}">
                      <a16:colId xmlns:a16="http://schemas.microsoft.com/office/drawing/2014/main" val="3970231819"/>
                    </a:ext>
                  </a:extLst>
                </a:gridCol>
                <a:gridCol w="2126738">
                  <a:extLst>
                    <a:ext uri="{9D8B030D-6E8A-4147-A177-3AD203B41FA5}">
                      <a16:colId xmlns:a16="http://schemas.microsoft.com/office/drawing/2014/main" val="1725595757"/>
                    </a:ext>
                  </a:extLst>
                </a:gridCol>
                <a:gridCol w="1458865">
                  <a:extLst>
                    <a:ext uri="{9D8B030D-6E8A-4147-A177-3AD203B41FA5}">
                      <a16:colId xmlns:a16="http://schemas.microsoft.com/office/drawing/2014/main" val="3568995582"/>
                    </a:ext>
                  </a:extLst>
                </a:gridCol>
                <a:gridCol w="1976386">
                  <a:extLst>
                    <a:ext uri="{9D8B030D-6E8A-4147-A177-3AD203B41FA5}">
                      <a16:colId xmlns:a16="http://schemas.microsoft.com/office/drawing/2014/main" val="3042503821"/>
                    </a:ext>
                  </a:extLst>
                </a:gridCol>
              </a:tblGrid>
              <a:tr h="530919">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Príležitosti</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898526904"/>
                  </a:ext>
                </a:extLst>
              </a:tr>
              <a:tr h="480659">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Absencia jednotnej platformy na trhu</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0,3</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518969342"/>
                  </a:ext>
                </a:extLst>
              </a:tr>
              <a:tr h="809284">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Potenciál integrácie do štátneho e-Health</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0,2</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869615558"/>
                  </a:ext>
                </a:extLst>
              </a:tr>
              <a:tr h="807395">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Zníženie celkovej administratívnej záťaže</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0,2</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681217761"/>
                  </a:ext>
                </a:extLst>
              </a:tr>
              <a:tr h="537319">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Expanzia na natívne mobilné platformy</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0,1</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0,3</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595064559"/>
                  </a:ext>
                </a:extLst>
              </a:tr>
              <a:tr h="799840">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Zlepšenie dostupnosti zdravotnej starostlivosti</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0,2</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224531304"/>
                  </a:ext>
                </a:extLst>
              </a:tr>
              <a:tr h="336178">
                <a:tc gridSpan="3">
                  <a:txBody>
                    <a:bodyPr/>
                    <a:lstStyle/>
                    <a:p>
                      <a:pPr algn="ctr">
                        <a:lnSpc>
                          <a:spcPct val="107000"/>
                        </a:lnSpc>
                        <a:spcAft>
                          <a:spcPts val="800"/>
                        </a:spcAft>
                        <a:buNone/>
                      </a:pPr>
                      <a:r>
                        <a:rPr lang="sk-SK" sz="1600" b="1" kern="0" noProof="0">
                          <a:solidFill>
                            <a:srgbClr val="000000"/>
                          </a:solidFill>
                          <a:effectLst/>
                          <a:latin typeface="+mn-lt"/>
                          <a:ea typeface="Times New Roman" panose="02020603050405020304" pitchFamily="18" charset="0"/>
                          <a:cs typeface="Times New Roman" panose="02020603050405020304" pitchFamily="18" charset="0"/>
                        </a:rPr>
                        <a:t>KHO</a:t>
                      </a:r>
                      <a:r>
                        <a:rPr lang="sk-SK" sz="1600"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1,5 + 0,8 + 0,8 + 0,3 + 0,8 =</a:t>
                      </a:r>
                      <a:endParaRPr lang="sk-SK" sz="1400"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noProof="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a:t>
                      </a:r>
                      <a:endParaRPr lang="sk-SK" sz="1400" u="sng" kern="100" noProof="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012419285"/>
                  </a:ext>
                </a:extLst>
              </a:tr>
            </a:tbl>
          </a:graphicData>
        </a:graphic>
      </p:graphicFrame>
    </p:spTree>
    <p:extLst>
      <p:ext uri="{BB962C8B-B14F-4D97-AF65-F5344CB8AC3E}">
        <p14:creationId xmlns:p14="http://schemas.microsoft.com/office/powerpoint/2010/main" val="3298447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2C96-300F-BA73-8AB6-B0DCE87C684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1819CD8-1B33-AA6A-2216-C919A1FE775F}"/>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SWOT analýza </a:t>
            </a:r>
            <a:r>
              <a:rPr lang="sk-SK" sz="6000" b="1" noProof="0" err="1">
                <a:solidFill>
                  <a:schemeClr val="tx1"/>
                </a:solidFill>
              </a:rPr>
              <a:t>eTermín</a:t>
            </a:r>
            <a:endParaRPr lang="sk-SK" sz="6000" b="1" noProof="0">
              <a:solidFill>
                <a:schemeClr val="tx1"/>
              </a:solidFill>
            </a:endParaRPr>
          </a:p>
        </p:txBody>
      </p:sp>
      <p:graphicFrame>
        <p:nvGraphicFramePr>
          <p:cNvPr id="7" name="Zástupný objekt pre obsah 6">
            <a:extLst>
              <a:ext uri="{FF2B5EF4-FFF2-40B4-BE49-F238E27FC236}">
                <a16:creationId xmlns:a16="http://schemas.microsoft.com/office/drawing/2014/main" id="{83F96FD7-D6DE-9D2E-F411-A9AA7604061E}"/>
              </a:ext>
            </a:extLst>
          </p:cNvPr>
          <p:cNvGraphicFramePr>
            <a:graphicFrameLocks noGrp="1"/>
          </p:cNvGraphicFramePr>
          <p:nvPr>
            <p:ph idx="1"/>
            <p:extLst>
              <p:ext uri="{D42A27DB-BD31-4B8C-83A1-F6EECF244321}">
                <p14:modId xmlns:p14="http://schemas.microsoft.com/office/powerpoint/2010/main" val="774456177"/>
              </p:ext>
            </p:extLst>
          </p:nvPr>
        </p:nvGraphicFramePr>
        <p:xfrm>
          <a:off x="1097280" y="1737359"/>
          <a:ext cx="10058399" cy="4177166"/>
        </p:xfrm>
        <a:graphic>
          <a:graphicData uri="http://schemas.openxmlformats.org/drawingml/2006/table">
            <a:tbl>
              <a:tblPr firstRow="1" firstCol="1" bandRow="1"/>
              <a:tblGrid>
                <a:gridCol w="4479505">
                  <a:extLst>
                    <a:ext uri="{9D8B030D-6E8A-4147-A177-3AD203B41FA5}">
                      <a16:colId xmlns:a16="http://schemas.microsoft.com/office/drawing/2014/main" val="4162629110"/>
                    </a:ext>
                  </a:extLst>
                </a:gridCol>
                <a:gridCol w="2133203">
                  <a:extLst>
                    <a:ext uri="{9D8B030D-6E8A-4147-A177-3AD203B41FA5}">
                      <a16:colId xmlns:a16="http://schemas.microsoft.com/office/drawing/2014/main" val="562929326"/>
                    </a:ext>
                  </a:extLst>
                </a:gridCol>
                <a:gridCol w="1463299">
                  <a:extLst>
                    <a:ext uri="{9D8B030D-6E8A-4147-A177-3AD203B41FA5}">
                      <a16:colId xmlns:a16="http://schemas.microsoft.com/office/drawing/2014/main" val="1658430942"/>
                    </a:ext>
                  </a:extLst>
                </a:gridCol>
                <a:gridCol w="1982392">
                  <a:extLst>
                    <a:ext uri="{9D8B030D-6E8A-4147-A177-3AD203B41FA5}">
                      <a16:colId xmlns:a16="http://schemas.microsoft.com/office/drawing/2014/main" val="3118631860"/>
                    </a:ext>
                  </a:extLst>
                </a:gridCol>
              </a:tblGrid>
              <a:tr h="540537">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Hrozby</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a:lnSpc>
                          <a:spcPct val="107000"/>
                        </a:lnSpc>
                        <a:spcAft>
                          <a:spcPts val="800"/>
                        </a:spcAft>
                        <a:buNone/>
                      </a:pPr>
                      <a:r>
                        <a:rPr lang="sk-SK" sz="1800" b="1" kern="0" noProof="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extLst>
                  <a:ext uri="{0D108BD9-81ED-4DB2-BD59-A6C34878D82A}">
                    <a16:rowId xmlns:a16="http://schemas.microsoft.com/office/drawing/2014/main" val="2489722972"/>
                  </a:ext>
                </a:extLst>
              </a:tr>
              <a:tr h="617704">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Kybernetické útoky na zdravotné záznamy</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1,6</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2244947667"/>
                  </a:ext>
                </a:extLst>
              </a:tr>
              <a:tr h="831059">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Odpor odborného personálu voči digitalizácii</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2938906747"/>
                  </a:ext>
                </a:extLst>
              </a:tr>
              <a:tr h="616741">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Časté zmeny legislatívy v oblasti GDPR</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2760419003"/>
                  </a:ext>
                </a:extLst>
              </a:tr>
              <a:tr h="533400">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Vznik konkurencie v súkromnom sektore</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4180238509"/>
                  </a:ext>
                </a:extLst>
              </a:tr>
              <a:tr h="353150">
                <a:tc>
                  <a:txBody>
                    <a:bodyPr/>
                    <a:lstStyle/>
                    <a:p>
                      <a:pPr>
                        <a:lnSpc>
                          <a:spcPct val="107000"/>
                        </a:lnSpc>
                        <a:spcAft>
                          <a:spcPts val="800"/>
                        </a:spcAft>
                        <a:buNone/>
                      </a:pPr>
                      <a:r>
                        <a:rPr lang="sk-SK" sz="1600" kern="0" noProof="0">
                          <a:solidFill>
                            <a:srgbClr val="000000"/>
                          </a:solidFill>
                          <a:effectLst/>
                          <a:latin typeface="+mn-lt"/>
                          <a:ea typeface="Times New Roman" panose="02020603050405020304" pitchFamily="18" charset="0"/>
                          <a:cs typeface="Times New Roman" panose="02020603050405020304" pitchFamily="18" charset="0"/>
                        </a:rPr>
                        <a:t>Výpadky kritickej sieťovej infraštruktúry</a:t>
                      </a:r>
                      <a:endParaRPr lang="sk-SK" sz="1400" kern="100" noProof="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buNone/>
                      </a:pP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1553070984"/>
                  </a:ext>
                </a:extLst>
              </a:tr>
              <a:tr h="336917">
                <a:tc gridSpan="3">
                  <a:txBody>
                    <a:bodyPr/>
                    <a:lstStyle/>
                    <a:p>
                      <a:pPr algn="ctr">
                        <a:lnSpc>
                          <a:spcPct val="107000"/>
                        </a:lnSpc>
                        <a:spcAft>
                          <a:spcPts val="800"/>
                        </a:spcAft>
                        <a:buNone/>
                      </a:pPr>
                      <a:r>
                        <a:rPr lang="sk-SK" sz="1600" b="1" kern="0" noProof="0">
                          <a:solidFill>
                            <a:srgbClr val="000000"/>
                          </a:solidFill>
                          <a:effectLst/>
                          <a:latin typeface="+mn-lt"/>
                          <a:ea typeface="Times New Roman" panose="02020603050405020304" pitchFamily="18" charset="0"/>
                          <a:cs typeface="Times New Roman" panose="02020603050405020304" pitchFamily="18" charset="0"/>
                        </a:rPr>
                        <a:t>KHT</a:t>
                      </a:r>
                      <a:r>
                        <a:rPr lang="sk-SK" sz="1600" kern="0" noProof="0">
                          <a:solidFill>
                            <a:srgbClr val="000000"/>
                          </a:solidFill>
                          <a:effectLst/>
                          <a:latin typeface="+mn-lt"/>
                          <a:ea typeface="Times New Roman" panose="02020603050405020304" pitchFamily="18" charset="0"/>
                          <a:cs typeface="Times New Roman" panose="02020603050405020304" pitchFamily="18" charset="0"/>
                        </a:rPr>
                        <a:t> </a:t>
                      </a: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1,6 + 0,4 + 0,2 + 0,2 + 0,4 =</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2,8</a:t>
                      </a:r>
                      <a:endParaRPr lang="sk-SK" sz="1400" u="sng"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552856337"/>
                  </a:ext>
                </a:extLst>
              </a:tr>
              <a:tr h="347658">
                <a:tc gridSpan="3">
                  <a:txBody>
                    <a:bodyPr/>
                    <a:lstStyle/>
                    <a:p>
                      <a:pPr algn="ctr">
                        <a:lnSpc>
                          <a:spcPct val="107000"/>
                        </a:lnSpc>
                        <a:spcAft>
                          <a:spcPts val="800"/>
                        </a:spcAft>
                        <a:buNone/>
                      </a:pPr>
                      <a:r>
                        <a:rPr lang="sk-SK" sz="1600" b="1" kern="0" noProof="0">
                          <a:solidFill>
                            <a:srgbClr val="000000"/>
                          </a:solidFill>
                          <a:effectLst/>
                          <a:latin typeface="+mn-lt"/>
                          <a:ea typeface="Times New Roman" panose="02020603050405020304" pitchFamily="18" charset="0"/>
                          <a:cs typeface="Times New Roman" panose="02020603050405020304" pitchFamily="18" charset="0"/>
                        </a:rPr>
                        <a:t>Hodnota externého prostredia</a:t>
                      </a:r>
                      <a:r>
                        <a:rPr lang="sk-SK" sz="1600"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 4,2 - 2,8 =</a:t>
                      </a:r>
                      <a:endParaRPr lang="sk-SK" sz="1400"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noProof="0">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endParaRPr lang="sk-SK" sz="1400" u="sng" kern="100" noProof="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493990058"/>
                  </a:ext>
                </a:extLst>
              </a:tr>
            </a:tbl>
          </a:graphicData>
        </a:graphic>
      </p:graphicFrame>
    </p:spTree>
    <p:extLst>
      <p:ext uri="{BB962C8B-B14F-4D97-AF65-F5344CB8AC3E}">
        <p14:creationId xmlns:p14="http://schemas.microsoft.com/office/powerpoint/2010/main" val="2266435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FFE8436-58AA-638C-9854-FF8997FA97AF}"/>
              </a:ext>
            </a:extLst>
          </p:cNvPr>
          <p:cNvSpPr txBox="1">
            <a:spLocks/>
          </p:cNvSpPr>
          <p:nvPr/>
        </p:nvSpPr>
        <p:spPr>
          <a:xfrm>
            <a:off x="2261914" y="462464"/>
            <a:ext cx="8152498" cy="786982"/>
          </a:xfrm>
          <a:prstGeom prst="rect">
            <a:avLst/>
          </a:prstGeom>
        </p:spPr>
        <p:txBody>
          <a:bodyPr>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sk-SK" sz="5400" b="1" noProof="0">
                <a:solidFill>
                  <a:schemeClr val="tx1"/>
                </a:solidFill>
              </a:rPr>
              <a:t>Vyhodnotenie SWOT analýzy</a:t>
            </a:r>
          </a:p>
        </p:txBody>
      </p:sp>
      <p:pic>
        <p:nvPicPr>
          <p:cNvPr id="3" name="Obrázok 2">
            <a:extLst>
              <a:ext uri="{FF2B5EF4-FFF2-40B4-BE49-F238E27FC236}">
                <a16:creationId xmlns:a16="http://schemas.microsoft.com/office/drawing/2014/main" id="{6EA11D3B-55FF-02C6-AA63-2AC6C9E8B886}"/>
              </a:ext>
            </a:extLst>
          </p:cNvPr>
          <p:cNvPicPr>
            <a:picLocks noChangeAspect="1"/>
          </p:cNvPicPr>
          <p:nvPr/>
        </p:nvPicPr>
        <p:blipFill>
          <a:blip r:embed="rId2">
            <a:extLst>
              <a:ext uri="{28A0092B-C50C-407E-A947-70E740481C1C}">
                <a14:useLocalDpi xmlns:a14="http://schemas.microsoft.com/office/drawing/2010/main" val="0"/>
              </a:ext>
            </a:extLst>
          </a:blip>
          <a:srcRect l="3245" t="5897" r="3326" b="1041"/>
          <a:stretch>
            <a:fillRect/>
          </a:stretch>
        </p:blipFill>
        <p:spPr bwMode="auto">
          <a:xfrm>
            <a:off x="2743200" y="1179646"/>
            <a:ext cx="6749807" cy="5144329"/>
          </a:xfrm>
          <a:prstGeom prst="rect">
            <a:avLst/>
          </a:prstGeom>
          <a:noFill/>
          <a:ln>
            <a:noFill/>
          </a:ln>
        </p:spPr>
      </p:pic>
    </p:spTree>
    <p:extLst>
      <p:ext uri="{BB962C8B-B14F-4D97-AF65-F5344CB8AC3E}">
        <p14:creationId xmlns:p14="http://schemas.microsoft.com/office/powerpoint/2010/main" val="3388209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7280" y="758952"/>
            <a:ext cx="10058400" cy="3566160"/>
          </a:xfrm>
        </p:spPr>
        <p:txBody>
          <a:bodyPr>
            <a:normAutofit/>
          </a:bodyPr>
          <a:lstStyle/>
          <a:p>
            <a:pPr algn="ctr"/>
            <a:r>
              <a:rPr lang="sk-SK" sz="8800" b="1" noProof="0">
                <a:solidFill>
                  <a:schemeClr val="tx1"/>
                </a:solidFill>
              </a:rPr>
              <a:t>Vizualizácia modelových dát</a:t>
            </a:r>
            <a:endParaRPr lang="sk-SK" sz="8800" b="1" noProof="0">
              <a:solidFill>
                <a:schemeClr val="tx1"/>
              </a:solidFill>
              <a:ea typeface="Calibri Light"/>
              <a:cs typeface="Calibri Light"/>
            </a:endParaRPr>
          </a:p>
        </p:txBody>
      </p:sp>
    </p:spTree>
    <p:extLst>
      <p:ext uri="{BB962C8B-B14F-4D97-AF65-F5344CB8AC3E}">
        <p14:creationId xmlns:p14="http://schemas.microsoft.com/office/powerpoint/2010/main" val="3116490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6" y="1842835"/>
            <a:ext cx="9962074" cy="3567556"/>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odborný časopis </a:t>
            </a:r>
          </a:p>
          <a:p>
            <a:r>
              <a:rPr lang="sk-SK" noProof="0" err="1"/>
              <a:t>Journal</a:t>
            </a:r>
            <a:r>
              <a:rPr lang="sk-SK" noProof="0"/>
              <a:t> of </a:t>
            </a:r>
            <a:r>
              <a:rPr lang="sk-SK" noProof="0" err="1"/>
              <a:t>Medical</a:t>
            </a:r>
            <a:r>
              <a:rPr lang="sk-SK" noProof="0"/>
              <a:t> Internet </a:t>
            </a:r>
            <a:r>
              <a:rPr lang="sk-SK" noProof="0" err="1"/>
              <a:t>Research</a:t>
            </a:r>
            <a:endParaRPr lang="sk-SK" noProof="0"/>
          </a:p>
          <a:p>
            <a:r>
              <a:rPr lang="sk-SK" noProof="0"/>
              <a:t>Reálne dáta</a:t>
            </a:r>
          </a:p>
          <a:p>
            <a:r>
              <a:rPr lang="sk-SK" noProof="0" err="1"/>
              <a:t>Impact</a:t>
            </a:r>
            <a:r>
              <a:rPr lang="sk-SK" noProof="0"/>
              <a:t> of Online </a:t>
            </a:r>
            <a:r>
              <a:rPr lang="sk-SK" noProof="0" err="1"/>
              <a:t>Appointment</a:t>
            </a:r>
            <a:r>
              <a:rPr lang="sk-SK" noProof="0"/>
              <a:t> </a:t>
            </a:r>
            <a:r>
              <a:rPr lang="sk-SK" noProof="0" err="1"/>
              <a:t>Scheduling</a:t>
            </a:r>
            <a:endParaRPr lang="sk-SK" noProof="0"/>
          </a:p>
          <a:p>
            <a:r>
              <a:rPr lang="sk-SK" noProof="0">
                <a:hlinkClick r:id="rId2"/>
              </a:rPr>
              <a:t>https://www.jmir.org/2017/4/e134/</a:t>
            </a:r>
            <a:endParaRPr lang="sk-SK" noProof="0"/>
          </a:p>
        </p:txBody>
      </p:sp>
      <p:pic>
        <p:nvPicPr>
          <p:cNvPr id="4" name="Obrázok 3" descr="Leveraging Real-World Data for Real-World Impact">
            <a:extLst>
              <a:ext uri="{FF2B5EF4-FFF2-40B4-BE49-F238E27FC236}">
                <a16:creationId xmlns:a16="http://schemas.microsoft.com/office/drawing/2014/main" id="{C3B61D01-832E-0D99-8641-A7023FDA82B1}"/>
              </a:ext>
            </a:extLst>
          </p:cNvPr>
          <p:cNvPicPr>
            <a:picLocks noChangeAspect="1"/>
          </p:cNvPicPr>
          <p:nvPr/>
        </p:nvPicPr>
        <p:blipFill>
          <a:blip r:embed="rId3"/>
          <a:stretch>
            <a:fillRect/>
          </a:stretch>
        </p:blipFill>
        <p:spPr>
          <a:xfrm>
            <a:off x="8164191" y="2034854"/>
            <a:ext cx="3375537" cy="3375537"/>
          </a:xfrm>
          <a:prstGeom prst="rect">
            <a:avLst/>
          </a:prstGeom>
        </p:spPr>
      </p:pic>
      <p:sp>
        <p:nvSpPr>
          <p:cNvPr id="5" name="Nadpis 1">
            <a:extLst>
              <a:ext uri="{FF2B5EF4-FFF2-40B4-BE49-F238E27FC236}">
                <a16:creationId xmlns:a16="http://schemas.microsoft.com/office/drawing/2014/main" id="{3C4E46B0-8C72-3D72-8B74-6AE46CBF7122}"/>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6000" b="1" noProof="0">
                <a:solidFill>
                  <a:schemeClr val="tx1"/>
                </a:solidFill>
              </a:rPr>
              <a:t>Štúdia</a:t>
            </a:r>
          </a:p>
        </p:txBody>
      </p:sp>
    </p:spTree>
    <p:extLst>
      <p:ext uri="{BB962C8B-B14F-4D97-AF65-F5344CB8AC3E}">
        <p14:creationId xmlns:p14="http://schemas.microsoft.com/office/powerpoint/2010/main" val="100184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3638-FA7C-2689-3854-73595EC41C84}"/>
            </a:ext>
          </a:extLst>
        </p:cNvPr>
        <p:cNvGrpSpPr/>
        <p:nvPr/>
      </p:nvGrpSpPr>
      <p:grpSpPr>
        <a:xfrm>
          <a:off x="0" y="0"/>
          <a:ext cx="0" cy="0"/>
          <a:chOff x="0" y="0"/>
          <a:chExt cx="0" cy="0"/>
        </a:xfrm>
      </p:grpSpPr>
      <p:sp>
        <p:nvSpPr>
          <p:cNvPr id="10" name="Zástupný objekt pre obsah 6">
            <a:extLst>
              <a:ext uri="{FF2B5EF4-FFF2-40B4-BE49-F238E27FC236}">
                <a16:creationId xmlns:a16="http://schemas.microsoft.com/office/drawing/2014/main" id="{04182CB1-83D1-702C-CF8B-9745BA0D4230}"/>
              </a:ext>
            </a:extLst>
          </p:cNvPr>
          <p:cNvSpPr>
            <a:spLocks noGrp="1"/>
          </p:cNvSpPr>
          <p:nvPr>
            <p:ph idx="1"/>
          </p:nvPr>
        </p:nvSpPr>
        <p:spPr>
          <a:xfrm>
            <a:off x="872108" y="2093594"/>
            <a:ext cx="9643491" cy="3356229"/>
          </a:xfrm>
        </p:spPr>
        <p:txBody>
          <a:bodyPr anchor="ctr">
            <a:normAutofit/>
          </a:bodyPr>
          <a:lstStyle/>
          <a:p>
            <a:pPr>
              <a:buFont typeface="Wingdings" panose="05000000000000000000" pitchFamily="2" charset="2"/>
              <a:buChar char="Ø"/>
            </a:pPr>
            <a:r>
              <a:rPr lang="sk-SK" sz="2800" noProof="0">
                <a:solidFill>
                  <a:schemeClr val="tx1"/>
                </a:solidFill>
              </a:rPr>
              <a:t>Preukázateľné zlepšenie efektivity ambulancií</a:t>
            </a:r>
          </a:p>
          <a:p>
            <a:pPr>
              <a:buFont typeface="Wingdings" panose="05000000000000000000" pitchFamily="2" charset="2"/>
              <a:buChar char="Ø"/>
            </a:pPr>
            <a:r>
              <a:rPr lang="sk-SK" sz="2800" noProof="0">
                <a:solidFill>
                  <a:schemeClr val="tx1"/>
                </a:solidFill>
              </a:rPr>
              <a:t>Menej vymeškaných termínov</a:t>
            </a:r>
          </a:p>
          <a:p>
            <a:pPr>
              <a:buFont typeface="Wingdings" panose="05000000000000000000" pitchFamily="2" charset="2"/>
              <a:buChar char="Ø"/>
            </a:pPr>
            <a:r>
              <a:rPr lang="sk-SK" sz="2800" noProof="0">
                <a:solidFill>
                  <a:schemeClr val="tx1"/>
                </a:solidFill>
              </a:rPr>
              <a:t>Úspora času pre pacientov aj personál</a:t>
            </a:r>
          </a:p>
          <a:p>
            <a:pPr>
              <a:buFont typeface="Wingdings" panose="05000000000000000000" pitchFamily="2" charset="2"/>
              <a:buChar char="Ø"/>
            </a:pPr>
            <a:r>
              <a:rPr lang="sk-SK" sz="2800" noProof="0">
                <a:solidFill>
                  <a:schemeClr val="tx1"/>
                </a:solidFill>
              </a:rPr>
              <a:t>Vyššia dostupnosť služby</a:t>
            </a:r>
          </a:p>
          <a:p>
            <a:pPr>
              <a:buFont typeface="Wingdings" panose="05000000000000000000" pitchFamily="2" charset="2"/>
              <a:buChar char="Ø"/>
            </a:pPr>
            <a:r>
              <a:rPr lang="sk-SK" sz="2800" noProof="0">
                <a:solidFill>
                  <a:schemeClr val="tx1"/>
                </a:solidFill>
              </a:rPr>
              <a:t>Lepšie využitie kapacít lekára</a:t>
            </a:r>
          </a:p>
        </p:txBody>
      </p:sp>
      <p:pic>
        <p:nvPicPr>
          <p:cNvPr id="2052" name="Picture 4" descr="37,000+ Bar Graph Growth Stock Illustrations, Royalty-Free Vector Graphics  &amp; Clip Art - iStock">
            <a:extLst>
              <a:ext uri="{FF2B5EF4-FFF2-40B4-BE49-F238E27FC236}">
                <a16:creationId xmlns:a16="http://schemas.microsoft.com/office/drawing/2014/main" id="{1F0992F1-7929-6A46-ECC1-7900C8D0F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2292" y="2809875"/>
            <a:ext cx="3844976" cy="2563317"/>
          </a:xfrm>
          <a:prstGeom prst="rect">
            <a:avLst/>
          </a:prstGeom>
          <a:noFill/>
          <a:extLst>
            <a:ext uri="{909E8E84-426E-40DD-AFC4-6F175D3DCCD1}">
              <a14:hiddenFill xmlns:a14="http://schemas.microsoft.com/office/drawing/2010/main">
                <a:solidFill>
                  <a:srgbClr val="FFFFFF"/>
                </a:solidFill>
              </a14:hiddenFill>
            </a:ext>
          </a:extLst>
        </p:spPr>
      </p:pic>
      <p:sp>
        <p:nvSpPr>
          <p:cNvPr id="2" name="Nadpis 1">
            <a:extLst>
              <a:ext uri="{FF2B5EF4-FFF2-40B4-BE49-F238E27FC236}">
                <a16:creationId xmlns:a16="http://schemas.microsoft.com/office/drawing/2014/main" id="{604460BE-9E38-60C6-2210-5E924A8CF543}"/>
              </a:ext>
            </a:extLst>
          </p:cNvPr>
          <p:cNvSpPr txBox="1">
            <a:spLocks/>
          </p:cNvSpPr>
          <p:nvPr/>
        </p:nvSpPr>
        <p:spPr>
          <a:xfrm>
            <a:off x="0" y="-135690"/>
            <a:ext cx="12192000" cy="187114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sk-SK" sz="5400" b="1" noProof="0">
                <a:solidFill>
                  <a:schemeClr val="tx1"/>
                </a:solidFill>
              </a:rPr>
              <a:t>Prečo sa digitálne objednávanie oplatí?</a:t>
            </a:r>
          </a:p>
        </p:txBody>
      </p:sp>
    </p:spTree>
    <p:extLst>
      <p:ext uri="{BB962C8B-B14F-4D97-AF65-F5344CB8AC3E}">
        <p14:creationId xmlns:p14="http://schemas.microsoft.com/office/powerpoint/2010/main" val="177366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0E98-8D31-61FE-259C-5C261BC2076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4BE039B-390C-D1BC-C1E8-7C91B54471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6" t="10172" r="479" b="10429"/>
          <a:stretch>
            <a:fillRect/>
          </a:stretch>
        </p:blipFill>
        <p:spPr bwMode="auto">
          <a:xfrm>
            <a:off x="343362" y="2571808"/>
            <a:ext cx="11505275" cy="2293356"/>
          </a:xfrm>
          <a:prstGeom prst="rect">
            <a:avLst/>
          </a:prstGeom>
          <a:noFill/>
          <a:extLst>
            <a:ext uri="{909E8E84-426E-40DD-AFC4-6F175D3DCCD1}">
              <a14:hiddenFill xmlns:a14="http://schemas.microsoft.com/office/drawing/2010/main">
                <a:solidFill>
                  <a:srgbClr val="FFFFFF"/>
                </a:solidFill>
              </a14:hiddenFill>
            </a:ext>
          </a:extLst>
        </p:spPr>
      </p:pic>
      <p:sp>
        <p:nvSpPr>
          <p:cNvPr id="7" name="Nadpis 1">
            <a:extLst>
              <a:ext uri="{FF2B5EF4-FFF2-40B4-BE49-F238E27FC236}">
                <a16:creationId xmlns:a16="http://schemas.microsoft.com/office/drawing/2014/main" id="{9B736E2C-D398-DF87-17C9-915F861928BF}"/>
              </a:ext>
            </a:extLst>
          </p:cNvPr>
          <p:cNvSpPr txBox="1">
            <a:spLocks/>
          </p:cNvSpPr>
          <p:nvPr/>
        </p:nvSpPr>
        <p:spPr>
          <a:xfrm>
            <a:off x="0" y="-118871"/>
            <a:ext cx="12192000" cy="184708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sk-SK" sz="5400" b="1" noProof="0">
                <a:solidFill>
                  <a:schemeClr val="tx1"/>
                </a:solidFill>
              </a:rPr>
              <a:t>Prečo sa digitálne objednávanie oplatí?</a:t>
            </a:r>
          </a:p>
        </p:txBody>
      </p:sp>
    </p:spTree>
    <p:extLst>
      <p:ext uri="{BB962C8B-B14F-4D97-AF65-F5344CB8AC3E}">
        <p14:creationId xmlns:p14="http://schemas.microsoft.com/office/powerpoint/2010/main" val="2289140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7DD71F5-26A0-A881-0E87-858F1108AF99}"/>
              </a:ext>
            </a:extLst>
          </p:cNvPr>
          <p:cNvSpPr>
            <a:spLocks noGrp="1"/>
          </p:cNvSpPr>
          <p:nvPr>
            <p:ph type="title" idx="4294967295"/>
          </p:nvPr>
        </p:nvSpPr>
        <p:spPr>
          <a:xfrm>
            <a:off x="1097280" y="778555"/>
            <a:ext cx="10058400" cy="958805"/>
          </a:xfrm>
        </p:spPr>
        <p:txBody>
          <a:bodyPr>
            <a:normAutofit/>
          </a:bodyPr>
          <a:lstStyle/>
          <a:p>
            <a:r>
              <a:rPr lang="sk-SK" sz="6000" b="1" noProof="0">
                <a:solidFill>
                  <a:schemeClr val="tx1"/>
                </a:solidFill>
              </a:rPr>
              <a:t>Miera vymeškania termínov</a:t>
            </a:r>
          </a:p>
        </p:txBody>
      </p:sp>
      <p:sp>
        <p:nvSpPr>
          <p:cNvPr id="7" name="Zástupný objekt pre obsah 6">
            <a:extLst>
              <a:ext uri="{FF2B5EF4-FFF2-40B4-BE49-F238E27FC236}">
                <a16:creationId xmlns:a16="http://schemas.microsoft.com/office/drawing/2014/main" id="{2A162A11-1F96-B2D6-147A-4A7F0B5AB194}"/>
              </a:ext>
            </a:extLst>
          </p:cNvPr>
          <p:cNvSpPr>
            <a:spLocks noGrp="1"/>
          </p:cNvSpPr>
          <p:nvPr>
            <p:ph idx="1"/>
          </p:nvPr>
        </p:nvSpPr>
        <p:spPr>
          <a:xfrm>
            <a:off x="1097280" y="2688173"/>
            <a:ext cx="7867048" cy="1968366"/>
          </a:xfrm>
        </p:spPr>
        <p:txBody>
          <a:bodyPr anchor="ctr">
            <a:normAutofit/>
          </a:bodyPr>
          <a:lstStyle/>
          <a:p>
            <a:pPr>
              <a:buFont typeface="Wingdings" panose="05000000000000000000" pitchFamily="2" charset="2"/>
              <a:buChar char="Ø"/>
            </a:pPr>
            <a:r>
              <a:rPr lang="sk-SK" sz="2800" noProof="0">
                <a:solidFill>
                  <a:schemeClr val="tx1"/>
                </a:solidFill>
              </a:rPr>
              <a:t>Telefón: 17,5 %</a:t>
            </a:r>
          </a:p>
          <a:p>
            <a:pPr>
              <a:buFont typeface="Wingdings" panose="05000000000000000000" pitchFamily="2" charset="2"/>
              <a:buChar char="Ø"/>
            </a:pPr>
            <a:r>
              <a:rPr lang="sk-SK" sz="2800" noProof="0">
                <a:solidFill>
                  <a:schemeClr val="tx1"/>
                </a:solidFill>
              </a:rPr>
              <a:t>Online: 10,1 %</a:t>
            </a:r>
          </a:p>
          <a:p>
            <a:pPr>
              <a:buFont typeface="Wingdings" panose="05000000000000000000" pitchFamily="2" charset="2"/>
              <a:buChar char="Ø"/>
            </a:pPr>
            <a:r>
              <a:rPr lang="sk-SK" sz="2800" noProof="0">
                <a:solidFill>
                  <a:schemeClr val="tx1"/>
                </a:solidFill>
              </a:rPr>
              <a:t>Pokles o 42 %</a:t>
            </a:r>
          </a:p>
        </p:txBody>
      </p:sp>
      <p:pic>
        <p:nvPicPr>
          <p:cNvPr id="17" name="Obrázok 16" descr="Obrázok, na ktorom je biely, dizajn&#10;&#10;Obsah vygenerovaný pomocou AI môže byť nesprávny.">
            <a:extLst>
              <a:ext uri="{FF2B5EF4-FFF2-40B4-BE49-F238E27FC236}">
                <a16:creationId xmlns:a16="http://schemas.microsoft.com/office/drawing/2014/main" id="{B3C05FC5-278F-8ED3-B650-56B3D4C141D2}"/>
              </a:ext>
            </a:extLst>
          </p:cNvPr>
          <p:cNvPicPr>
            <a:picLocks noChangeAspect="1"/>
          </p:cNvPicPr>
          <p:nvPr/>
        </p:nvPicPr>
        <p:blipFill>
          <a:blip r:embed="rId2"/>
          <a:stretch>
            <a:fillRect/>
          </a:stretch>
        </p:blipFill>
        <p:spPr>
          <a:xfrm>
            <a:off x="9597387" y="2158872"/>
            <a:ext cx="666843" cy="657317"/>
          </a:xfrm>
          <a:prstGeom prst="rect">
            <a:avLst/>
          </a:prstGeom>
        </p:spPr>
      </p:pic>
      <p:pic>
        <p:nvPicPr>
          <p:cNvPr id="4" name="Obrázok 3">
            <a:extLst>
              <a:ext uri="{FF2B5EF4-FFF2-40B4-BE49-F238E27FC236}">
                <a16:creationId xmlns:a16="http://schemas.microsoft.com/office/drawing/2014/main" id="{D58BB055-A7BA-939B-51D6-F6C20E258974}"/>
              </a:ext>
            </a:extLst>
          </p:cNvPr>
          <p:cNvPicPr>
            <a:picLocks noChangeAspect="1"/>
          </p:cNvPicPr>
          <p:nvPr/>
        </p:nvPicPr>
        <p:blipFill>
          <a:blip r:embed="rId3"/>
          <a:srcRect t="8564"/>
          <a:stretch>
            <a:fillRect/>
          </a:stretch>
        </p:blipFill>
        <p:spPr>
          <a:xfrm>
            <a:off x="6872039" y="2026250"/>
            <a:ext cx="4158000" cy="4105145"/>
          </a:xfrm>
          <a:prstGeom prst="rect">
            <a:avLst/>
          </a:prstGeom>
        </p:spPr>
      </p:pic>
    </p:spTree>
    <p:extLst>
      <p:ext uri="{BB962C8B-B14F-4D97-AF65-F5344CB8AC3E}">
        <p14:creationId xmlns:p14="http://schemas.microsoft.com/office/powerpoint/2010/main" val="3980689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AF36-25F0-EE26-A348-92D20929F8E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85FCC9EE-3F71-4961-EAA0-67D7E338BABF}"/>
              </a:ext>
            </a:extLst>
          </p:cNvPr>
          <p:cNvSpPr txBox="1">
            <a:spLocks/>
          </p:cNvSpPr>
          <p:nvPr/>
        </p:nvSpPr>
        <p:spPr>
          <a:xfrm>
            <a:off x="1097280" y="2746147"/>
            <a:ext cx="3779448" cy="2449629"/>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800" noProof="0">
                <a:solidFill>
                  <a:schemeClr val="tx1"/>
                </a:solidFill>
              </a:rPr>
              <a:t>Telefón: 480 s</a:t>
            </a:r>
          </a:p>
          <a:p>
            <a:pPr>
              <a:buFont typeface="Wingdings" panose="05000000000000000000" pitchFamily="2" charset="2"/>
              <a:buChar char="Ø"/>
            </a:pPr>
            <a:r>
              <a:rPr lang="sk-SK" sz="2800" noProof="0">
                <a:solidFill>
                  <a:schemeClr val="tx1"/>
                </a:solidFill>
              </a:rPr>
              <a:t>Online: 105 s</a:t>
            </a:r>
          </a:p>
          <a:p>
            <a:pPr>
              <a:buFont typeface="Wingdings" panose="05000000000000000000" pitchFamily="2" charset="2"/>
              <a:buChar char="Ø"/>
            </a:pPr>
            <a:r>
              <a:rPr lang="sk-SK" sz="2800" noProof="0">
                <a:solidFill>
                  <a:schemeClr val="tx1"/>
                </a:solidFill>
              </a:rPr>
              <a:t>Úspora 78 %</a:t>
            </a:r>
          </a:p>
          <a:p>
            <a:pPr>
              <a:buFont typeface="Wingdings" panose="05000000000000000000" pitchFamily="2" charset="2"/>
              <a:buChar char="Ø"/>
            </a:pPr>
            <a:endParaRPr lang="sk-SK" sz="2800" noProof="0">
              <a:solidFill>
                <a:schemeClr val="tx1"/>
              </a:solidFill>
            </a:endParaRPr>
          </a:p>
        </p:txBody>
      </p:sp>
      <p:sp>
        <p:nvSpPr>
          <p:cNvPr id="2" name="Nadpis 1">
            <a:extLst>
              <a:ext uri="{FF2B5EF4-FFF2-40B4-BE49-F238E27FC236}">
                <a16:creationId xmlns:a16="http://schemas.microsoft.com/office/drawing/2014/main" id="{229A5BE8-3D75-8168-C099-B5B0714D5620}"/>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Čas rezervácie</a:t>
            </a:r>
          </a:p>
        </p:txBody>
      </p:sp>
      <p:pic>
        <p:nvPicPr>
          <p:cNvPr id="12" name="Obrázok 11" descr="Obrázok, na ktorom je biely, dizajn&#10;&#10;Obsah vygenerovaný pomocou AI môže byť nesprávny.">
            <a:extLst>
              <a:ext uri="{FF2B5EF4-FFF2-40B4-BE49-F238E27FC236}">
                <a16:creationId xmlns:a16="http://schemas.microsoft.com/office/drawing/2014/main" id="{0A18CAC3-475F-C181-AA3D-F9188809BC46}"/>
              </a:ext>
            </a:extLst>
          </p:cNvPr>
          <p:cNvPicPr>
            <a:picLocks noChangeAspect="1"/>
          </p:cNvPicPr>
          <p:nvPr/>
        </p:nvPicPr>
        <p:blipFill>
          <a:blip r:embed="rId2"/>
          <a:stretch>
            <a:fillRect/>
          </a:stretch>
        </p:blipFill>
        <p:spPr>
          <a:xfrm>
            <a:off x="10488837" y="2236855"/>
            <a:ext cx="666843" cy="657317"/>
          </a:xfrm>
          <a:prstGeom prst="rect">
            <a:avLst/>
          </a:prstGeom>
        </p:spPr>
      </p:pic>
      <p:pic>
        <p:nvPicPr>
          <p:cNvPr id="5" name="Obrázok 4">
            <a:extLst>
              <a:ext uri="{FF2B5EF4-FFF2-40B4-BE49-F238E27FC236}">
                <a16:creationId xmlns:a16="http://schemas.microsoft.com/office/drawing/2014/main" id="{12EABD1A-65A3-7233-85F6-34E42E97692F}"/>
              </a:ext>
            </a:extLst>
          </p:cNvPr>
          <p:cNvPicPr>
            <a:picLocks noChangeAspect="1"/>
          </p:cNvPicPr>
          <p:nvPr/>
        </p:nvPicPr>
        <p:blipFill>
          <a:blip r:embed="rId3"/>
          <a:srcRect t="7638"/>
          <a:stretch>
            <a:fillRect/>
          </a:stretch>
        </p:blipFill>
        <p:spPr>
          <a:xfrm>
            <a:off x="6944201" y="1941904"/>
            <a:ext cx="3798000" cy="3996070"/>
          </a:xfrm>
          <a:prstGeom prst="rect">
            <a:avLst/>
          </a:prstGeom>
        </p:spPr>
      </p:pic>
    </p:spTree>
    <p:extLst>
      <p:ext uri="{BB962C8B-B14F-4D97-AF65-F5344CB8AC3E}">
        <p14:creationId xmlns:p14="http://schemas.microsoft.com/office/powerpoint/2010/main" val="1346626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CCC0-28A5-AC4A-B89B-04D64FE417B5}"/>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7A616CE2-F697-C05E-A914-BBD5431B8B4A}"/>
              </a:ext>
            </a:extLst>
          </p:cNvPr>
          <p:cNvSpPr txBox="1">
            <a:spLocks/>
          </p:cNvSpPr>
          <p:nvPr/>
        </p:nvSpPr>
        <p:spPr>
          <a:xfrm>
            <a:off x="1097280" y="2245568"/>
            <a:ext cx="11351320" cy="28988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800" noProof="0">
                <a:solidFill>
                  <a:schemeClr val="tx1"/>
                </a:solidFill>
              </a:rPr>
              <a:t>Telefón: 8–9 h denne</a:t>
            </a:r>
          </a:p>
          <a:p>
            <a:pPr>
              <a:buFont typeface="Wingdings" panose="05000000000000000000" pitchFamily="2" charset="2"/>
              <a:buChar char="Ø"/>
            </a:pPr>
            <a:r>
              <a:rPr lang="sk-SK" sz="2800" noProof="0">
                <a:solidFill>
                  <a:schemeClr val="tx1"/>
                </a:solidFill>
              </a:rPr>
              <a:t>Online: 24/7</a:t>
            </a:r>
          </a:p>
          <a:p>
            <a:pPr>
              <a:buFont typeface="Wingdings" panose="05000000000000000000" pitchFamily="2" charset="2"/>
              <a:buChar char="Ø"/>
            </a:pPr>
            <a:r>
              <a:rPr lang="sk-SK" sz="2800" noProof="0">
                <a:solidFill>
                  <a:schemeClr val="tx1"/>
                </a:solidFill>
              </a:rPr>
              <a:t>300 % vyššia dostupnosť</a:t>
            </a:r>
          </a:p>
        </p:txBody>
      </p:sp>
      <p:sp>
        <p:nvSpPr>
          <p:cNvPr id="2" name="Nadpis 1">
            <a:extLst>
              <a:ext uri="{FF2B5EF4-FFF2-40B4-BE49-F238E27FC236}">
                <a16:creationId xmlns:a16="http://schemas.microsoft.com/office/drawing/2014/main" id="{EBCD4AE6-4EF5-7150-FDE2-0EAC5C05C776}"/>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Dostupnosť</a:t>
            </a:r>
          </a:p>
        </p:txBody>
      </p:sp>
      <p:pic>
        <p:nvPicPr>
          <p:cNvPr id="12" name="Obrázok 11" descr="Obrázok, na ktorom je biely, dizajn&#10;&#10;Obsah vygenerovaný pomocou AI môže byť nesprávny.">
            <a:extLst>
              <a:ext uri="{FF2B5EF4-FFF2-40B4-BE49-F238E27FC236}">
                <a16:creationId xmlns:a16="http://schemas.microsoft.com/office/drawing/2014/main" id="{9782A3BD-45EC-934A-78F6-DE198DE3E80F}"/>
              </a:ext>
            </a:extLst>
          </p:cNvPr>
          <p:cNvPicPr>
            <a:picLocks noChangeAspect="1"/>
          </p:cNvPicPr>
          <p:nvPr/>
        </p:nvPicPr>
        <p:blipFill>
          <a:blip r:embed="rId2"/>
          <a:stretch>
            <a:fillRect/>
          </a:stretch>
        </p:blipFill>
        <p:spPr>
          <a:xfrm>
            <a:off x="10488837" y="2236855"/>
            <a:ext cx="666843" cy="657317"/>
          </a:xfrm>
          <a:prstGeom prst="rect">
            <a:avLst/>
          </a:prstGeom>
        </p:spPr>
      </p:pic>
      <p:pic>
        <p:nvPicPr>
          <p:cNvPr id="5" name="Obrázok 4">
            <a:extLst>
              <a:ext uri="{FF2B5EF4-FFF2-40B4-BE49-F238E27FC236}">
                <a16:creationId xmlns:a16="http://schemas.microsoft.com/office/drawing/2014/main" id="{08DDEEA3-A8FE-3982-E99F-FE9B28396E57}"/>
              </a:ext>
            </a:extLst>
          </p:cNvPr>
          <p:cNvPicPr>
            <a:picLocks noChangeAspect="1"/>
          </p:cNvPicPr>
          <p:nvPr/>
        </p:nvPicPr>
        <p:blipFill>
          <a:blip r:embed="rId3"/>
          <a:srcRect t="7655"/>
          <a:stretch>
            <a:fillRect/>
          </a:stretch>
        </p:blipFill>
        <p:spPr>
          <a:xfrm>
            <a:off x="6875850" y="2001187"/>
            <a:ext cx="3798000" cy="4115189"/>
          </a:xfrm>
          <a:prstGeom prst="rect">
            <a:avLst/>
          </a:prstGeom>
        </p:spPr>
      </p:pic>
      <p:pic>
        <p:nvPicPr>
          <p:cNvPr id="7" name="Obrázok 6">
            <a:extLst>
              <a:ext uri="{FF2B5EF4-FFF2-40B4-BE49-F238E27FC236}">
                <a16:creationId xmlns:a16="http://schemas.microsoft.com/office/drawing/2014/main" id="{F9FB2103-CD5A-4841-59A1-13E7EC9BCD1F}"/>
              </a:ext>
            </a:extLst>
          </p:cNvPr>
          <p:cNvPicPr>
            <a:picLocks noChangeAspect="1"/>
          </p:cNvPicPr>
          <p:nvPr/>
        </p:nvPicPr>
        <p:blipFill>
          <a:blip r:embed="rId4"/>
          <a:stretch>
            <a:fillRect/>
          </a:stretch>
        </p:blipFill>
        <p:spPr>
          <a:xfrm>
            <a:off x="8005097" y="1822272"/>
            <a:ext cx="666843" cy="234309"/>
          </a:xfrm>
          <a:prstGeom prst="rect">
            <a:avLst/>
          </a:prstGeom>
        </p:spPr>
      </p:pic>
    </p:spTree>
    <p:extLst>
      <p:ext uri="{BB962C8B-B14F-4D97-AF65-F5344CB8AC3E}">
        <p14:creationId xmlns:p14="http://schemas.microsoft.com/office/powerpoint/2010/main" val="1475934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DD89-4C5D-5F08-5A7F-BB69FC1CCA6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DF8D630-0360-D0D9-6D2B-AF6B4E174B4C}"/>
              </a:ext>
            </a:extLst>
          </p:cNvPr>
          <p:cNvSpPr>
            <a:spLocks noGrp="1"/>
          </p:cNvSpPr>
          <p:nvPr>
            <p:ph type="title" idx="4294967295"/>
          </p:nvPr>
        </p:nvSpPr>
        <p:spPr>
          <a:xfrm>
            <a:off x="1097280" y="286603"/>
            <a:ext cx="10058400" cy="1450757"/>
          </a:xfrm>
        </p:spPr>
        <p:txBody>
          <a:bodyPr>
            <a:normAutofit/>
          </a:bodyPr>
          <a:lstStyle/>
          <a:p>
            <a:r>
              <a:rPr lang="sk-SK" sz="6000" b="1" noProof="0">
                <a:solidFill>
                  <a:schemeClr val="tx1"/>
                </a:solidFill>
              </a:rPr>
              <a:t>Predstih objednania</a:t>
            </a:r>
          </a:p>
        </p:txBody>
      </p:sp>
      <p:sp>
        <p:nvSpPr>
          <p:cNvPr id="6" name="Zástupný objekt pre obsah 6">
            <a:extLst>
              <a:ext uri="{FF2B5EF4-FFF2-40B4-BE49-F238E27FC236}">
                <a16:creationId xmlns:a16="http://schemas.microsoft.com/office/drawing/2014/main" id="{9390DFCC-8767-7B70-BC0D-A5A16A6C9B64}"/>
              </a:ext>
            </a:extLst>
          </p:cNvPr>
          <p:cNvSpPr txBox="1">
            <a:spLocks/>
          </p:cNvSpPr>
          <p:nvPr/>
        </p:nvSpPr>
        <p:spPr>
          <a:xfrm>
            <a:off x="1097280" y="2566841"/>
            <a:ext cx="10998394" cy="2241082"/>
          </a:xfrm>
          <a:prstGeom prst="rect">
            <a:avLst/>
          </a:prstGeom>
        </p:spPr>
        <p:txBody>
          <a:bodyPr vert="horz" lIns="0" tIns="45720" rIns="0" bIns="45720" rtlCol="0" anchor="ctr">
            <a:normAutofit/>
          </a:bodyPr>
          <a:lstStyle>
            <a:defPPr>
              <a:defRPr lang="en-US"/>
            </a:defPPr>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Telefón: 14,2 dňa</a:t>
            </a:r>
          </a:p>
          <a:p>
            <a:r>
              <a:rPr lang="sk-SK" noProof="0"/>
              <a:t>Online: 8,4 dňa</a:t>
            </a:r>
          </a:p>
          <a:p>
            <a:r>
              <a:rPr lang="sk-SK" noProof="0"/>
              <a:t>Skrátenie o 59 %</a:t>
            </a:r>
          </a:p>
        </p:txBody>
      </p:sp>
      <p:pic>
        <p:nvPicPr>
          <p:cNvPr id="4" name="Obrázok 3">
            <a:extLst>
              <a:ext uri="{FF2B5EF4-FFF2-40B4-BE49-F238E27FC236}">
                <a16:creationId xmlns:a16="http://schemas.microsoft.com/office/drawing/2014/main" id="{CAC6624B-C864-462D-B560-2B485FC78361}"/>
              </a:ext>
            </a:extLst>
          </p:cNvPr>
          <p:cNvPicPr>
            <a:picLocks noChangeAspect="1"/>
          </p:cNvPicPr>
          <p:nvPr/>
        </p:nvPicPr>
        <p:blipFill>
          <a:blip r:embed="rId2"/>
          <a:srcRect l="1155" t="8533" b="2424"/>
          <a:stretch>
            <a:fillRect/>
          </a:stretch>
        </p:blipFill>
        <p:spPr>
          <a:xfrm>
            <a:off x="6914281" y="2066125"/>
            <a:ext cx="3797203" cy="4013589"/>
          </a:xfrm>
          <a:prstGeom prst="rect">
            <a:avLst/>
          </a:prstGeom>
        </p:spPr>
      </p:pic>
    </p:spTree>
    <p:extLst>
      <p:ext uri="{BB962C8B-B14F-4D97-AF65-F5344CB8AC3E}">
        <p14:creationId xmlns:p14="http://schemas.microsoft.com/office/powerpoint/2010/main" val="1860232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957580" y="758951"/>
            <a:ext cx="10541834" cy="3588077"/>
          </a:xfrm>
        </p:spPr>
        <p:txBody>
          <a:bodyPr>
            <a:normAutofit/>
          </a:bodyPr>
          <a:lstStyle/>
          <a:p>
            <a:pPr algn="ctr"/>
            <a:r>
              <a:rPr lang="sk-SK" sz="8800" b="1" noProof="0">
                <a:solidFill>
                  <a:schemeClr val="tx1"/>
                </a:solidFill>
              </a:rPr>
              <a:t>Etické aspekty projektu</a:t>
            </a:r>
          </a:p>
        </p:txBody>
      </p:sp>
      <p:sp>
        <p:nvSpPr>
          <p:cNvPr id="5" name="Podnadpis 4">
            <a:extLst>
              <a:ext uri="{FF2B5EF4-FFF2-40B4-BE49-F238E27FC236}">
                <a16:creationId xmlns:a16="http://schemas.microsoft.com/office/drawing/2014/main" id="{E52D3CBA-6A21-E5CF-D0D1-C2BBE2AB6134}"/>
              </a:ext>
            </a:extLst>
          </p:cNvPr>
          <p:cNvSpPr>
            <a:spLocks noGrp="1"/>
          </p:cNvSpPr>
          <p:nvPr>
            <p:ph type="subTitle" idx="1"/>
          </p:nvPr>
        </p:nvSpPr>
        <p:spPr/>
        <p:txBody>
          <a:bodyPr/>
          <a:lstStyle/>
          <a:p>
            <a:endParaRPr lang="sk-SK" noProof="0"/>
          </a:p>
        </p:txBody>
      </p:sp>
    </p:spTree>
    <p:extLst>
      <p:ext uri="{BB962C8B-B14F-4D97-AF65-F5344CB8AC3E}">
        <p14:creationId xmlns:p14="http://schemas.microsoft.com/office/powerpoint/2010/main" val="3671995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5" y="1889136"/>
            <a:ext cx="10450121" cy="47940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Nesmieme zvyšovať byrokratickú záťaž lekárov izolovaným systémom.</a:t>
            </a:r>
          </a:p>
        </p:txBody>
      </p:sp>
      <p:sp>
        <p:nvSpPr>
          <p:cNvPr id="5" name="Nadpis 1">
            <a:extLst>
              <a:ext uri="{FF2B5EF4-FFF2-40B4-BE49-F238E27FC236}">
                <a16:creationId xmlns:a16="http://schemas.microsoft.com/office/drawing/2014/main" id="{3C4E46B0-8C72-3D72-8B74-6AE46CBF7122}"/>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Etika voči zdravotníkom</a:t>
            </a:r>
          </a:p>
        </p:txBody>
      </p:sp>
      <p:pic>
        <p:nvPicPr>
          <p:cNvPr id="2050" name="Picture 2" descr="In this photo, we see a medical professional, perhaps a doctor, surrounded by towering stacks of paperwork, each one potentially representing a patient's case or medical records. The doctor's expression is one of stress and fatigue, suggesting the immense pressure healthcare workers often face. The blue lighting casts a cool hue over the scene, emphasizing the clinical setting and the stark contrast between the paperwork and the technology present, hinted by the computer monitor in the background. This image vividly captures the challenges of modern medicine and the administrative load that can accompany it.">
            <a:extLst>
              <a:ext uri="{FF2B5EF4-FFF2-40B4-BE49-F238E27FC236}">
                <a16:creationId xmlns:a16="http://schemas.microsoft.com/office/drawing/2014/main" id="{753C6693-6349-E440-B3B1-89FDD3FBB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205" b="12775"/>
          <a:stretch/>
        </p:blipFill>
        <p:spPr bwMode="auto">
          <a:xfrm>
            <a:off x="3581400" y="2378078"/>
            <a:ext cx="5029200" cy="3873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228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A2608AEE-7EB7-203E-0736-7B6FAAA3A534}"/>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Ochrana termínov pred zneužitím ("no-</a:t>
            </a:r>
            <a:r>
              <a:rPr lang="sk-SK" noProof="0" err="1"/>
              <a:t>shows</a:t>
            </a:r>
            <a:r>
              <a:rPr lang="sk-SK" noProof="0"/>
              <a:t>"), aby špekulanti neblokovali chorých.</a:t>
            </a:r>
          </a:p>
        </p:txBody>
      </p:sp>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Spravodlivá alokácia starostlivosti</a:t>
            </a:r>
          </a:p>
        </p:txBody>
      </p:sp>
      <p:pic>
        <p:nvPicPr>
          <p:cNvPr id="3074" name="Picture 2" descr="Modern Hospital Waiting Area with Empty Seats and Bright Interior Design  for Medical Facility 70576725 Stock Photo at Vecteezy">
            <a:extLst>
              <a:ext uri="{FF2B5EF4-FFF2-40B4-BE49-F238E27FC236}">
                <a16:creationId xmlns:a16="http://schemas.microsoft.com/office/drawing/2014/main" id="{E702D24E-FD0F-4791-3E4D-91101AB60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39" y="2939530"/>
            <a:ext cx="5784321" cy="3240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692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44F9-961B-5FDA-35A7-A22B5B81E215}"/>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60CA51E-D103-7EBA-80E4-822327A97F88}"/>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Hodnotenia nesmú trestať lekárov za vedecky správne, no nepopulárne rozhodnutia.</a:t>
            </a:r>
          </a:p>
        </p:txBody>
      </p:sp>
      <p:sp>
        <p:nvSpPr>
          <p:cNvPr id="5" name="Nadpis 1">
            <a:extLst>
              <a:ext uri="{FF2B5EF4-FFF2-40B4-BE49-F238E27FC236}">
                <a16:creationId xmlns:a16="http://schemas.microsoft.com/office/drawing/2014/main" id="{D1356CDC-342B-B126-066B-02A264817E79}"/>
              </a:ext>
            </a:extLst>
          </p:cNvPr>
          <p:cNvSpPr txBox="1">
            <a:spLocks/>
          </p:cNvSpPr>
          <p:nvPr/>
        </p:nvSpPr>
        <p:spPr>
          <a:xfrm>
            <a:off x="1066800" y="788020"/>
            <a:ext cx="10058400" cy="95880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Objektivita </a:t>
            </a:r>
            <a:r>
              <a:rPr lang="sk-SK" sz="5000" b="1" noProof="0" err="1">
                <a:solidFill>
                  <a:schemeClr val="tx1"/>
                </a:solidFill>
              </a:rPr>
              <a:t>vs</a:t>
            </a:r>
            <a:r>
              <a:rPr lang="sk-SK" sz="5000" b="1" noProof="0">
                <a:solidFill>
                  <a:schemeClr val="tx1"/>
                </a:solidFill>
              </a:rPr>
              <a:t>. Medicínsky populizmus</a:t>
            </a:r>
          </a:p>
        </p:txBody>
      </p:sp>
      <p:pic>
        <p:nvPicPr>
          <p:cNvPr id="4102" name="Picture 6" descr="Diagnostic Imaging - Santiam Hospital">
            <a:extLst>
              <a:ext uri="{FF2B5EF4-FFF2-40B4-BE49-F238E27FC236}">
                <a16:creationId xmlns:a16="http://schemas.microsoft.com/office/drawing/2014/main" id="{55BA7BF5-76DD-C578-D8F8-EE2D7798AC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232" y="2925570"/>
            <a:ext cx="5823535" cy="3275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183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8A381-5ABB-A866-AAE3-C2000ADCA9C7}"/>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9CF6C093-0DC1-15BC-A8B0-F552A6B0A37E}"/>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Ochrana mimoriadne citlivých dát (vyhľadávanie špecifických diagnóz a špecialistov).</a:t>
            </a:r>
          </a:p>
        </p:txBody>
      </p:sp>
      <p:sp>
        <p:nvSpPr>
          <p:cNvPr id="5" name="Nadpis 1">
            <a:extLst>
              <a:ext uri="{FF2B5EF4-FFF2-40B4-BE49-F238E27FC236}">
                <a16:creationId xmlns:a16="http://schemas.microsoft.com/office/drawing/2014/main" id="{74C3070B-F8B3-1C77-30A8-37C853801F7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Absolútne digitálne súkromie</a:t>
            </a:r>
          </a:p>
        </p:txBody>
      </p:sp>
      <p:pic>
        <p:nvPicPr>
          <p:cNvPr id="5122" name="Picture 2">
            <a:extLst>
              <a:ext uri="{FF2B5EF4-FFF2-40B4-BE49-F238E27FC236}">
                <a16:creationId xmlns:a16="http://schemas.microsoft.com/office/drawing/2014/main" id="{34BEE0E4-B8FA-7552-63DF-AD9CFD0B8C2A}"/>
              </a:ext>
            </a:extLst>
          </p:cNvPr>
          <p:cNvPicPr>
            <a:picLocks noChangeAspect="1" noChangeArrowheads="1"/>
          </p:cNvPicPr>
          <p:nvPr/>
        </p:nvPicPr>
        <p:blipFill>
          <a:blip r:embed="rId2"/>
          <a:srcRect/>
          <a:stretch/>
        </p:blipFill>
        <p:spPr bwMode="auto">
          <a:xfrm>
            <a:off x="3509466" y="2925570"/>
            <a:ext cx="5173067" cy="3233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911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716280" y="809752"/>
            <a:ext cx="10946198" cy="3566160"/>
          </a:xfrm>
        </p:spPr>
        <p:txBody>
          <a:bodyPr/>
          <a:lstStyle/>
          <a:p>
            <a:pPr algn="ctr"/>
            <a:r>
              <a:rPr lang="sk-SK" sz="8800" b="1" noProof="0" err="1">
                <a:solidFill>
                  <a:schemeClr val="tx1"/>
                </a:solidFill>
              </a:rPr>
              <a:t>Entitno</a:t>
            </a:r>
            <a:r>
              <a:rPr lang="sk-SK" sz="8800" b="1" noProof="0">
                <a:solidFill>
                  <a:schemeClr val="tx1"/>
                </a:solidFill>
              </a:rPr>
              <a:t>-relačný diagram</a:t>
            </a:r>
            <a:endParaRPr lang="sk-SK" sz="8800" b="1" noProof="0">
              <a:solidFill>
                <a:schemeClr val="tx1"/>
              </a:solidFill>
              <a:ea typeface="Calibri Light"/>
              <a:cs typeface="Calibri Light"/>
            </a:endParaRPr>
          </a:p>
        </p:txBody>
      </p:sp>
    </p:spTree>
    <p:extLst>
      <p:ext uri="{BB962C8B-B14F-4D97-AF65-F5344CB8AC3E}">
        <p14:creationId xmlns:p14="http://schemas.microsoft.com/office/powerpoint/2010/main" val="3932864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5" y="1889136"/>
            <a:ext cx="10450121" cy="47940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endParaRPr lang="sk-SK" noProof="0"/>
          </a:p>
        </p:txBody>
      </p:sp>
      <p:pic>
        <p:nvPicPr>
          <p:cNvPr id="6" name="Obrázok 5">
            <a:extLst>
              <a:ext uri="{FF2B5EF4-FFF2-40B4-BE49-F238E27FC236}">
                <a16:creationId xmlns:a16="http://schemas.microsoft.com/office/drawing/2014/main" id="{614DB339-F4D8-B929-9B0D-3A3FD810F95C}"/>
              </a:ext>
            </a:extLst>
          </p:cNvPr>
          <p:cNvPicPr>
            <a:picLocks noChangeAspect="1"/>
          </p:cNvPicPr>
          <p:nvPr/>
        </p:nvPicPr>
        <p:blipFill>
          <a:blip r:embed="rId3"/>
          <a:stretch>
            <a:fillRect/>
          </a:stretch>
        </p:blipFill>
        <p:spPr>
          <a:xfrm>
            <a:off x="2336200" y="533324"/>
            <a:ext cx="7519600" cy="5791351"/>
          </a:xfrm>
          <a:prstGeom prst="rect">
            <a:avLst/>
          </a:prstGeom>
        </p:spPr>
      </p:pic>
    </p:spTree>
    <p:extLst>
      <p:ext uri="{BB962C8B-B14F-4D97-AF65-F5344CB8AC3E}">
        <p14:creationId xmlns:p14="http://schemas.microsoft.com/office/powerpoint/2010/main" val="59955048"/>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857466" y="682751"/>
            <a:ext cx="8660973" cy="3664277"/>
          </a:xfrm>
        </p:spPr>
        <p:txBody>
          <a:bodyPr/>
          <a:lstStyle/>
          <a:p>
            <a:r>
              <a:rPr lang="sk-SK" sz="8800" b="1" noProof="0" err="1">
                <a:solidFill>
                  <a:schemeClr val="tx1"/>
                </a:solidFill>
              </a:rPr>
              <a:t>Social</a:t>
            </a:r>
            <a:r>
              <a:rPr lang="sk-SK" sz="8800" b="1" noProof="0">
                <a:solidFill>
                  <a:schemeClr val="tx1"/>
                </a:solidFill>
              </a:rPr>
              <a:t> </a:t>
            </a:r>
            <a:r>
              <a:rPr lang="sk-SK" sz="8800" b="1" noProof="0" err="1">
                <a:solidFill>
                  <a:schemeClr val="tx1"/>
                </a:solidFill>
              </a:rPr>
              <a:t>computing</a:t>
            </a:r>
            <a:endParaRPr lang="sk-SK" sz="8800" b="1" noProof="0">
              <a:solidFill>
                <a:schemeClr val="tx1"/>
              </a:solidFill>
            </a:endParaRPr>
          </a:p>
        </p:txBody>
      </p:sp>
    </p:spTree>
    <p:extLst>
      <p:ext uri="{BB962C8B-B14F-4D97-AF65-F5344CB8AC3E}">
        <p14:creationId xmlns:p14="http://schemas.microsoft.com/office/powerpoint/2010/main" val="3736653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A2608AEE-7EB7-203E-0736-7B6FAAA3A534}"/>
              </a:ext>
            </a:extLst>
          </p:cNvPr>
          <p:cNvSpPr txBox="1">
            <a:spLocks/>
          </p:cNvSpPr>
          <p:nvPr/>
        </p:nvSpPr>
        <p:spPr>
          <a:xfrm>
            <a:off x="718964" y="2241558"/>
            <a:ext cx="6889400" cy="3449236"/>
          </a:xfrm>
          <a:prstGeom prst="rect">
            <a:avLst/>
          </a:prstGeom>
        </p:spPr>
        <p:txBody>
          <a:bodyPr vert="horz" lIns="0" tIns="45720" rIns="0" bIns="45720" rtlCol="0" anchor="t">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Nutnosť modernizácie komunikácie ambulancia-pacient</a:t>
            </a:r>
          </a:p>
          <a:p>
            <a:r>
              <a:rPr lang="sk-SK" noProof="0"/>
              <a:t>Preťažené sestry, nedostupnosť pre pacientov</a:t>
            </a:r>
          </a:p>
          <a:p>
            <a:r>
              <a:rPr lang="sk-SK" noProof="0"/>
              <a:t>Konkurencia: rezervačné portály a interné systémy</a:t>
            </a:r>
          </a:p>
          <a:p>
            <a:r>
              <a:rPr lang="sk-SK" noProof="0"/>
              <a:t>Konkurenčná výhoda: overené dáta, priamočiarosť, zameranie na rezerváciu</a:t>
            </a:r>
          </a:p>
        </p:txBody>
      </p:sp>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Úvod</a:t>
            </a:r>
          </a:p>
        </p:txBody>
      </p:sp>
      <p:pic>
        <p:nvPicPr>
          <p:cNvPr id="1026" name="Picture 2" descr="Nurses On Phone Images – Browse 67,410 Stock Photos, Vectors, and Video |  Adobe Stock">
            <a:extLst>
              <a:ext uri="{FF2B5EF4-FFF2-40B4-BE49-F238E27FC236}">
                <a16:creationId xmlns:a16="http://schemas.microsoft.com/office/drawing/2014/main" id="{539114DD-DB05-76B2-CE1F-C0970B5F9C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8851"/>
          <a:stretch>
            <a:fillRect/>
          </a:stretch>
        </p:blipFill>
        <p:spPr bwMode="auto">
          <a:xfrm>
            <a:off x="8155094" y="1951106"/>
            <a:ext cx="3508148" cy="3824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235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3B4C-41EE-1F85-CCF9-030B232337DD}"/>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701C8B4-60DA-FF70-64DF-ECCEF4BBEE4C}"/>
              </a:ext>
            </a:extLst>
          </p:cNvPr>
          <p:cNvSpPr txBox="1">
            <a:spLocks/>
          </p:cNvSpPr>
          <p:nvPr/>
        </p:nvSpPr>
        <p:spPr>
          <a:xfrm>
            <a:off x="919286" y="2124133"/>
            <a:ext cx="6344008"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pPr lvl="0"/>
            <a:r>
              <a:rPr lang="sk-SK" noProof="0"/>
              <a:t>Sociálny dôkaz ako hlavný motivátor k rezervácii</a:t>
            </a:r>
          </a:p>
          <a:p>
            <a:pPr lvl="0"/>
            <a:r>
              <a:rPr lang="sk-SK" noProof="0"/>
              <a:t>Systém overených hodnotení od reálnych pacientov</a:t>
            </a:r>
          </a:p>
          <a:p>
            <a:pPr lvl="0"/>
            <a:r>
              <a:rPr lang="sk-SK" noProof="0"/>
              <a:t>Transparentné recenzie = konverzia návštevníka na pacienta</a:t>
            </a:r>
          </a:p>
        </p:txBody>
      </p:sp>
      <p:sp>
        <p:nvSpPr>
          <p:cNvPr id="5" name="Nadpis 1">
            <a:extLst>
              <a:ext uri="{FF2B5EF4-FFF2-40B4-BE49-F238E27FC236}">
                <a16:creationId xmlns:a16="http://schemas.microsoft.com/office/drawing/2014/main" id="{2BB4B134-2EC2-C2DF-B933-B0D7A87687A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err="1">
                <a:solidFill>
                  <a:schemeClr val="tx1"/>
                </a:solidFill>
              </a:rPr>
              <a:t>Social</a:t>
            </a:r>
            <a:r>
              <a:rPr lang="sk-SK" sz="5000" b="1" noProof="0">
                <a:solidFill>
                  <a:schemeClr val="tx1"/>
                </a:solidFill>
              </a:rPr>
              <a:t> </a:t>
            </a:r>
            <a:r>
              <a:rPr lang="sk-SK" sz="5000" b="1" noProof="0" err="1">
                <a:solidFill>
                  <a:schemeClr val="tx1"/>
                </a:solidFill>
              </a:rPr>
              <a:t>Commerce</a:t>
            </a:r>
            <a:endParaRPr lang="sk-SK" sz="5000" b="1" noProof="0">
              <a:solidFill>
                <a:schemeClr val="tx1"/>
              </a:solidFill>
            </a:endParaRPr>
          </a:p>
        </p:txBody>
      </p:sp>
      <p:pic>
        <p:nvPicPr>
          <p:cNvPr id="2050" name="Picture 2" descr="VerifiedReviews Customer Reviews Platform">
            <a:extLst>
              <a:ext uri="{FF2B5EF4-FFF2-40B4-BE49-F238E27FC236}">
                <a16:creationId xmlns:a16="http://schemas.microsoft.com/office/drawing/2014/main" id="{B507F686-CCB0-C6D1-9CDF-9477410F5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598" y="2003897"/>
            <a:ext cx="4124263" cy="3732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879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F3A9E-345B-28EE-77CB-642EDC357D2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06BFBB16-EAE0-3239-8D86-7A5EEEC01CB2}"/>
              </a:ext>
            </a:extLst>
          </p:cNvPr>
          <p:cNvSpPr txBox="1">
            <a:spLocks/>
          </p:cNvSpPr>
          <p:nvPr/>
        </p:nvSpPr>
        <p:spPr>
          <a:xfrm>
            <a:off x="1066800" y="1668122"/>
            <a:ext cx="11608340" cy="1863019"/>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noProof="0"/>
              <a:t>Primárny kanál: vyhľadávanie (meno lekára, špecializácia + lokalita)</a:t>
            </a:r>
          </a:p>
          <a:p>
            <a:r>
              <a:rPr lang="sk-SK" noProof="0"/>
              <a:t>Sekundárny kanál: prelinkovania z webov ambulancií</a:t>
            </a:r>
          </a:p>
          <a:p>
            <a:r>
              <a:rPr lang="sk-SK" noProof="0" err="1"/>
              <a:t>eTermín</a:t>
            </a:r>
            <a:r>
              <a:rPr lang="sk-SK" noProof="0"/>
              <a:t> ako hlavný objednávkový modul pre ambulancie</a:t>
            </a:r>
          </a:p>
        </p:txBody>
      </p:sp>
      <p:sp>
        <p:nvSpPr>
          <p:cNvPr id="5" name="Nadpis 1">
            <a:extLst>
              <a:ext uri="{FF2B5EF4-FFF2-40B4-BE49-F238E27FC236}">
                <a16:creationId xmlns:a16="http://schemas.microsoft.com/office/drawing/2014/main" id="{E115021B-84C6-6A9C-E120-1872C565FFF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Cesta zákazníka</a:t>
            </a:r>
          </a:p>
        </p:txBody>
      </p:sp>
      <p:pic>
        <p:nvPicPr>
          <p:cNvPr id="10" name="Obrázok 9">
            <a:extLst>
              <a:ext uri="{FF2B5EF4-FFF2-40B4-BE49-F238E27FC236}">
                <a16:creationId xmlns:a16="http://schemas.microsoft.com/office/drawing/2014/main" id="{EA526DE1-F1FD-32BE-713B-6C49B5BE3D27}"/>
              </a:ext>
            </a:extLst>
          </p:cNvPr>
          <p:cNvPicPr>
            <a:picLocks noChangeAspect="1"/>
          </p:cNvPicPr>
          <p:nvPr/>
        </p:nvPicPr>
        <p:blipFill>
          <a:blip r:embed="rId2"/>
          <a:stretch>
            <a:fillRect/>
          </a:stretch>
        </p:blipFill>
        <p:spPr>
          <a:xfrm>
            <a:off x="1994170" y="3531141"/>
            <a:ext cx="7859949" cy="2725212"/>
          </a:xfrm>
          <a:prstGeom prst="rect">
            <a:avLst/>
          </a:prstGeom>
        </p:spPr>
      </p:pic>
    </p:spTree>
    <p:extLst>
      <p:ext uri="{BB962C8B-B14F-4D97-AF65-F5344CB8AC3E}">
        <p14:creationId xmlns:p14="http://schemas.microsoft.com/office/powerpoint/2010/main" val="309470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8E1C-A3E0-EBBD-8D9B-4A572E3F013C}"/>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D15866B9-11A5-4C59-9C03-41FDFD6D2808}"/>
              </a:ext>
            </a:extLst>
          </p:cNvPr>
          <p:cNvSpPr txBox="1">
            <a:spLocks/>
          </p:cNvSpPr>
          <p:nvPr/>
        </p:nvSpPr>
        <p:spPr>
          <a:xfrm>
            <a:off x="919286" y="1821897"/>
            <a:ext cx="6468485" cy="4248083"/>
          </a:xfrm>
          <a:prstGeom prst="rect">
            <a:avLst/>
          </a:prstGeom>
        </p:spPr>
        <p:txBody>
          <a:bodyPr vert="horz" lIns="0" tIns="45720" rIns="0" bIns="45720" rtlCol="0" anchor="ctr">
            <a:normAutofit fontScale="92500" lnSpcReduction="10000"/>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b="1" noProof="0"/>
              <a:t>B2B</a:t>
            </a:r>
            <a:r>
              <a:rPr lang="sk-SK" noProof="0"/>
              <a:t> (lekári, kliniky)</a:t>
            </a:r>
          </a:p>
          <a:p>
            <a:pPr marL="0" indent="0">
              <a:buNone/>
            </a:pPr>
            <a:r>
              <a:rPr lang="sk-SK" noProof="0"/>
              <a:t>	Úspora času a zníženie administratívnej 	záťaže</a:t>
            </a:r>
          </a:p>
          <a:p>
            <a:pPr marL="0" indent="0">
              <a:buNone/>
            </a:pPr>
            <a:r>
              <a:rPr lang="sk-SK" noProof="0"/>
              <a:t>	Kanály: priamy predaj, odborné 	podujatia</a:t>
            </a:r>
          </a:p>
          <a:p>
            <a:r>
              <a:rPr lang="sk-SK" b="1" noProof="0"/>
              <a:t>B2C</a:t>
            </a:r>
            <a:r>
              <a:rPr lang="sk-SK" noProof="0"/>
              <a:t> (pacienti)</a:t>
            </a:r>
          </a:p>
          <a:p>
            <a:pPr marL="0" indent="0">
              <a:buNone/>
            </a:pPr>
            <a:r>
              <a:rPr lang="sk-SK" noProof="0"/>
              <a:t>	Budovanie značky ako spoľahlivého 	partnera</a:t>
            </a:r>
          </a:p>
          <a:p>
            <a:pPr marL="0" indent="0">
              <a:buNone/>
            </a:pPr>
            <a:r>
              <a:rPr lang="sk-SK" noProof="0"/>
              <a:t>	Posolstvo: rezervácia jednoduchá, rýchla, 	bez prekážok</a:t>
            </a:r>
          </a:p>
        </p:txBody>
      </p:sp>
      <p:sp>
        <p:nvSpPr>
          <p:cNvPr id="5" name="Nadpis 1">
            <a:extLst>
              <a:ext uri="{FF2B5EF4-FFF2-40B4-BE49-F238E27FC236}">
                <a16:creationId xmlns:a16="http://schemas.microsoft.com/office/drawing/2014/main" id="{3E12D995-8BCD-5C93-AC22-49EBB493E016}"/>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noProof="0">
                <a:solidFill>
                  <a:schemeClr val="tx1"/>
                </a:solidFill>
              </a:rPr>
              <a:t>Akvizičná stratégia</a:t>
            </a:r>
          </a:p>
        </p:txBody>
      </p:sp>
      <p:pic>
        <p:nvPicPr>
          <p:cNvPr id="4098" name="Picture 2" descr="Are You Ready for the Age of Patient Empowerment?">
            <a:extLst>
              <a:ext uri="{FF2B5EF4-FFF2-40B4-BE49-F238E27FC236}">
                <a16:creationId xmlns:a16="http://schemas.microsoft.com/office/drawing/2014/main" id="{F514808A-5BAE-6AE8-C3FE-F825B1DE2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7084" y="2402037"/>
            <a:ext cx="4360388" cy="2906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636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993866" y="809752"/>
            <a:ext cx="10091370" cy="3566160"/>
          </a:xfrm>
        </p:spPr>
        <p:txBody>
          <a:bodyPr/>
          <a:lstStyle/>
          <a:p>
            <a:pPr algn="ctr"/>
            <a:r>
              <a:rPr lang="en-US" sz="8800" b="1" err="1">
                <a:solidFill>
                  <a:schemeClr val="tx1"/>
                </a:solidFill>
              </a:rPr>
              <a:t>Ganttov</a:t>
            </a:r>
            <a:r>
              <a:rPr lang="en-US" sz="8800" b="1">
                <a:solidFill>
                  <a:schemeClr val="tx1"/>
                </a:solidFill>
              </a:rPr>
              <a:t> diagram</a:t>
            </a:r>
            <a:endParaRPr lang="en-US" sz="8800" b="1">
              <a:solidFill>
                <a:schemeClr val="tx1"/>
              </a:solidFill>
              <a:ea typeface="Calibri Light"/>
              <a:cs typeface="Calibri Light"/>
            </a:endParaRPr>
          </a:p>
        </p:txBody>
      </p:sp>
    </p:spTree>
    <p:extLst>
      <p:ext uri="{BB962C8B-B14F-4D97-AF65-F5344CB8AC3E}">
        <p14:creationId xmlns:p14="http://schemas.microsoft.com/office/powerpoint/2010/main" val="1663602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err="1">
                <a:solidFill>
                  <a:schemeClr val="tx1"/>
                </a:solidFill>
              </a:rPr>
              <a:t>Harmonogram</a:t>
            </a:r>
            <a:r>
              <a:rPr lang="en-US" b="1">
                <a:solidFill>
                  <a:schemeClr val="tx1"/>
                </a:solidFill>
              </a:rPr>
              <a:t> </a:t>
            </a:r>
            <a:r>
              <a:rPr lang="en-US" b="1" err="1">
                <a:solidFill>
                  <a:schemeClr val="tx1"/>
                </a:solidFill>
              </a:rPr>
              <a:t>realizácie</a:t>
            </a:r>
            <a:r>
              <a:rPr lang="en-US" b="1">
                <a:solidFill>
                  <a:schemeClr val="tx1"/>
                </a:solidFill>
              </a:rPr>
              <a:t> </a:t>
            </a:r>
            <a:r>
              <a:rPr lang="en-US" b="1" err="1">
                <a:solidFill>
                  <a:schemeClr val="tx1"/>
                </a:solidFill>
              </a:rPr>
              <a:t>eTermín</a:t>
            </a:r>
            <a:endParaRPr lang="sk-SK" sz="5000" b="1">
              <a:solidFill>
                <a:schemeClr val="tx1"/>
              </a:solidFill>
            </a:endParaRPr>
          </a:p>
        </p:txBody>
      </p:sp>
      <p:pic>
        <p:nvPicPr>
          <p:cNvPr id="3" name="Obrázok 2" descr="Obrázok, na ktorom je text, snímka obrazovky, operačný systém, počítačová ikona&#10;&#10;Obsah vygenerovaný pomocou AI môže byť nesprávny.">
            <a:extLst>
              <a:ext uri="{FF2B5EF4-FFF2-40B4-BE49-F238E27FC236}">
                <a16:creationId xmlns:a16="http://schemas.microsoft.com/office/drawing/2014/main" id="{2D57565F-7890-8A06-56DA-AF0A0323466A}"/>
              </a:ext>
            </a:extLst>
          </p:cNvPr>
          <p:cNvPicPr>
            <a:picLocks noChangeAspect="1"/>
          </p:cNvPicPr>
          <p:nvPr/>
        </p:nvPicPr>
        <p:blipFill>
          <a:blip r:embed="rId2"/>
          <a:stretch>
            <a:fillRect/>
          </a:stretch>
        </p:blipFill>
        <p:spPr>
          <a:xfrm>
            <a:off x="534402" y="1919539"/>
            <a:ext cx="11133221" cy="4001502"/>
          </a:xfrm>
          <a:prstGeom prst="rect">
            <a:avLst/>
          </a:prstGeom>
        </p:spPr>
      </p:pic>
    </p:spTree>
    <p:extLst>
      <p:ext uri="{BB962C8B-B14F-4D97-AF65-F5344CB8AC3E}">
        <p14:creationId xmlns:p14="http://schemas.microsoft.com/office/powerpoint/2010/main" val="2833734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3B4C-41EE-1F85-CCF9-030B232337DD}"/>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701C8B4-60DA-FF70-64DF-ECCEF4BBEE4C}"/>
              </a:ext>
            </a:extLst>
          </p:cNvPr>
          <p:cNvSpPr txBox="1">
            <a:spLocks/>
          </p:cNvSpPr>
          <p:nvPr/>
        </p:nvSpPr>
        <p:spPr>
          <a:xfrm>
            <a:off x="583684" y="2206377"/>
            <a:ext cx="6028031"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 </a:t>
            </a:r>
            <a:r>
              <a:rPr lang="en-US" err="1"/>
              <a:t>Transformácia</a:t>
            </a:r>
            <a:r>
              <a:rPr lang="en-US"/>
              <a:t> </a:t>
            </a:r>
            <a:r>
              <a:rPr lang="en-US" err="1"/>
              <a:t>papierových</a:t>
            </a:r>
            <a:r>
              <a:rPr lang="en-US"/>
              <a:t> </a:t>
            </a:r>
            <a:r>
              <a:rPr lang="en-US" err="1"/>
              <a:t>procesov</a:t>
            </a:r>
            <a:r>
              <a:rPr lang="en-US"/>
              <a:t> do </a:t>
            </a:r>
            <a:r>
              <a:rPr lang="en-US" err="1"/>
              <a:t>digitálu</a:t>
            </a:r>
            <a:r>
              <a:rPr lang="en-US"/>
              <a:t>. </a:t>
            </a:r>
            <a:r>
              <a:rPr lang="en-US" err="1"/>
              <a:t>Definujeme</a:t>
            </a:r>
            <a:r>
              <a:rPr lang="en-US"/>
              <a:t> </a:t>
            </a:r>
            <a:r>
              <a:rPr lang="en-US" err="1"/>
              <a:t>ako</a:t>
            </a:r>
            <a:r>
              <a:rPr lang="en-US"/>
              <a:t> m</a:t>
            </a:r>
            <a:r>
              <a:rPr lang="sk-SK"/>
              <a:t>á </a:t>
            </a:r>
            <a:r>
              <a:rPr lang="en-US" err="1"/>
              <a:t>systém</a:t>
            </a:r>
            <a:r>
              <a:rPr lang="en-US"/>
              <a:t> </a:t>
            </a:r>
            <a:r>
              <a:rPr lang="en-US" err="1"/>
              <a:t>efektívne</a:t>
            </a:r>
            <a:r>
              <a:rPr lang="en-US"/>
              <a:t> </a:t>
            </a:r>
            <a:r>
              <a:rPr lang="en-US" err="1"/>
              <a:t>nahrádza</a:t>
            </a:r>
            <a:r>
              <a:rPr lang="sk-SK"/>
              <a:t>ť</a:t>
            </a:r>
            <a:r>
              <a:rPr lang="en-US"/>
              <a:t> </a:t>
            </a:r>
            <a:r>
              <a:rPr lang="en-US" err="1"/>
              <a:t>papie</a:t>
            </a:r>
            <a:r>
              <a:rPr lang="sk-SK"/>
              <a:t>r</a:t>
            </a:r>
            <a:r>
              <a:rPr lang="en-US"/>
              <a:t>.</a:t>
            </a:r>
          </a:p>
          <a:p>
            <a:r>
              <a:rPr lang="sk-SK"/>
              <a:t> </a:t>
            </a:r>
            <a:r>
              <a:rPr lang="en-US" err="1"/>
              <a:t>Návrh</a:t>
            </a:r>
            <a:r>
              <a:rPr lang="en-US"/>
              <a:t> </a:t>
            </a:r>
            <a:r>
              <a:rPr lang="en-US" err="1"/>
              <a:t>rozhrania</a:t>
            </a:r>
            <a:r>
              <a:rPr lang="en-US"/>
              <a:t> s </a:t>
            </a:r>
            <a:r>
              <a:rPr lang="en-US" err="1"/>
              <a:t>dôrazom</a:t>
            </a:r>
            <a:r>
              <a:rPr lang="en-US"/>
              <a:t> </a:t>
            </a:r>
            <a:r>
              <a:rPr lang="en-US" err="1"/>
              <a:t>na</a:t>
            </a:r>
            <a:r>
              <a:rPr lang="en-US"/>
              <a:t> </a:t>
            </a:r>
            <a:r>
              <a:rPr lang="en-US" err="1"/>
              <a:t>overené</a:t>
            </a:r>
            <a:r>
              <a:rPr lang="en-US"/>
              <a:t> </a:t>
            </a:r>
            <a:r>
              <a:rPr lang="en-US" err="1"/>
              <a:t>recenzie</a:t>
            </a:r>
            <a:r>
              <a:rPr lang="en-US"/>
              <a:t>. </a:t>
            </a:r>
          </a:p>
        </p:txBody>
      </p:sp>
      <p:sp>
        <p:nvSpPr>
          <p:cNvPr id="5" name="Nadpis 1">
            <a:extLst>
              <a:ext uri="{FF2B5EF4-FFF2-40B4-BE49-F238E27FC236}">
                <a16:creationId xmlns:a16="http://schemas.microsoft.com/office/drawing/2014/main" id="{2BB4B134-2EC2-C2DF-B933-B0D7A87687A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defPPr>
              <a:defRPr lang="en-US"/>
            </a:defPPr>
            <a:lvl1pPr defTabSz="914400">
              <a:lnSpc>
                <a:spcPct val="85000"/>
              </a:lnSpc>
              <a:spcBef>
                <a:spcPct val="0"/>
              </a:spcBef>
              <a:buNone/>
              <a:defRPr sz="5000" b="1" spc="-50" baseline="0">
                <a:latin typeface="+mj-lt"/>
                <a:ea typeface="+mj-ea"/>
                <a:cs typeface="+mj-cs"/>
              </a:defRPr>
            </a:lvl1pPr>
          </a:lstStyle>
          <a:p>
            <a:r>
              <a:rPr lang="en-US" err="1"/>
              <a:t>Analýza</a:t>
            </a:r>
            <a:r>
              <a:rPr lang="en-US"/>
              <a:t> &amp; UX </a:t>
            </a:r>
            <a:r>
              <a:rPr lang="en-US" err="1"/>
              <a:t>návrh</a:t>
            </a:r>
            <a:endParaRPr lang="sk-SK"/>
          </a:p>
        </p:txBody>
      </p:sp>
      <p:pic>
        <p:nvPicPr>
          <p:cNvPr id="2" name="Picture 2" descr="Čo je UX a UI dizajn a aký je rozdiel medzi nimi? • ui42.sk">
            <a:extLst>
              <a:ext uri="{FF2B5EF4-FFF2-40B4-BE49-F238E27FC236}">
                <a16:creationId xmlns:a16="http://schemas.microsoft.com/office/drawing/2014/main" id="{03FC8FD1-628C-E98F-B577-4CA572657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9016" y="2410778"/>
            <a:ext cx="4575899" cy="3054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384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164C-B8E2-1908-A346-9CD6D4DD7E3E}"/>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E4FB3229-4AB2-F54B-BFDA-59EEE21A4C6B}"/>
              </a:ext>
            </a:extLst>
          </p:cNvPr>
          <p:cNvSpPr txBox="1">
            <a:spLocks/>
          </p:cNvSpPr>
          <p:nvPr/>
        </p:nvSpPr>
        <p:spPr>
          <a:xfrm>
            <a:off x="919286" y="2124133"/>
            <a:ext cx="6344008"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err="1"/>
              <a:t>Technické</a:t>
            </a:r>
            <a:r>
              <a:rPr lang="en-US"/>
              <a:t> </a:t>
            </a:r>
            <a:r>
              <a:rPr lang="en-US" err="1"/>
              <a:t>jadro</a:t>
            </a:r>
            <a:r>
              <a:rPr lang="en-US"/>
              <a:t>. </a:t>
            </a:r>
            <a:endParaRPr lang="sk-SK"/>
          </a:p>
          <a:p>
            <a:r>
              <a:rPr lang="en-US" err="1"/>
              <a:t>Musí</a:t>
            </a:r>
            <a:r>
              <a:rPr lang="en-US"/>
              <a:t> </a:t>
            </a:r>
            <a:r>
              <a:rPr lang="en-US" err="1"/>
              <a:t>zabezpečiť</a:t>
            </a:r>
            <a:r>
              <a:rPr lang="en-US"/>
              <a:t> </a:t>
            </a:r>
            <a:r>
              <a:rPr lang="en-US" err="1"/>
              <a:t>nulovú</a:t>
            </a:r>
            <a:r>
              <a:rPr lang="en-US"/>
              <a:t> </a:t>
            </a:r>
            <a:r>
              <a:rPr lang="en-US" err="1"/>
              <a:t>chybovosť</a:t>
            </a:r>
            <a:r>
              <a:rPr lang="en-US"/>
              <a:t> a </a:t>
            </a:r>
            <a:r>
              <a:rPr lang="en-US" err="1"/>
              <a:t>ochranu</a:t>
            </a:r>
            <a:r>
              <a:rPr lang="en-US"/>
              <a:t> </a:t>
            </a:r>
            <a:r>
              <a:rPr lang="en-US" err="1"/>
              <a:t>údajov</a:t>
            </a:r>
            <a:r>
              <a:rPr lang="en-US"/>
              <a:t>.</a:t>
            </a:r>
            <a:endParaRPr lang="sk-SK"/>
          </a:p>
        </p:txBody>
      </p:sp>
      <p:sp>
        <p:nvSpPr>
          <p:cNvPr id="5" name="Nadpis 1">
            <a:extLst>
              <a:ext uri="{FF2B5EF4-FFF2-40B4-BE49-F238E27FC236}">
                <a16:creationId xmlns:a16="http://schemas.microsoft.com/office/drawing/2014/main" id="{5C1A4E41-5F75-77B0-75AA-B2B939B727B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err="1">
                <a:solidFill>
                  <a:schemeClr val="tx1"/>
                </a:solidFill>
              </a:rPr>
              <a:t>Vývoj</a:t>
            </a:r>
            <a:r>
              <a:rPr lang="en-US" sz="5000" b="1">
                <a:solidFill>
                  <a:schemeClr val="tx1"/>
                </a:solidFill>
              </a:rPr>
              <a:t> </a:t>
            </a:r>
            <a:r>
              <a:rPr lang="en-US" sz="5000" b="1" err="1">
                <a:solidFill>
                  <a:schemeClr val="tx1"/>
                </a:solidFill>
              </a:rPr>
              <a:t>jadra</a:t>
            </a:r>
            <a:r>
              <a:rPr lang="en-US" sz="5000" b="1">
                <a:solidFill>
                  <a:schemeClr val="tx1"/>
                </a:solidFill>
              </a:rPr>
              <a:t> (Backend)</a:t>
            </a:r>
            <a:endParaRPr lang="sk-SK" sz="5000" b="1">
              <a:solidFill>
                <a:schemeClr val="tx1"/>
              </a:solidFill>
            </a:endParaRPr>
          </a:p>
        </p:txBody>
      </p:sp>
      <p:pic>
        <p:nvPicPr>
          <p:cNvPr id="3074" name="Picture 2" descr="How to Become a Backend Developer: Important Skills to Learn">
            <a:extLst>
              <a:ext uri="{FF2B5EF4-FFF2-40B4-BE49-F238E27FC236}">
                <a16:creationId xmlns:a16="http://schemas.microsoft.com/office/drawing/2014/main" id="{110E51CF-E9D5-06EE-239A-0445C5BBE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8624" y="2633213"/>
            <a:ext cx="4896294" cy="2448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6712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036D-34C8-3F69-339E-4EC799D1EAE9}"/>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C8AFF928-74CC-5CB2-AB3D-E3F5E405BB3B}"/>
              </a:ext>
            </a:extLst>
          </p:cNvPr>
          <p:cNvSpPr txBox="1">
            <a:spLocks/>
          </p:cNvSpPr>
          <p:nvPr/>
        </p:nvSpPr>
        <p:spPr>
          <a:xfrm>
            <a:off x="919286" y="2124133"/>
            <a:ext cx="4928621"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err="1"/>
              <a:t>Vývoj</a:t>
            </a:r>
            <a:r>
              <a:rPr lang="en-US"/>
              <a:t> </a:t>
            </a:r>
            <a:r>
              <a:rPr lang="en-US" err="1"/>
              <a:t>prostredia</a:t>
            </a:r>
            <a:r>
              <a:rPr lang="en-US"/>
              <a:t> pre </a:t>
            </a:r>
            <a:r>
              <a:rPr lang="en-US" err="1"/>
              <a:t>personál</a:t>
            </a:r>
            <a:r>
              <a:rPr lang="en-US"/>
              <a:t>.</a:t>
            </a:r>
            <a:endParaRPr lang="sk-SK"/>
          </a:p>
        </p:txBody>
      </p:sp>
      <p:sp>
        <p:nvSpPr>
          <p:cNvPr id="5" name="Nadpis 1">
            <a:extLst>
              <a:ext uri="{FF2B5EF4-FFF2-40B4-BE49-F238E27FC236}">
                <a16:creationId xmlns:a16="http://schemas.microsoft.com/office/drawing/2014/main" id="{A9E34ED1-FDC3-F9AF-E1FA-8615C9B10EF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err="1">
                <a:solidFill>
                  <a:schemeClr val="tx1"/>
                </a:solidFill>
              </a:rPr>
              <a:t>Administrácia</a:t>
            </a:r>
            <a:r>
              <a:rPr lang="en-US" sz="5000" b="1">
                <a:solidFill>
                  <a:schemeClr val="tx1"/>
                </a:solidFill>
              </a:rPr>
              <a:t> &amp; Frontend</a:t>
            </a:r>
            <a:endParaRPr lang="sk-SK" sz="5000" b="1">
              <a:solidFill>
                <a:schemeClr val="tx1"/>
              </a:solidFill>
            </a:endParaRPr>
          </a:p>
        </p:txBody>
      </p:sp>
      <p:pic>
        <p:nvPicPr>
          <p:cNvPr id="4" name="Obrázok 3">
            <a:extLst>
              <a:ext uri="{FF2B5EF4-FFF2-40B4-BE49-F238E27FC236}">
                <a16:creationId xmlns:a16="http://schemas.microsoft.com/office/drawing/2014/main" id="{8B7D91FE-E345-DBB4-FC33-CAEAAAB9295B}"/>
              </a:ext>
            </a:extLst>
          </p:cNvPr>
          <p:cNvPicPr>
            <a:picLocks noChangeAspect="1"/>
          </p:cNvPicPr>
          <p:nvPr/>
        </p:nvPicPr>
        <p:blipFill>
          <a:blip r:embed="rId2"/>
          <a:srcRect l="5473" t="8415" r="5917" b="9299"/>
          <a:stretch>
            <a:fillRect/>
          </a:stretch>
        </p:blipFill>
        <p:spPr>
          <a:xfrm>
            <a:off x="6096000" y="2351247"/>
            <a:ext cx="5451902" cy="3012080"/>
          </a:xfrm>
          <a:prstGeom prst="rect">
            <a:avLst/>
          </a:prstGeom>
        </p:spPr>
      </p:pic>
    </p:spTree>
    <p:extLst>
      <p:ext uri="{BB962C8B-B14F-4D97-AF65-F5344CB8AC3E}">
        <p14:creationId xmlns:p14="http://schemas.microsoft.com/office/powerpoint/2010/main" val="603959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06792-70E7-F413-0118-6A67883299BA}"/>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5930372C-5E5D-79B1-06FB-085A2048A375}"/>
              </a:ext>
            </a:extLst>
          </p:cNvPr>
          <p:cNvSpPr txBox="1">
            <a:spLocks/>
          </p:cNvSpPr>
          <p:nvPr/>
        </p:nvSpPr>
        <p:spPr>
          <a:xfrm>
            <a:off x="919286" y="2124133"/>
            <a:ext cx="6344008"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pPr lvl="0" fontAlgn="base"/>
            <a:r>
              <a:rPr lang="en-US" err="1"/>
              <a:t>Nasadenie</a:t>
            </a:r>
            <a:r>
              <a:rPr lang="en-US"/>
              <a:t> SMS </a:t>
            </a:r>
            <a:r>
              <a:rPr lang="en-US" err="1"/>
              <a:t>notifikácií</a:t>
            </a:r>
            <a:r>
              <a:rPr lang="en-US"/>
              <a:t> </a:t>
            </a:r>
            <a:endParaRPr lang="sk-SK"/>
          </a:p>
          <a:p>
            <a:pPr lvl="0" fontAlgn="base"/>
            <a:r>
              <a:rPr lang="sk-SK"/>
              <a:t>F</a:t>
            </a:r>
            <a:r>
              <a:rPr lang="en-US" err="1"/>
              <a:t>inálny</a:t>
            </a:r>
            <a:r>
              <a:rPr lang="en-US"/>
              <a:t> audit </a:t>
            </a:r>
            <a:r>
              <a:rPr lang="en-US" err="1"/>
              <a:t>bezpečnosti</a:t>
            </a:r>
            <a:r>
              <a:rPr lang="en-US"/>
              <a:t> </a:t>
            </a:r>
            <a:r>
              <a:rPr lang="en-US" err="1"/>
              <a:t>podľa</a:t>
            </a:r>
            <a:r>
              <a:rPr lang="en-US"/>
              <a:t> GDPR.</a:t>
            </a:r>
          </a:p>
          <a:p>
            <a:pPr lvl="0"/>
            <a:endParaRPr lang="sk-SK"/>
          </a:p>
        </p:txBody>
      </p:sp>
      <p:sp>
        <p:nvSpPr>
          <p:cNvPr id="5" name="Nadpis 1">
            <a:extLst>
              <a:ext uri="{FF2B5EF4-FFF2-40B4-BE49-F238E27FC236}">
                <a16:creationId xmlns:a16="http://schemas.microsoft.com/office/drawing/2014/main" id="{941742EA-73E5-A829-9AA1-6171B9332627}"/>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err="1">
                <a:solidFill>
                  <a:schemeClr val="tx1"/>
                </a:solidFill>
              </a:rPr>
              <a:t>Notifikácie</a:t>
            </a:r>
            <a:r>
              <a:rPr lang="en-US" sz="5000" b="1">
                <a:solidFill>
                  <a:schemeClr val="tx1"/>
                </a:solidFill>
              </a:rPr>
              <a:t> &amp; GDPR</a:t>
            </a:r>
            <a:endParaRPr lang="sk-SK" sz="5000" b="1">
              <a:solidFill>
                <a:schemeClr val="tx1"/>
              </a:solidFill>
            </a:endParaRPr>
          </a:p>
        </p:txBody>
      </p:sp>
      <p:pic>
        <p:nvPicPr>
          <p:cNvPr id="4" name="Obrázok 3">
            <a:extLst>
              <a:ext uri="{FF2B5EF4-FFF2-40B4-BE49-F238E27FC236}">
                <a16:creationId xmlns:a16="http://schemas.microsoft.com/office/drawing/2014/main" id="{434EA835-5578-621A-82F2-9ABB8CBF675F}"/>
              </a:ext>
            </a:extLst>
          </p:cNvPr>
          <p:cNvPicPr>
            <a:picLocks noChangeAspect="1"/>
          </p:cNvPicPr>
          <p:nvPr/>
        </p:nvPicPr>
        <p:blipFill>
          <a:blip r:embed="rId2"/>
          <a:stretch>
            <a:fillRect/>
          </a:stretch>
        </p:blipFill>
        <p:spPr>
          <a:xfrm>
            <a:off x="7310314" y="1876087"/>
            <a:ext cx="3962400" cy="3962400"/>
          </a:xfrm>
          <a:prstGeom prst="rect">
            <a:avLst/>
          </a:prstGeom>
        </p:spPr>
      </p:pic>
    </p:spTree>
    <p:extLst>
      <p:ext uri="{BB962C8B-B14F-4D97-AF65-F5344CB8AC3E}">
        <p14:creationId xmlns:p14="http://schemas.microsoft.com/office/powerpoint/2010/main" val="2974072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33CF0-E08B-111A-428C-BCA2DD68AA9A}"/>
            </a:ext>
          </a:extLst>
        </p:cNvPr>
        <p:cNvGrpSpPr/>
        <p:nvPr/>
      </p:nvGrpSpPr>
      <p:grpSpPr>
        <a:xfrm>
          <a:off x="0" y="0"/>
          <a:ext cx="0" cy="0"/>
          <a:chOff x="0" y="0"/>
          <a:chExt cx="0" cy="0"/>
        </a:xfrm>
      </p:grpSpPr>
      <p:pic>
        <p:nvPicPr>
          <p:cNvPr id="7" name="Obrázok 6">
            <a:extLst>
              <a:ext uri="{FF2B5EF4-FFF2-40B4-BE49-F238E27FC236}">
                <a16:creationId xmlns:a16="http://schemas.microsoft.com/office/drawing/2014/main" id="{D91EC476-4FBB-1AD4-A3DC-9B0FEDD2D8D2}"/>
              </a:ext>
            </a:extLst>
          </p:cNvPr>
          <p:cNvPicPr>
            <a:picLocks noChangeAspect="1"/>
          </p:cNvPicPr>
          <p:nvPr/>
        </p:nvPicPr>
        <p:blipFill>
          <a:blip r:embed="rId2"/>
          <a:srcRect l="20546" t="5536" r="12664" b="9894"/>
          <a:stretch>
            <a:fillRect/>
          </a:stretch>
        </p:blipFill>
        <p:spPr>
          <a:xfrm>
            <a:off x="7117772" y="2124133"/>
            <a:ext cx="4987638" cy="3157686"/>
          </a:xfrm>
          <a:prstGeom prst="rect">
            <a:avLst/>
          </a:prstGeom>
        </p:spPr>
      </p:pic>
      <p:sp>
        <p:nvSpPr>
          <p:cNvPr id="3" name="Zástupný objekt pre obsah 6">
            <a:extLst>
              <a:ext uri="{FF2B5EF4-FFF2-40B4-BE49-F238E27FC236}">
                <a16:creationId xmlns:a16="http://schemas.microsoft.com/office/drawing/2014/main" id="{850E7E4F-506F-31AF-0B55-4882602BF355}"/>
              </a:ext>
            </a:extLst>
          </p:cNvPr>
          <p:cNvSpPr txBox="1">
            <a:spLocks/>
          </p:cNvSpPr>
          <p:nvPr/>
        </p:nvSpPr>
        <p:spPr>
          <a:xfrm>
            <a:off x="919286" y="2124133"/>
            <a:ext cx="6113812"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pPr lvl="0" fontAlgn="base"/>
            <a:r>
              <a:rPr lang="en-US"/>
              <a:t> </a:t>
            </a:r>
            <a:r>
              <a:rPr lang="en-US" err="1"/>
              <a:t>Spustenie</a:t>
            </a:r>
            <a:r>
              <a:rPr lang="en-US"/>
              <a:t> u </a:t>
            </a:r>
            <a:r>
              <a:rPr lang="en-US" err="1"/>
              <a:t>prvých</a:t>
            </a:r>
            <a:r>
              <a:rPr lang="en-US"/>
              <a:t> </a:t>
            </a:r>
            <a:r>
              <a:rPr lang="en-US" err="1"/>
              <a:t>lekárov</a:t>
            </a:r>
            <a:endParaRPr lang="sk-SK"/>
          </a:p>
          <a:p>
            <a:pPr lvl="0" fontAlgn="base"/>
            <a:r>
              <a:rPr lang="sk-SK"/>
              <a:t> O</a:t>
            </a:r>
            <a:r>
              <a:rPr lang="en-US" err="1"/>
              <a:t>ptimalizácia</a:t>
            </a:r>
            <a:r>
              <a:rPr lang="en-US"/>
              <a:t> </a:t>
            </a:r>
            <a:r>
              <a:rPr lang="en-US" err="1"/>
              <a:t>profilov</a:t>
            </a:r>
            <a:r>
              <a:rPr lang="en-US"/>
              <a:t> pre </a:t>
            </a:r>
            <a:r>
              <a:rPr lang="en-US" err="1"/>
              <a:t>vyhľadávače</a:t>
            </a:r>
            <a:r>
              <a:rPr lang="en-US"/>
              <a:t> (SEO).</a:t>
            </a:r>
          </a:p>
          <a:p>
            <a:pPr lvl="0"/>
            <a:endParaRPr lang="sk-SK"/>
          </a:p>
        </p:txBody>
      </p:sp>
      <p:sp>
        <p:nvSpPr>
          <p:cNvPr id="5" name="Nadpis 1">
            <a:extLst>
              <a:ext uri="{FF2B5EF4-FFF2-40B4-BE49-F238E27FC236}">
                <a16:creationId xmlns:a16="http://schemas.microsoft.com/office/drawing/2014/main" id="{3CDD0A79-D294-EC03-A25C-E1126C6A5CC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err="1">
                <a:solidFill>
                  <a:schemeClr val="tx1"/>
                </a:solidFill>
              </a:rPr>
              <a:t>Pilotný</a:t>
            </a:r>
            <a:r>
              <a:rPr lang="en-US" sz="5000" b="1">
                <a:solidFill>
                  <a:schemeClr val="tx1"/>
                </a:solidFill>
              </a:rPr>
              <a:t> </a:t>
            </a:r>
            <a:r>
              <a:rPr lang="en-US" sz="5000" b="1" err="1">
                <a:solidFill>
                  <a:schemeClr val="tx1"/>
                </a:solidFill>
              </a:rPr>
              <a:t>štart</a:t>
            </a:r>
            <a:r>
              <a:rPr lang="en-US" sz="5000" b="1">
                <a:solidFill>
                  <a:schemeClr val="tx1"/>
                </a:solidFill>
              </a:rPr>
              <a:t> &amp; SEO</a:t>
            </a:r>
            <a:endParaRPr lang="sk-SK" sz="5000" b="1">
              <a:solidFill>
                <a:schemeClr val="tx1"/>
              </a:solidFill>
            </a:endParaRPr>
          </a:p>
        </p:txBody>
      </p:sp>
    </p:spTree>
    <p:extLst>
      <p:ext uri="{BB962C8B-B14F-4D97-AF65-F5344CB8AC3E}">
        <p14:creationId xmlns:p14="http://schemas.microsoft.com/office/powerpoint/2010/main" val="33156095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09B23-FD57-4FBC-C416-6CDD7F6E4E9B}"/>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CC693D4E-402F-BDC9-D8B0-D0B495180C0F}"/>
              </a:ext>
            </a:extLst>
          </p:cNvPr>
          <p:cNvSpPr txBox="1">
            <a:spLocks/>
          </p:cNvSpPr>
          <p:nvPr/>
        </p:nvSpPr>
        <p:spPr>
          <a:xfrm>
            <a:off x="919286" y="2124133"/>
            <a:ext cx="6344008"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pPr lvl="0" fontAlgn="base"/>
            <a:r>
              <a:rPr lang="en-US" err="1"/>
              <a:t>Pravidelné</a:t>
            </a:r>
            <a:r>
              <a:rPr lang="en-US"/>
              <a:t> </a:t>
            </a:r>
            <a:r>
              <a:rPr lang="en-US" err="1"/>
              <a:t>aktualizácie</a:t>
            </a:r>
            <a:r>
              <a:rPr lang="sk-SK"/>
              <a:t>.</a:t>
            </a:r>
          </a:p>
          <a:p>
            <a:pPr lvl="0" fontAlgn="base"/>
            <a:r>
              <a:rPr lang="sk-SK"/>
              <a:t>Z</a:t>
            </a:r>
            <a:r>
              <a:rPr lang="en-US" err="1"/>
              <a:t>álohy</a:t>
            </a:r>
            <a:r>
              <a:rPr lang="sk-SK"/>
              <a:t>.</a:t>
            </a:r>
          </a:p>
          <a:p>
            <a:pPr lvl="0" fontAlgn="base"/>
            <a:r>
              <a:rPr lang="sk-SK"/>
              <a:t>T</a:t>
            </a:r>
            <a:r>
              <a:rPr lang="en-US" err="1"/>
              <a:t>echnická</a:t>
            </a:r>
            <a:r>
              <a:rPr lang="en-US"/>
              <a:t> </a:t>
            </a:r>
            <a:r>
              <a:rPr lang="en-US" err="1"/>
              <a:t>pomoc</a:t>
            </a:r>
            <a:r>
              <a:rPr lang="en-US"/>
              <a:t> pre </a:t>
            </a:r>
            <a:r>
              <a:rPr lang="en-US" err="1"/>
              <a:t>kliniky</a:t>
            </a:r>
            <a:r>
              <a:rPr lang="en-US"/>
              <a:t>.</a:t>
            </a:r>
          </a:p>
          <a:p>
            <a:pPr lvl="0"/>
            <a:endParaRPr lang="sk-SK"/>
          </a:p>
        </p:txBody>
      </p:sp>
      <p:sp>
        <p:nvSpPr>
          <p:cNvPr id="5" name="Nadpis 1">
            <a:extLst>
              <a:ext uri="{FF2B5EF4-FFF2-40B4-BE49-F238E27FC236}">
                <a16:creationId xmlns:a16="http://schemas.microsoft.com/office/drawing/2014/main" id="{A50A9525-E355-9BE3-FEA9-E44AC85DF45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err="1">
                <a:solidFill>
                  <a:schemeClr val="tx1"/>
                </a:solidFill>
              </a:rPr>
              <a:t>Technická</a:t>
            </a:r>
            <a:r>
              <a:rPr lang="en-US" sz="5000" b="1">
                <a:solidFill>
                  <a:schemeClr val="tx1"/>
                </a:solidFill>
              </a:rPr>
              <a:t> </a:t>
            </a:r>
            <a:r>
              <a:rPr lang="en-US" sz="5000" b="1" err="1">
                <a:solidFill>
                  <a:schemeClr val="tx1"/>
                </a:solidFill>
              </a:rPr>
              <a:t>podpora</a:t>
            </a:r>
            <a:endParaRPr lang="sk-SK" sz="5000" b="1">
              <a:solidFill>
                <a:schemeClr val="tx1"/>
              </a:solidFill>
            </a:endParaRPr>
          </a:p>
        </p:txBody>
      </p:sp>
      <p:pic>
        <p:nvPicPr>
          <p:cNvPr id="4" name="Obrázok 3">
            <a:extLst>
              <a:ext uri="{FF2B5EF4-FFF2-40B4-BE49-F238E27FC236}">
                <a16:creationId xmlns:a16="http://schemas.microsoft.com/office/drawing/2014/main" id="{F61B39E2-8069-1F36-A865-61E3F64B443C}"/>
              </a:ext>
            </a:extLst>
          </p:cNvPr>
          <p:cNvPicPr>
            <a:picLocks noChangeAspect="1"/>
          </p:cNvPicPr>
          <p:nvPr/>
        </p:nvPicPr>
        <p:blipFill>
          <a:blip r:embed="rId2"/>
          <a:srcRect b="18755"/>
          <a:stretch>
            <a:fillRect/>
          </a:stretch>
        </p:blipFill>
        <p:spPr>
          <a:xfrm>
            <a:off x="7346070" y="1746825"/>
            <a:ext cx="4586158" cy="4448999"/>
          </a:xfrm>
          <a:prstGeom prst="rect">
            <a:avLst/>
          </a:prstGeom>
        </p:spPr>
      </p:pic>
    </p:spTree>
    <p:extLst>
      <p:ext uri="{BB962C8B-B14F-4D97-AF65-F5344CB8AC3E}">
        <p14:creationId xmlns:p14="http://schemas.microsoft.com/office/powerpoint/2010/main" val="963485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31966" y="657352"/>
            <a:ext cx="10133315" cy="3566160"/>
          </a:xfrm>
        </p:spPr>
        <p:txBody>
          <a:bodyPr>
            <a:normAutofit/>
          </a:bodyPr>
          <a:lstStyle/>
          <a:p>
            <a:pPr algn="ctr"/>
            <a:r>
              <a:rPr lang="sk-SK" sz="8800" b="1">
                <a:solidFill>
                  <a:schemeClr val="tx1"/>
                </a:solidFill>
              </a:rPr>
              <a:t>BPMN diagram</a:t>
            </a:r>
          </a:p>
        </p:txBody>
      </p:sp>
    </p:spTree>
    <p:extLst>
      <p:ext uri="{BB962C8B-B14F-4D97-AF65-F5344CB8AC3E}">
        <p14:creationId xmlns:p14="http://schemas.microsoft.com/office/powerpoint/2010/main" val="16529766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8E1C-A3E0-EBBD-8D9B-4A572E3F013C}"/>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D15866B9-11A5-4C59-9C03-41FDFD6D2808}"/>
              </a:ext>
            </a:extLst>
          </p:cNvPr>
          <p:cNvSpPr txBox="1">
            <a:spLocks/>
          </p:cNvSpPr>
          <p:nvPr/>
        </p:nvSpPr>
        <p:spPr>
          <a:xfrm>
            <a:off x="919286" y="1821897"/>
            <a:ext cx="10058400" cy="160710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Obsahuje 2 </a:t>
            </a:r>
            <a:r>
              <a:rPr lang="sk-SK" err="1"/>
              <a:t>swim</a:t>
            </a:r>
            <a:r>
              <a:rPr lang="sk-SK"/>
              <a:t> </a:t>
            </a:r>
            <a:r>
              <a:rPr lang="sk-SK" err="1"/>
              <a:t>lanes</a:t>
            </a:r>
            <a:endParaRPr lang="sk-SK"/>
          </a:p>
          <a:p>
            <a:pPr marL="383540" lvl="1"/>
            <a:r>
              <a:rPr lang="sk-SK" sz="2600">
                <a:solidFill>
                  <a:schemeClr val="tx1"/>
                </a:solidFill>
                <a:ea typeface="Calibri"/>
                <a:cs typeface="Calibri"/>
              </a:rPr>
              <a:t>Požívateľ</a:t>
            </a:r>
          </a:p>
          <a:p>
            <a:pPr marL="383540" lvl="1"/>
            <a:r>
              <a:rPr lang="sk-SK" sz="2600">
                <a:solidFill>
                  <a:schemeClr val="tx1"/>
                </a:solidFill>
              </a:rPr>
              <a:t>Systém</a:t>
            </a:r>
            <a:endParaRPr lang="sk-SK" sz="2600">
              <a:solidFill>
                <a:schemeClr val="tx1"/>
              </a:solidFill>
              <a:ea typeface="Calibri" panose="020F0502020204030204"/>
              <a:cs typeface="Calibri" panose="020F0502020204030204"/>
            </a:endParaRPr>
          </a:p>
        </p:txBody>
      </p:sp>
      <p:sp>
        <p:nvSpPr>
          <p:cNvPr id="5" name="Nadpis 1">
            <a:extLst>
              <a:ext uri="{FF2B5EF4-FFF2-40B4-BE49-F238E27FC236}">
                <a16:creationId xmlns:a16="http://schemas.microsoft.com/office/drawing/2014/main" id="{3E12D995-8BCD-5C93-AC22-49EBB493E016}"/>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Proces objednania termínu</a:t>
            </a:r>
          </a:p>
        </p:txBody>
      </p:sp>
      <p:pic>
        <p:nvPicPr>
          <p:cNvPr id="4" name="Obrázok 3">
            <a:extLst>
              <a:ext uri="{FF2B5EF4-FFF2-40B4-BE49-F238E27FC236}">
                <a16:creationId xmlns:a16="http://schemas.microsoft.com/office/drawing/2014/main" id="{B29D8C61-F2EE-9B3A-A2D6-A5E5BC6AD51A}"/>
              </a:ext>
            </a:extLst>
          </p:cNvPr>
          <p:cNvPicPr>
            <a:picLocks noChangeAspect="1"/>
          </p:cNvPicPr>
          <p:nvPr/>
        </p:nvPicPr>
        <p:blipFill>
          <a:blip r:embed="rId2"/>
          <a:srcRect l="2744" r="982"/>
          <a:stretch/>
        </p:blipFill>
        <p:spPr>
          <a:xfrm>
            <a:off x="408878" y="3504072"/>
            <a:ext cx="11374244" cy="2565908"/>
          </a:xfrm>
          <a:prstGeom prst="rect">
            <a:avLst/>
          </a:prstGeom>
        </p:spPr>
      </p:pic>
    </p:spTree>
    <p:extLst>
      <p:ext uri="{BB962C8B-B14F-4D97-AF65-F5344CB8AC3E}">
        <p14:creationId xmlns:p14="http://schemas.microsoft.com/office/powerpoint/2010/main" val="8773612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6F5C6-C7D7-7329-AEC3-3C2C1481E28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A3DA43D-231C-1DEE-BC47-30CD1B410A90}"/>
              </a:ext>
            </a:extLst>
          </p:cNvPr>
          <p:cNvSpPr txBox="1">
            <a:spLocks/>
          </p:cNvSpPr>
          <p:nvPr/>
        </p:nvSpPr>
        <p:spPr>
          <a:xfrm>
            <a:off x="919286" y="1821897"/>
            <a:ext cx="10058400" cy="160710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Obsahuje 2 </a:t>
            </a:r>
            <a:r>
              <a:rPr lang="sk-SK" err="1"/>
              <a:t>swim</a:t>
            </a:r>
            <a:r>
              <a:rPr lang="sk-SK"/>
              <a:t> </a:t>
            </a:r>
            <a:r>
              <a:rPr lang="sk-SK" err="1"/>
              <a:t>lanes</a:t>
            </a:r>
            <a:endParaRPr lang="sk-SK"/>
          </a:p>
          <a:p>
            <a:pPr marL="383540" lvl="1"/>
            <a:r>
              <a:rPr lang="sk-SK" sz="2600">
                <a:solidFill>
                  <a:schemeClr val="tx1"/>
                </a:solidFill>
              </a:rPr>
              <a:t>Požívateľ</a:t>
            </a:r>
            <a:endParaRPr lang="sk-SK" sz="2600">
              <a:solidFill>
                <a:schemeClr val="tx1"/>
              </a:solidFill>
              <a:ea typeface="Calibri"/>
              <a:cs typeface="Calibri"/>
            </a:endParaRPr>
          </a:p>
          <a:p>
            <a:pPr marL="383540" lvl="1"/>
            <a:r>
              <a:rPr lang="sk-SK" sz="2600">
                <a:solidFill>
                  <a:schemeClr val="tx1"/>
                </a:solidFill>
              </a:rPr>
              <a:t>Systém</a:t>
            </a:r>
            <a:endParaRPr lang="sk-SK" sz="2600">
              <a:solidFill>
                <a:schemeClr val="tx1"/>
              </a:solidFill>
              <a:ea typeface="Calibri" panose="020F0502020204030204"/>
              <a:cs typeface="Calibri" panose="020F0502020204030204"/>
            </a:endParaRPr>
          </a:p>
        </p:txBody>
      </p:sp>
      <p:sp>
        <p:nvSpPr>
          <p:cNvPr id="5" name="Nadpis 1">
            <a:extLst>
              <a:ext uri="{FF2B5EF4-FFF2-40B4-BE49-F238E27FC236}">
                <a16:creationId xmlns:a16="http://schemas.microsoft.com/office/drawing/2014/main" id="{E3376FEE-79FD-7445-F18C-31CA60B602B0}"/>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Proces recenzie</a:t>
            </a:r>
          </a:p>
        </p:txBody>
      </p:sp>
      <p:pic>
        <p:nvPicPr>
          <p:cNvPr id="2" name="Obrázok 1">
            <a:extLst>
              <a:ext uri="{FF2B5EF4-FFF2-40B4-BE49-F238E27FC236}">
                <a16:creationId xmlns:a16="http://schemas.microsoft.com/office/drawing/2014/main" id="{F79915FA-6F8A-A5E3-B1EF-A54FC74728A5}"/>
              </a:ext>
            </a:extLst>
          </p:cNvPr>
          <p:cNvPicPr>
            <a:picLocks noChangeAspect="1"/>
          </p:cNvPicPr>
          <p:nvPr/>
        </p:nvPicPr>
        <p:blipFill>
          <a:blip r:embed="rId2"/>
          <a:stretch>
            <a:fillRect/>
          </a:stretch>
        </p:blipFill>
        <p:spPr>
          <a:xfrm>
            <a:off x="4388694" y="2808593"/>
            <a:ext cx="6736506" cy="3261387"/>
          </a:xfrm>
          <a:prstGeom prst="rect">
            <a:avLst/>
          </a:prstGeom>
        </p:spPr>
      </p:pic>
    </p:spTree>
    <p:extLst>
      <p:ext uri="{BB962C8B-B14F-4D97-AF65-F5344CB8AC3E}">
        <p14:creationId xmlns:p14="http://schemas.microsoft.com/office/powerpoint/2010/main" val="17861607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120866" y="797052"/>
            <a:ext cx="10049425" cy="3566160"/>
          </a:xfrm>
        </p:spPr>
        <p:txBody>
          <a:bodyPr/>
          <a:lstStyle/>
          <a:p>
            <a:pPr algn="ctr"/>
            <a:r>
              <a:rPr lang="sk-SK" sz="8800" b="1">
                <a:solidFill>
                  <a:schemeClr val="tx1"/>
                </a:solidFill>
              </a:rPr>
              <a:t>Dodávateľský</a:t>
            </a:r>
            <a:br>
              <a:rPr lang="en-US" sz="8800" b="1">
                <a:solidFill>
                  <a:schemeClr val="tx1"/>
                </a:solidFill>
              </a:rPr>
            </a:br>
            <a:r>
              <a:rPr lang="sk-SK" sz="8800" b="1">
                <a:solidFill>
                  <a:schemeClr val="tx1"/>
                </a:solidFill>
              </a:rPr>
              <a:t> reťazec</a:t>
            </a:r>
          </a:p>
        </p:txBody>
      </p:sp>
    </p:spTree>
    <p:extLst>
      <p:ext uri="{BB962C8B-B14F-4D97-AF65-F5344CB8AC3E}">
        <p14:creationId xmlns:p14="http://schemas.microsoft.com/office/powerpoint/2010/main" val="4210134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59AA-39CD-040E-C6A3-D217B8BC509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795574E0-7C53-83F7-826A-F338FAE77B91}"/>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Amazon Web </a:t>
            </a:r>
            <a:r>
              <a:rPr lang="sk-SK" err="1"/>
              <a:t>Services</a:t>
            </a:r>
            <a:r>
              <a:rPr lang="sk-SK"/>
              <a:t> (AWS)</a:t>
            </a:r>
          </a:p>
          <a:p>
            <a:r>
              <a:rPr lang="sk-SK"/>
              <a:t>Garantuje dostupnosť aplikácie 24/7</a:t>
            </a:r>
          </a:p>
          <a:p>
            <a:r>
              <a:rPr lang="sk-SK"/>
              <a:t>Zabezpečuje stabilitu systému aj pri zvýšenej záťaži používateľov</a:t>
            </a:r>
          </a:p>
          <a:p>
            <a:r>
              <a:rPr lang="sk-SK"/>
              <a:t>Výkon sa prispôsobuje aktuálnemu počtu používateľov</a:t>
            </a:r>
          </a:p>
        </p:txBody>
      </p:sp>
      <p:sp>
        <p:nvSpPr>
          <p:cNvPr id="5" name="Nadpis 1">
            <a:extLst>
              <a:ext uri="{FF2B5EF4-FFF2-40B4-BE49-F238E27FC236}">
                <a16:creationId xmlns:a16="http://schemas.microsoft.com/office/drawing/2014/main" id="{0ABCA0B8-9C1F-B524-06C6-CA047811693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Cloudový </a:t>
            </a:r>
            <a:r>
              <a:rPr lang="sk-SK" sz="5000" b="1" err="1">
                <a:solidFill>
                  <a:schemeClr val="tx1"/>
                </a:solidFill>
              </a:rPr>
              <a:t>hosting</a:t>
            </a:r>
            <a:endParaRPr lang="sk-SK" sz="5000" b="1">
              <a:solidFill>
                <a:schemeClr val="tx1"/>
              </a:solidFill>
            </a:endParaRPr>
          </a:p>
        </p:txBody>
      </p:sp>
      <p:pic>
        <p:nvPicPr>
          <p:cNvPr id="2050" name="Picture 2" descr="What is Cloud Hosting? Differences from Web Hosting">
            <a:extLst>
              <a:ext uri="{FF2B5EF4-FFF2-40B4-BE49-F238E27FC236}">
                <a16:creationId xmlns:a16="http://schemas.microsoft.com/office/drawing/2014/main" id="{81FAC198-717A-ED66-5BCE-7F353F0FFF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1" y="2221593"/>
            <a:ext cx="4838700" cy="3232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3261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B17B6-3888-0895-3B8E-EF227A274909}"/>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314D6F83-5CFB-59EF-4843-8637D1BA46D7}"/>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err="1"/>
              <a:t>Twilio</a:t>
            </a:r>
            <a:endParaRPr lang="sk-SK"/>
          </a:p>
          <a:p>
            <a:r>
              <a:rPr lang="sk-SK"/>
              <a:t>Automaticky upozorňuje pacientov na blížiaci sa termín</a:t>
            </a:r>
          </a:p>
          <a:p>
            <a:r>
              <a:rPr lang="sk-SK"/>
              <a:t>Informuje o prípadnej zmene alebo zrušení termínu</a:t>
            </a:r>
          </a:p>
          <a:p>
            <a:r>
              <a:rPr lang="sk-SK"/>
              <a:t>Prispieva k zníženiu počtu neuskutočnených návštev</a:t>
            </a:r>
          </a:p>
        </p:txBody>
      </p:sp>
      <p:sp>
        <p:nvSpPr>
          <p:cNvPr id="5" name="Nadpis 1">
            <a:extLst>
              <a:ext uri="{FF2B5EF4-FFF2-40B4-BE49-F238E27FC236}">
                <a16:creationId xmlns:a16="http://schemas.microsoft.com/office/drawing/2014/main" id="{F4DAFBC0-A0B1-42B4-D178-8430F58293D1}"/>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SMS a e-mailové notifikácie</a:t>
            </a:r>
          </a:p>
        </p:txBody>
      </p:sp>
      <p:pic>
        <p:nvPicPr>
          <p:cNvPr id="3074" name="Picture 2" descr="D2L Email and Text Notifications | LTC Instructional Resources">
            <a:extLst>
              <a:ext uri="{FF2B5EF4-FFF2-40B4-BE49-F238E27FC236}">
                <a16:creationId xmlns:a16="http://schemas.microsoft.com/office/drawing/2014/main" id="{5CB0A62F-8396-9CD3-FF25-15D9F62A3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5345" y="1981200"/>
            <a:ext cx="4364081" cy="3738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724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B48D1-0A4E-733D-BEDE-866E99040BA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3209110-3CCD-1DF7-C53D-E499B6A7B3BF}"/>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err="1"/>
              <a:t>Conectart</a:t>
            </a:r>
            <a:endParaRPr lang="sk-SK"/>
          </a:p>
          <a:p>
            <a:r>
              <a:rPr lang="sk-SK"/>
              <a:t>Zhromažďuje a spracováva hodnotenia lekárov od pacientov</a:t>
            </a:r>
          </a:p>
          <a:p>
            <a:r>
              <a:rPr lang="sk-SK"/>
              <a:t>Moderuje obsah a filtruje nevhodné príspevky</a:t>
            </a:r>
          </a:p>
          <a:p>
            <a:r>
              <a:rPr lang="sk-SK"/>
              <a:t>Prezentuje hodnotenia lekárov pacientom</a:t>
            </a:r>
          </a:p>
        </p:txBody>
      </p:sp>
      <p:sp>
        <p:nvSpPr>
          <p:cNvPr id="5" name="Nadpis 1">
            <a:extLst>
              <a:ext uri="{FF2B5EF4-FFF2-40B4-BE49-F238E27FC236}">
                <a16:creationId xmlns:a16="http://schemas.microsoft.com/office/drawing/2014/main" id="{21404DF3-D983-5832-1B8A-C8CFD0920A25}"/>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Správa recenzií</a:t>
            </a:r>
          </a:p>
        </p:txBody>
      </p:sp>
      <p:pic>
        <p:nvPicPr>
          <p:cNvPr id="4098" name="Picture 2">
            <a:extLst>
              <a:ext uri="{FF2B5EF4-FFF2-40B4-BE49-F238E27FC236}">
                <a16:creationId xmlns:a16="http://schemas.microsoft.com/office/drawing/2014/main" id="{F2235120-8D48-5CB8-F334-22AB80DB4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3640" y="2305297"/>
            <a:ext cx="5821568" cy="3060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6477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BC581-2B91-3D35-7FB8-7EE8DD0B12E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3DFD326-30F3-36C2-688A-F9F53A75AB2A}"/>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Google </a:t>
            </a:r>
            <a:r>
              <a:rPr lang="sk-SK" err="1"/>
              <a:t>Maps</a:t>
            </a:r>
            <a:r>
              <a:rPr lang="sk-SK"/>
              <a:t> </a:t>
            </a:r>
            <a:r>
              <a:rPr lang="sk-SK" err="1"/>
              <a:t>Platform</a:t>
            </a:r>
            <a:endParaRPr lang="sk-SK"/>
          </a:p>
          <a:p>
            <a:r>
              <a:rPr lang="sk-SK"/>
              <a:t>Zobrazuje polohu ambulancií na interaktívnej mape</a:t>
            </a:r>
          </a:p>
          <a:p>
            <a:r>
              <a:rPr lang="sk-SK"/>
              <a:t>Umožňuje pacientom vyhľadať konkrétnu ordináciu podľa lokality</a:t>
            </a:r>
          </a:p>
          <a:p>
            <a:r>
              <a:rPr lang="sk-SK"/>
              <a:t>Poskytuje trasu vrátane orientačného času presunu</a:t>
            </a:r>
          </a:p>
        </p:txBody>
      </p:sp>
      <p:sp>
        <p:nvSpPr>
          <p:cNvPr id="5" name="Nadpis 1">
            <a:extLst>
              <a:ext uri="{FF2B5EF4-FFF2-40B4-BE49-F238E27FC236}">
                <a16:creationId xmlns:a16="http://schemas.microsoft.com/office/drawing/2014/main" id="{DEA91D93-516C-370D-26D3-4168F298C20D}"/>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Mapové služby</a:t>
            </a:r>
          </a:p>
        </p:txBody>
      </p:sp>
      <p:pic>
        <p:nvPicPr>
          <p:cNvPr id="6" name="Obrázok 5">
            <a:extLst>
              <a:ext uri="{FF2B5EF4-FFF2-40B4-BE49-F238E27FC236}">
                <a16:creationId xmlns:a16="http://schemas.microsoft.com/office/drawing/2014/main" id="{9A5639E6-D4AE-0FBF-6CFA-BECABA6885D4}"/>
              </a:ext>
            </a:extLst>
          </p:cNvPr>
          <p:cNvPicPr>
            <a:picLocks noChangeAspect="1"/>
          </p:cNvPicPr>
          <p:nvPr/>
        </p:nvPicPr>
        <p:blipFill>
          <a:blip r:embed="rId2"/>
          <a:stretch>
            <a:fillRect/>
          </a:stretch>
        </p:blipFill>
        <p:spPr>
          <a:xfrm>
            <a:off x="6938963" y="2120357"/>
            <a:ext cx="4814888" cy="3170780"/>
          </a:xfrm>
          <a:prstGeom prst="rect">
            <a:avLst/>
          </a:prstGeom>
        </p:spPr>
      </p:pic>
    </p:spTree>
    <p:extLst>
      <p:ext uri="{BB962C8B-B14F-4D97-AF65-F5344CB8AC3E}">
        <p14:creationId xmlns:p14="http://schemas.microsoft.com/office/powerpoint/2010/main" val="3340226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6134" y="788363"/>
            <a:ext cx="10133315" cy="3566160"/>
          </a:xfrm>
        </p:spPr>
        <p:txBody>
          <a:bodyPr>
            <a:normAutofit/>
          </a:bodyPr>
          <a:lstStyle/>
          <a:p>
            <a:pPr algn="ctr"/>
            <a:r>
              <a:rPr lang="sk-SK" sz="8800" b="1">
                <a:solidFill>
                  <a:schemeClr val="tx1"/>
                </a:solidFill>
              </a:rPr>
              <a:t>User interface</a:t>
            </a:r>
          </a:p>
        </p:txBody>
      </p:sp>
    </p:spTree>
    <p:extLst>
      <p:ext uri="{BB962C8B-B14F-4D97-AF65-F5344CB8AC3E}">
        <p14:creationId xmlns:p14="http://schemas.microsoft.com/office/powerpoint/2010/main" val="36012078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59AA-39CD-040E-C6A3-D217B8BC509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795574E0-7C53-83F7-826A-F338FAE77B91}"/>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Prehľadné usporiadanie aktuálnych aj historických termínov</a:t>
            </a:r>
          </a:p>
          <a:p>
            <a:r>
              <a:rPr lang="sk-SK"/>
              <a:t>Správa vyšetrení vrátane možnosti ich rýchleho zrušenia</a:t>
            </a:r>
          </a:p>
          <a:p>
            <a:r>
              <a:rPr lang="sk-SK"/>
              <a:t>Zobrazenie kľúčových údajov o lekárovi, špecializácii a mieste ordinácie</a:t>
            </a:r>
          </a:p>
        </p:txBody>
      </p:sp>
      <p:sp>
        <p:nvSpPr>
          <p:cNvPr id="5" name="Nadpis 1">
            <a:extLst>
              <a:ext uri="{FF2B5EF4-FFF2-40B4-BE49-F238E27FC236}">
                <a16:creationId xmlns:a16="http://schemas.microsoft.com/office/drawing/2014/main" id="{0ABCA0B8-9C1F-B524-06C6-CA047811693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err="1">
                <a:solidFill>
                  <a:schemeClr val="tx1"/>
                </a:solidFill>
              </a:rPr>
              <a:t>Dashboard</a:t>
            </a:r>
            <a:r>
              <a:rPr lang="sk-SK" sz="5000" b="1">
                <a:solidFill>
                  <a:schemeClr val="tx1"/>
                </a:solidFill>
              </a:rPr>
              <a:t> pacienta</a:t>
            </a:r>
          </a:p>
        </p:txBody>
      </p:sp>
      <p:pic>
        <p:nvPicPr>
          <p:cNvPr id="10" name="Obrázok 9" descr="Obrázok, na ktorom je text, snímka obrazovky, webová stránka, webová lokalita&#10;&#10;Automaticky generovaný popis">
            <a:extLst>
              <a:ext uri="{FF2B5EF4-FFF2-40B4-BE49-F238E27FC236}">
                <a16:creationId xmlns:a16="http://schemas.microsoft.com/office/drawing/2014/main" id="{E334E90E-CC99-A015-38A9-38A3B99AE9F0}"/>
              </a:ext>
            </a:extLst>
          </p:cNvPr>
          <p:cNvPicPr>
            <a:picLocks noChangeAspect="1"/>
          </p:cNvPicPr>
          <p:nvPr/>
        </p:nvPicPr>
        <p:blipFill>
          <a:blip r:embed="rId2"/>
          <a:stretch>
            <a:fillRect/>
          </a:stretch>
        </p:blipFill>
        <p:spPr>
          <a:xfrm>
            <a:off x="7790609" y="536039"/>
            <a:ext cx="3651974" cy="5785921"/>
          </a:xfrm>
          <a:prstGeom prst="rect">
            <a:avLst/>
          </a:prstGeom>
          <a:ln>
            <a:solidFill>
              <a:schemeClr val="tx1"/>
            </a:solidFill>
          </a:ln>
        </p:spPr>
      </p:pic>
    </p:spTree>
    <p:extLst>
      <p:ext uri="{BB962C8B-B14F-4D97-AF65-F5344CB8AC3E}">
        <p14:creationId xmlns:p14="http://schemas.microsoft.com/office/powerpoint/2010/main" val="3905916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B17B6-3888-0895-3B8E-EF227A274909}"/>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314D6F83-5CFB-59EF-4843-8637D1BA46D7}"/>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filtrovanie podľa mena, špecializácie a geografickej polohy </a:t>
            </a:r>
          </a:p>
          <a:p>
            <a:r>
              <a:rPr lang="sk-SK"/>
              <a:t>Vizuálne karty lekárov s hodnotením, vzdialenosťou a najbližším voľným časom </a:t>
            </a:r>
          </a:p>
          <a:p>
            <a:r>
              <a:rPr lang="sk-SK"/>
              <a:t>Prechod k vytvoreniu objednávky priamo z prehľadu nájdených výsledkov</a:t>
            </a:r>
          </a:p>
        </p:txBody>
      </p:sp>
      <p:sp>
        <p:nvSpPr>
          <p:cNvPr id="5" name="Nadpis 1">
            <a:extLst>
              <a:ext uri="{FF2B5EF4-FFF2-40B4-BE49-F238E27FC236}">
                <a16:creationId xmlns:a16="http://schemas.microsoft.com/office/drawing/2014/main" id="{F4DAFBC0-A0B1-42B4-D178-8430F58293D1}"/>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Vyhľadávanie lekára</a:t>
            </a:r>
          </a:p>
        </p:txBody>
      </p:sp>
      <p:pic>
        <p:nvPicPr>
          <p:cNvPr id="6" name="Obrázok 5" descr="Obrázok, na ktorom je text, snímka obrazovky, webová stránka, webová lokalita&#10;&#10;Automaticky generovaný popis">
            <a:extLst>
              <a:ext uri="{FF2B5EF4-FFF2-40B4-BE49-F238E27FC236}">
                <a16:creationId xmlns:a16="http://schemas.microsoft.com/office/drawing/2014/main" id="{A7302F7B-F2D3-2ACC-5556-F99B3352A820}"/>
              </a:ext>
            </a:extLst>
          </p:cNvPr>
          <p:cNvPicPr>
            <a:picLocks noChangeAspect="1"/>
          </p:cNvPicPr>
          <p:nvPr/>
        </p:nvPicPr>
        <p:blipFill>
          <a:blip r:embed="rId2"/>
          <a:stretch>
            <a:fillRect/>
          </a:stretch>
        </p:blipFill>
        <p:spPr>
          <a:xfrm>
            <a:off x="7786710" y="533499"/>
            <a:ext cx="3945120" cy="5791002"/>
          </a:xfrm>
          <a:prstGeom prst="rect">
            <a:avLst/>
          </a:prstGeom>
          <a:ln>
            <a:solidFill>
              <a:schemeClr val="tx1"/>
            </a:solidFill>
          </a:ln>
        </p:spPr>
      </p:pic>
    </p:spTree>
    <p:extLst>
      <p:ext uri="{BB962C8B-B14F-4D97-AF65-F5344CB8AC3E}">
        <p14:creationId xmlns:p14="http://schemas.microsoft.com/office/powerpoint/2010/main" val="41267922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B48D1-0A4E-733D-BEDE-866E99040BA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3209110-3CCD-1DF7-C53D-E499B6A7B3BF}"/>
              </a:ext>
            </a:extLst>
          </p:cNvPr>
          <p:cNvSpPr txBox="1">
            <a:spLocks/>
          </p:cNvSpPr>
          <p:nvPr/>
        </p:nvSpPr>
        <p:spPr>
          <a:xfrm>
            <a:off x="919286" y="1821897"/>
            <a:ext cx="6468485" cy="4248083"/>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a:t>Výber termínu prostredníctvom kalendárového komponentu </a:t>
            </a:r>
          </a:p>
          <a:p>
            <a:r>
              <a:rPr lang="sk-SK"/>
              <a:t>Integrovaná mapa s presnou polohou ambulancie</a:t>
            </a:r>
          </a:p>
          <a:p>
            <a:r>
              <a:rPr lang="sk-SK"/>
              <a:t>Prehľad používateľských recenzií a hodnotení lekára</a:t>
            </a:r>
          </a:p>
        </p:txBody>
      </p:sp>
      <p:sp>
        <p:nvSpPr>
          <p:cNvPr id="5" name="Nadpis 1">
            <a:extLst>
              <a:ext uri="{FF2B5EF4-FFF2-40B4-BE49-F238E27FC236}">
                <a16:creationId xmlns:a16="http://schemas.microsoft.com/office/drawing/2014/main" id="{21404DF3-D983-5832-1B8A-C8CFD0920A25}"/>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a:solidFill>
                  <a:schemeClr val="tx1"/>
                </a:solidFill>
              </a:rPr>
              <a:t>Detail lekára a rezervácia</a:t>
            </a:r>
          </a:p>
        </p:txBody>
      </p:sp>
      <p:pic>
        <p:nvPicPr>
          <p:cNvPr id="4" name="Obrázok 3" descr="Obrázok, na ktorom je text, snímka obrazovky, softvér, číslo&#10;&#10;Automaticky generovaný popis">
            <a:extLst>
              <a:ext uri="{FF2B5EF4-FFF2-40B4-BE49-F238E27FC236}">
                <a16:creationId xmlns:a16="http://schemas.microsoft.com/office/drawing/2014/main" id="{4A0704A1-C63C-A121-153C-3B62C2D84586}"/>
              </a:ext>
            </a:extLst>
          </p:cNvPr>
          <p:cNvPicPr>
            <a:picLocks noChangeAspect="1"/>
          </p:cNvPicPr>
          <p:nvPr/>
        </p:nvPicPr>
        <p:blipFill>
          <a:blip r:embed="rId2"/>
          <a:stretch>
            <a:fillRect/>
          </a:stretch>
        </p:blipFill>
        <p:spPr>
          <a:xfrm>
            <a:off x="6791281" y="1896969"/>
            <a:ext cx="5228857" cy="4248083"/>
          </a:xfrm>
          <a:prstGeom prst="rect">
            <a:avLst/>
          </a:prstGeom>
        </p:spPr>
      </p:pic>
    </p:spTree>
    <p:extLst>
      <p:ext uri="{BB962C8B-B14F-4D97-AF65-F5344CB8AC3E}">
        <p14:creationId xmlns:p14="http://schemas.microsoft.com/office/powerpoint/2010/main" val="42314628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5AE16AB-5B70-F32E-94C3-3DAA1408E461}"/>
              </a:ext>
            </a:extLst>
          </p:cNvPr>
          <p:cNvSpPr txBox="1">
            <a:spLocks/>
          </p:cNvSpPr>
          <p:nvPr/>
        </p:nvSpPr>
        <p:spPr>
          <a:xfrm>
            <a:off x="585537" y="2919895"/>
            <a:ext cx="11034294" cy="1450757"/>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sk-SK" sz="8800" b="1">
                <a:solidFill>
                  <a:schemeClr val="tx1"/>
                </a:solidFill>
                <a:ea typeface="MS Mincho"/>
                <a:cs typeface="Calibri Light"/>
              </a:rPr>
              <a:t>Ďakujeme za pozornosť!</a:t>
            </a:r>
            <a:endParaRPr lang="sk-SK" sz="8800">
              <a:solidFill>
                <a:schemeClr val="tx1"/>
              </a:solidFill>
              <a:ea typeface="MS Mincho"/>
              <a:cs typeface="Calibri Light"/>
            </a:endParaRPr>
          </a:p>
        </p:txBody>
      </p:sp>
    </p:spTree>
    <p:extLst>
      <p:ext uri="{BB962C8B-B14F-4D97-AF65-F5344CB8AC3E}">
        <p14:creationId xmlns:p14="http://schemas.microsoft.com/office/powerpoint/2010/main" val="240498769"/>
      </p:ext>
    </p:extLst>
  </p:cSld>
  <p:clrMapOvr>
    <a:masterClrMapping/>
  </p:clrMapOvr>
</p:sld>
</file>

<file path=ppt/theme/theme1.xml><?xml version="1.0" encoding="utf-8"?>
<a:theme xmlns:a="http://schemas.openxmlformats.org/drawingml/2006/main" name="Retrospektíva">
  <a:themeElements>
    <a:clrScheme name="Vlastné 16">
      <a:dk1>
        <a:sysClr val="windowText" lastClr="000000"/>
      </a:dk1>
      <a:lt1>
        <a:sysClr val="window" lastClr="FFFFFF"/>
      </a:lt1>
      <a:dk2>
        <a:srgbClr val="455F51"/>
      </a:dk2>
      <a:lt2>
        <a:srgbClr val="E2DFCC"/>
      </a:lt2>
      <a:accent1>
        <a:srgbClr val="303D8B"/>
      </a:accent1>
      <a:accent2>
        <a:srgbClr val="303D8B"/>
      </a:accent2>
      <a:accent3>
        <a:srgbClr val="303D8B"/>
      </a:accent3>
      <a:accent4>
        <a:srgbClr val="303D8B"/>
      </a:accent4>
      <a:accent5>
        <a:srgbClr val="303D8B"/>
      </a:accent5>
      <a:accent6>
        <a:srgbClr val="303D8B"/>
      </a:accent6>
      <a:hlink>
        <a:srgbClr val="303D8B"/>
      </a:hlink>
      <a:folHlink>
        <a:srgbClr val="303D8B"/>
      </a:folHlink>
    </a:clrScheme>
    <a:fontScheme name="Retrospektíva">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ktíva">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Application>Microsoft Office PowerPoint</Application>
  <PresentationFormat>Širokouhlá</PresentationFormat>
  <Slides>57</Slides>
  <Notes>0</Notes>
  <HiddenSlides>0</HiddenSlides>
  <ScaleCrop>false</ScaleCrop>
  <HeadingPairs>
    <vt:vector size="4" baseType="variant">
      <vt:variant>
        <vt:lpstr>Motív</vt:lpstr>
      </vt:variant>
      <vt:variant>
        <vt:i4>1</vt:i4>
      </vt:variant>
      <vt:variant>
        <vt:lpstr>Nadpisy snímok</vt:lpstr>
      </vt:variant>
      <vt:variant>
        <vt:i4>57</vt:i4>
      </vt:variant>
    </vt:vector>
  </HeadingPairs>
  <TitlesOfParts>
    <vt:vector size="58" baseType="lpstr">
      <vt:lpstr>Retrospektíva</vt:lpstr>
      <vt:lpstr>eTermín  Digitálne zdravotníctvo</vt:lpstr>
      <vt:lpstr>Aktuálna situácia v zdravotníctve</vt:lpstr>
      <vt:lpstr>Čo je eTermín?</vt:lpstr>
      <vt:lpstr>Architektúra systému</vt:lpstr>
      <vt:lpstr>Výsledok projektu</vt:lpstr>
      <vt:lpstr> Užívateľské požiadavky</vt:lpstr>
      <vt:lpstr>Požiadavky pacienta</vt:lpstr>
      <vt:lpstr>Požiadavky lekára</vt:lpstr>
      <vt:lpstr>Požiadavky administrátora</vt:lpstr>
      <vt:lpstr>Prevádzkové požiadavky</vt:lpstr>
      <vt:lpstr> SWOT analýza</vt:lpstr>
      <vt:lpstr>SWOT analýza eTermín</vt:lpstr>
      <vt:lpstr>SWOT analýza eTermín</vt:lpstr>
      <vt:lpstr>SWOT analýza eTermín</vt:lpstr>
      <vt:lpstr>SWOT analýza eTermín</vt:lpstr>
      <vt:lpstr>Prezentácia programu PowerPoint</vt:lpstr>
      <vt:lpstr>Vizualizácia modelových dát</vt:lpstr>
      <vt:lpstr>Prezentácia programu PowerPoint</vt:lpstr>
      <vt:lpstr>Prezentácia programu PowerPoint</vt:lpstr>
      <vt:lpstr>Prezentácia programu PowerPoint</vt:lpstr>
      <vt:lpstr>Miera vymeškania termínov</vt:lpstr>
      <vt:lpstr>Čas rezervácie</vt:lpstr>
      <vt:lpstr>Dostupnosť</vt:lpstr>
      <vt:lpstr>Predstih objednania</vt:lpstr>
      <vt:lpstr>Etické aspekty projektu</vt:lpstr>
      <vt:lpstr>Prezentácia programu PowerPoint</vt:lpstr>
      <vt:lpstr>Prezentácia programu PowerPoint</vt:lpstr>
      <vt:lpstr>Prezentácia programu PowerPoint</vt:lpstr>
      <vt:lpstr>Prezentácia programu PowerPoint</vt:lpstr>
      <vt:lpstr>Entitno-relačný diagram</vt:lpstr>
      <vt:lpstr>Prezentácia programu PowerPoint</vt:lpstr>
      <vt:lpstr>Social computing</vt:lpstr>
      <vt:lpstr>Prezentácia programu PowerPoint</vt:lpstr>
      <vt:lpstr>Prezentácia programu PowerPoint</vt:lpstr>
      <vt:lpstr>Prezentácia programu PowerPoint</vt:lpstr>
      <vt:lpstr>Prezentácia programu PowerPoint</vt:lpstr>
      <vt:lpstr>Ganttov diagram</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BPMN diagram</vt:lpstr>
      <vt:lpstr>Prezentácia programu PowerPoint</vt:lpstr>
      <vt:lpstr>Prezentácia programu PowerPoint</vt:lpstr>
      <vt:lpstr>Dodávateľský  reťazec</vt:lpstr>
      <vt:lpstr>Prezentácia programu PowerPoint</vt:lpstr>
      <vt:lpstr>Prezentácia programu PowerPoint</vt:lpstr>
      <vt:lpstr>Prezentácia programu PowerPoint</vt:lpstr>
      <vt:lpstr>Prezentácia programu PowerPoint</vt:lpstr>
      <vt:lpstr>User interface</vt:lpstr>
      <vt:lpstr>Prezentácia programu PowerPoint</vt:lpstr>
      <vt:lpstr>Prezentácia programu PowerPoint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Budinský</dc:creator>
  <cp:revision>30</cp:revision>
  <dcterms:created xsi:type="dcterms:W3CDTF">2026-02-24T18:24:02Z</dcterms:created>
  <dcterms:modified xsi:type="dcterms:W3CDTF">2026-05-02T11:49:56Z</dcterms:modified>
</cp:coreProperties>
</file>