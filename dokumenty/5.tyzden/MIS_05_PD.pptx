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2" r:id="rId1"/>
  </p:sldMasterIdLst>
  <p:notesMasterIdLst>
    <p:notesMasterId r:id="rId8"/>
  </p:notesMasterIdLst>
  <p:sldIdLst>
    <p:sldId id="256" r:id="rId2"/>
    <p:sldId id="264" r:id="rId3"/>
    <p:sldId id="276" r:id="rId4"/>
    <p:sldId id="277" r:id="rId5"/>
    <p:sldId id="278" r:id="rId6"/>
    <p:sldId id="27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redný štýl 2 - zvýrazneni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48" autoAdjust="0"/>
    <p:restoredTop sz="94671"/>
  </p:normalViewPr>
  <p:slideViewPr>
    <p:cSldViewPr snapToGrid="0">
      <p:cViewPr>
        <p:scale>
          <a:sx n="118" d="100"/>
          <a:sy n="118" d="100"/>
        </p:scale>
        <p:origin x="272" y="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D93F9-2FAE-4317-8508-8C34E94D399D}" type="datetimeFigureOut">
              <a:rPr lang="sk-SK" smtClean="0"/>
              <a:t>12.3.2026</a:t>
            </a:fld>
            <a:endParaRPr lang="sk-SK"/>
          </a:p>
        </p:txBody>
      </p:sp>
      <p:sp>
        <p:nvSpPr>
          <p:cNvPr id="4" name="Zástupný objekt pre obrázok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4D178-9940-4229-B9AB-D1ABBAB2CB88}" type="slidenum">
              <a:rPr lang="sk-SK" smtClean="0"/>
              <a:t>‹#›</a:t>
            </a:fld>
            <a:endParaRPr lang="sk-SK"/>
          </a:p>
        </p:txBody>
      </p:sp>
    </p:spTree>
    <p:extLst>
      <p:ext uri="{BB962C8B-B14F-4D97-AF65-F5344CB8AC3E}">
        <p14:creationId xmlns:p14="http://schemas.microsoft.com/office/powerpoint/2010/main" val="787789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txBody>
          <a:bodyPr/>
          <a:lstStyle/>
          <a:p>
            <a:endParaRPr lang="sk-SK"/>
          </a:p>
        </p:txBody>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8C84D178-9940-4229-B9AB-D1ABBAB2CB88}" type="slidenum">
              <a:rPr lang="sk-SK" smtClean="0"/>
              <a:t>6</a:t>
            </a:fld>
            <a:endParaRPr lang="sk-SK"/>
          </a:p>
        </p:txBody>
      </p:sp>
    </p:spTree>
    <p:extLst>
      <p:ext uri="{BB962C8B-B14F-4D97-AF65-F5344CB8AC3E}">
        <p14:creationId xmlns:p14="http://schemas.microsoft.com/office/powerpoint/2010/main" val="3291448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Úvodná snímka">
    <p:spTree>
      <p:nvGrpSpPr>
        <p:cNvPr id="1" name=""/>
        <p:cNvGrpSpPr/>
        <p:nvPr/>
      </p:nvGrpSpPr>
      <p:grpSpPr>
        <a:xfrm>
          <a:off x="0" y="0"/>
          <a:ext cx="0" cy="0"/>
          <a:chOff x="0" y="0"/>
          <a:chExt cx="0" cy="0"/>
        </a:xfrm>
      </p:grpSpPr>
      <p:sp>
        <p:nvSpPr>
          <p:cNvPr id="7" name="Rectangle 6"/>
          <p:cNvSpPr/>
          <p:nvPr/>
        </p:nvSpPr>
        <p:spPr>
          <a:xfrm>
            <a:off x="-56707" y="6400800"/>
            <a:ext cx="12248707"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userDrawn="1"/>
        </p:nvSpPr>
        <p:spPr>
          <a:xfrm>
            <a:off x="15" y="6334316"/>
            <a:ext cx="1219198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sk-SK"/>
              <a:t>Kliknutím upravte štýl predlohy nadpisu</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sk-SK"/>
              <a:t>Kliknutím upravte štýl predlohy podnadpisu</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a:cxnSpLocks/>
          </p:cNvCxnSpPr>
          <p:nvPr/>
        </p:nvCxnSpPr>
        <p:spPr>
          <a:xfrm>
            <a:off x="1207658" y="4343400"/>
            <a:ext cx="480495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6">
            <a:extLst>
              <a:ext uri="{FF2B5EF4-FFF2-40B4-BE49-F238E27FC236}">
                <a16:creationId xmlns:a16="http://schemas.microsoft.com/office/drawing/2014/main" id="{B557B41B-3F4A-458C-6282-6D94CEE66D36}"/>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1" name="Rectangle 7">
            <a:extLst>
              <a:ext uri="{FF2B5EF4-FFF2-40B4-BE49-F238E27FC236}">
                <a16:creationId xmlns:a16="http://schemas.microsoft.com/office/drawing/2014/main" id="{608104C2-16AC-D39D-59FE-EA56610AEC27}"/>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38264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Content Placeholder 2"/>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235338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Hlavička sekcie">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sk-SK"/>
              <a:t>Kliknutím upravte štýl predlohy nadpisu</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k-SK"/>
              <a:t>Kliknite sem a upravte štýly predlohy textu</a:t>
            </a:r>
          </a:p>
        </p:txBody>
      </p:sp>
      <p:sp>
        <p:nvSpPr>
          <p:cNvPr id="4" name="Date Placeholder 3"/>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5075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sk-SK"/>
              <a:t>Kliknutím upravte štýl predlohy nadpisu</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0321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sk-SK"/>
              <a:t>Kliknutím upravte štýl predlohy nadpisu</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Content Placeholder 3"/>
          <p:cNvSpPr>
            <a:spLocks noGrp="1"/>
          </p:cNvSpPr>
          <p:nvPr>
            <p:ph sz="half" idx="2"/>
          </p:nvPr>
        </p:nvSpPr>
        <p:spPr>
          <a:xfrm>
            <a:off x="109728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Content Placeholder 5"/>
          <p:cNvSpPr>
            <a:spLocks noGrp="1"/>
          </p:cNvSpPr>
          <p:nvPr>
            <p:ph sz="quarter" idx="4"/>
          </p:nvPr>
        </p:nvSpPr>
        <p:spPr>
          <a:xfrm>
            <a:off x="6217920" y="2582334"/>
            <a:ext cx="4937760" cy="33782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28680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085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rázdna">
    <p:spTree>
      <p:nvGrpSpPr>
        <p:cNvPr id="1" name=""/>
        <p:cNvGrpSpPr/>
        <p:nvPr/>
      </p:nvGrpSpPr>
      <p:grpSpPr>
        <a:xfrm>
          <a:off x="0" y="0"/>
          <a:ext cx="0" cy="0"/>
          <a:chOff x="0" y="0"/>
          <a:chExt cx="0" cy="0"/>
        </a:xfrm>
      </p:grpSpPr>
      <p:sp>
        <p:nvSpPr>
          <p:cNvPr id="5" name="Rectangle 4"/>
          <p:cNvSpPr/>
          <p:nvPr/>
        </p:nvSpPr>
        <p:spPr>
          <a:xfrm>
            <a:off x="-11097" y="6400800"/>
            <a:ext cx="1220309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6" name="Rectangle 5"/>
          <p:cNvSpPr/>
          <p:nvPr/>
        </p:nvSpPr>
        <p:spPr>
          <a:xfrm>
            <a:off x="15" y="6334316"/>
            <a:ext cx="1220309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7" name="Date Placeholder 6"/>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2" name="Rectangle 7">
            <a:extLst>
              <a:ext uri="{FF2B5EF4-FFF2-40B4-BE49-F238E27FC236}">
                <a16:creationId xmlns:a16="http://schemas.microsoft.com/office/drawing/2014/main" id="{1873172D-ECC8-2CA4-A467-DE5523E412B6}"/>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3" name="Rectangle 6">
            <a:extLst>
              <a:ext uri="{FF2B5EF4-FFF2-40B4-BE49-F238E27FC236}">
                <a16:creationId xmlns:a16="http://schemas.microsoft.com/office/drawing/2014/main" id="{3B05AC86-44A6-D1A7-20BA-AF3CB1D48D5C}"/>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42693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Obsah s popisom">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sk-SK"/>
              <a:t>Kliknutím upravte štýl predlohy nadpisu</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586B75A-687E-405C-8A0B-8D00578BA2C3}" type="datetimeFigureOut">
              <a:rPr lang="en-US" smtClean="0"/>
              <a:pPr/>
              <a:t>3/12/26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38179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ázok s popisom">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sk-SK"/>
              <a:t>Kliknutím upravte štýl predlohy nadpisu</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k-SK"/>
              <a:t>Kliknutím na ikonu pridáte obrázok</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k-SK"/>
              <a:t>Kliknite sem a upravte štýly predlohy textu</a:t>
            </a:r>
          </a:p>
        </p:txBody>
      </p:sp>
      <p:sp>
        <p:nvSpPr>
          <p:cNvPr id="5" name="Date Placeholder 4"/>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83996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Kliknutím upravte štýl predlohy nadpisu</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70936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Zvislý nadpis a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2" name="Vertical Title 1"/>
          <p:cNvSpPr>
            <a:spLocks noGrp="1"/>
          </p:cNvSpPr>
          <p:nvPr>
            <p:ph type="title" orient="vert"/>
          </p:nvPr>
        </p:nvSpPr>
        <p:spPr>
          <a:xfrm>
            <a:off x="8724900" y="412302"/>
            <a:ext cx="2628900" cy="5759898"/>
          </a:xfrm>
        </p:spPr>
        <p:txBody>
          <a:bodyPr vert="eaVert"/>
          <a:lstStyle/>
          <a:p>
            <a:r>
              <a:rPr lang="sk-SK"/>
              <a:t>Kliknutím upravte štýl predlohy nadpisu</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3/12/26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5360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sk-SK"/>
              <a:t>Kliknutím upravte štýl predlohy nadpisu</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586B75A-687E-405C-8A0B-8D00578BA2C3}" type="datetimeFigureOut">
              <a:rPr lang="en-US" smtClean="0"/>
              <a:pPr/>
              <a:t>3/12/26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6">
            <a:extLst>
              <a:ext uri="{FF2B5EF4-FFF2-40B4-BE49-F238E27FC236}">
                <a16:creationId xmlns:a16="http://schemas.microsoft.com/office/drawing/2014/main" id="{46CB1EA5-435B-B93D-1AB5-27774F31673B}"/>
              </a:ext>
            </a:extLst>
          </p:cNvPr>
          <p:cNvSpPr/>
          <p:nvPr userDrawn="1"/>
        </p:nvSpPr>
        <p:spPr>
          <a:xfrm>
            <a:off x="-12701" y="6400799"/>
            <a:ext cx="12217401" cy="473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4" name="Rectangle 7">
            <a:extLst>
              <a:ext uri="{FF2B5EF4-FFF2-40B4-BE49-F238E27FC236}">
                <a16:creationId xmlns:a16="http://schemas.microsoft.com/office/drawing/2014/main" id="{FA60BC72-0426-9A61-9A42-6E59696A30DD}"/>
              </a:ext>
            </a:extLst>
          </p:cNvPr>
          <p:cNvSpPr/>
          <p:nvPr userDrawn="1"/>
        </p:nvSpPr>
        <p:spPr>
          <a:xfrm>
            <a:off x="-15861" y="6334316"/>
            <a:ext cx="122174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5" name="Rectangle 6">
            <a:extLst>
              <a:ext uri="{FF2B5EF4-FFF2-40B4-BE49-F238E27FC236}">
                <a16:creationId xmlns:a16="http://schemas.microsoft.com/office/drawing/2014/main" id="{1ADF2AC7-7C88-F5CE-6ED0-1DF84C7F971B}"/>
              </a:ext>
            </a:extLst>
          </p:cNvPr>
          <p:cNvSpPr/>
          <p:nvPr userDrawn="1"/>
        </p:nvSpPr>
        <p:spPr>
          <a:xfrm>
            <a:off x="1" y="-46383"/>
            <a:ext cx="12204700" cy="5060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
        <p:nvSpPr>
          <p:cNvPr id="16" name="Rectangle 7">
            <a:extLst>
              <a:ext uri="{FF2B5EF4-FFF2-40B4-BE49-F238E27FC236}">
                <a16:creationId xmlns:a16="http://schemas.microsoft.com/office/drawing/2014/main" id="{048880D3-048D-0FE3-98F0-F3459BB2C80F}"/>
              </a:ext>
            </a:extLst>
          </p:cNvPr>
          <p:cNvSpPr/>
          <p:nvPr userDrawn="1"/>
        </p:nvSpPr>
        <p:spPr>
          <a:xfrm>
            <a:off x="-1" y="470426"/>
            <a:ext cx="1220470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sk-SK"/>
          </a:p>
        </p:txBody>
      </p:sp>
    </p:spTree>
    <p:extLst>
      <p:ext uri="{BB962C8B-B14F-4D97-AF65-F5344CB8AC3E}">
        <p14:creationId xmlns:p14="http://schemas.microsoft.com/office/powerpoint/2010/main" val="2347341422"/>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5E195D7-4AE8-A637-8B15-A9230D9D4555}"/>
              </a:ext>
            </a:extLst>
          </p:cNvPr>
          <p:cNvSpPr>
            <a:spLocks noGrp="1"/>
          </p:cNvSpPr>
          <p:nvPr>
            <p:ph type="ctrTitle"/>
          </p:nvPr>
        </p:nvSpPr>
        <p:spPr>
          <a:xfrm>
            <a:off x="1097280" y="758952"/>
            <a:ext cx="8660973" cy="3566160"/>
          </a:xfrm>
        </p:spPr>
        <p:txBody>
          <a:bodyPr/>
          <a:lstStyle/>
          <a:p>
            <a:r>
              <a:rPr lang="sk-SK" b="1" dirty="0"/>
              <a:t>Etické aspekty projektu</a:t>
            </a:r>
            <a:endParaRPr lang="sk-SK" b="1" dirty="0">
              <a:solidFill>
                <a:schemeClr val="tx1"/>
              </a:solidFill>
            </a:endParaRPr>
          </a:p>
        </p:txBody>
      </p:sp>
      <p:sp>
        <p:nvSpPr>
          <p:cNvPr id="3" name="Podnadpis 2">
            <a:extLst>
              <a:ext uri="{FF2B5EF4-FFF2-40B4-BE49-F238E27FC236}">
                <a16:creationId xmlns:a16="http://schemas.microsoft.com/office/drawing/2014/main" id="{D138073C-523D-5175-986A-BCCF93A20221}"/>
              </a:ext>
            </a:extLst>
          </p:cNvPr>
          <p:cNvSpPr>
            <a:spLocks noGrp="1"/>
          </p:cNvSpPr>
          <p:nvPr>
            <p:ph type="subTitle" idx="1"/>
          </p:nvPr>
        </p:nvSpPr>
        <p:spPr>
          <a:xfrm>
            <a:off x="1097280" y="5096036"/>
            <a:ext cx="7083691" cy="1186102"/>
          </a:xfrm>
        </p:spPr>
        <p:txBody>
          <a:bodyPr>
            <a:noAutofit/>
          </a:bodyPr>
          <a:lstStyle/>
          <a:p>
            <a:r>
              <a:rPr lang="sk-SK" b="1" dirty="0">
                <a:solidFill>
                  <a:schemeClr val="tx1"/>
                </a:solidFill>
                <a:latin typeface="+mn-lt"/>
              </a:rPr>
              <a:t>Terminátori:</a:t>
            </a:r>
          </a:p>
          <a:p>
            <a:r>
              <a:rPr lang="sk-SK" dirty="0">
                <a:solidFill>
                  <a:schemeClr val="tx1"/>
                </a:solidFill>
                <a:latin typeface="+mn-lt"/>
              </a:rPr>
              <a:t>Damián </a:t>
            </a:r>
            <a:r>
              <a:rPr lang="sk-SK" dirty="0" err="1">
                <a:solidFill>
                  <a:schemeClr val="tx1"/>
                </a:solidFill>
                <a:latin typeface="+mn-lt"/>
              </a:rPr>
              <a:t>Kaszycki</a:t>
            </a:r>
            <a:r>
              <a:rPr lang="sk-SK" dirty="0">
                <a:solidFill>
                  <a:schemeClr val="tx1"/>
                </a:solidFill>
                <a:latin typeface="+mn-lt"/>
              </a:rPr>
              <a:t>, Richard </a:t>
            </a:r>
            <a:r>
              <a:rPr lang="sk-SK" dirty="0" err="1">
                <a:solidFill>
                  <a:schemeClr val="tx1"/>
                </a:solidFill>
                <a:latin typeface="+mn-lt"/>
              </a:rPr>
              <a:t>Rúš</a:t>
            </a:r>
            <a:r>
              <a:rPr lang="sk-SK" dirty="0">
                <a:solidFill>
                  <a:schemeClr val="tx1"/>
                </a:solidFill>
                <a:latin typeface="+mn-lt"/>
              </a:rPr>
              <a:t>, Ľudmila </a:t>
            </a:r>
            <a:r>
              <a:rPr lang="sk-SK" dirty="0" err="1">
                <a:solidFill>
                  <a:schemeClr val="tx1"/>
                </a:solidFill>
                <a:latin typeface="+mn-lt"/>
              </a:rPr>
              <a:t>Koperdáková</a:t>
            </a:r>
            <a:r>
              <a:rPr lang="sk-SK" dirty="0">
                <a:solidFill>
                  <a:schemeClr val="tx1"/>
                </a:solidFill>
                <a:latin typeface="+mn-lt"/>
              </a:rPr>
              <a:t>, Samuel Budinský </a:t>
            </a:r>
          </a:p>
          <a:p>
            <a:endParaRPr lang="sk-SK" dirty="0"/>
          </a:p>
        </p:txBody>
      </p:sp>
      <p:pic>
        <p:nvPicPr>
          <p:cNvPr id="7" name="Obrázok 6">
            <a:extLst>
              <a:ext uri="{FF2B5EF4-FFF2-40B4-BE49-F238E27FC236}">
                <a16:creationId xmlns:a16="http://schemas.microsoft.com/office/drawing/2014/main" id="{EE8E740B-733D-5831-6AE2-D974081B353E}"/>
              </a:ext>
            </a:extLst>
          </p:cNvPr>
          <p:cNvPicPr>
            <a:picLocks noChangeAspect="1"/>
          </p:cNvPicPr>
          <p:nvPr/>
        </p:nvPicPr>
        <p:blipFill>
          <a:blip r:embed="rId2"/>
          <a:stretch>
            <a:fillRect/>
          </a:stretch>
        </p:blipFill>
        <p:spPr>
          <a:xfrm>
            <a:off x="7482596" y="1277112"/>
            <a:ext cx="4551313" cy="4303776"/>
          </a:xfrm>
          <a:prstGeom prst="rect">
            <a:avLst/>
          </a:prstGeom>
        </p:spPr>
      </p:pic>
    </p:spTree>
    <p:extLst>
      <p:ext uri="{BB962C8B-B14F-4D97-AF65-F5344CB8AC3E}">
        <p14:creationId xmlns:p14="http://schemas.microsoft.com/office/powerpoint/2010/main" val="1460099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5EBE5-F5D1-2178-3C58-3066B7A7FF32}"/>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06016D7-95B7-CEF8-0A5A-B047FED36A42}"/>
              </a:ext>
            </a:extLst>
          </p:cNvPr>
          <p:cNvSpPr txBox="1">
            <a:spLocks/>
          </p:cNvSpPr>
          <p:nvPr/>
        </p:nvSpPr>
        <p:spPr>
          <a:xfrm>
            <a:off x="919285" y="1889136"/>
            <a:ext cx="10450121" cy="479402"/>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Nesmieme</a:t>
            </a:r>
            <a:r>
              <a:rPr lang="en-US" dirty="0"/>
              <a:t> </a:t>
            </a:r>
            <a:r>
              <a:rPr lang="en-US" dirty="0" err="1"/>
              <a:t>zvyšovať</a:t>
            </a:r>
            <a:r>
              <a:rPr lang="en-US" dirty="0"/>
              <a:t> </a:t>
            </a:r>
            <a:r>
              <a:rPr lang="en-US" dirty="0" err="1"/>
              <a:t>byrokratickú</a:t>
            </a:r>
            <a:r>
              <a:rPr lang="en-US" dirty="0"/>
              <a:t> </a:t>
            </a:r>
            <a:r>
              <a:rPr lang="en-US" dirty="0" err="1"/>
              <a:t>záťaž</a:t>
            </a:r>
            <a:r>
              <a:rPr lang="en-US" dirty="0"/>
              <a:t> </a:t>
            </a:r>
            <a:r>
              <a:rPr lang="en-US" dirty="0" err="1"/>
              <a:t>lekárov</a:t>
            </a:r>
            <a:r>
              <a:rPr lang="en-US" dirty="0"/>
              <a:t> </a:t>
            </a:r>
            <a:r>
              <a:rPr lang="en-US" dirty="0" err="1"/>
              <a:t>izolovaným</a:t>
            </a:r>
            <a:r>
              <a:rPr lang="en-US" dirty="0"/>
              <a:t> </a:t>
            </a:r>
            <a:r>
              <a:rPr lang="en-US" dirty="0" err="1"/>
              <a:t>systémom</a:t>
            </a:r>
            <a:r>
              <a:rPr lang="en-US" dirty="0"/>
              <a:t>.</a:t>
            </a:r>
            <a:endParaRPr lang="sk-SK" dirty="0"/>
          </a:p>
        </p:txBody>
      </p:sp>
      <p:sp>
        <p:nvSpPr>
          <p:cNvPr id="5" name="Nadpis 1">
            <a:extLst>
              <a:ext uri="{FF2B5EF4-FFF2-40B4-BE49-F238E27FC236}">
                <a16:creationId xmlns:a16="http://schemas.microsoft.com/office/drawing/2014/main" id="{3C4E46B0-8C72-3D72-8B74-6AE46CBF7122}"/>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a:solidFill>
                  <a:schemeClr val="tx1"/>
                </a:solidFill>
              </a:rPr>
              <a:t>Etika </a:t>
            </a:r>
            <a:r>
              <a:rPr lang="en-US" sz="5000" b="1" dirty="0" err="1">
                <a:solidFill>
                  <a:schemeClr val="tx1"/>
                </a:solidFill>
              </a:rPr>
              <a:t>voči</a:t>
            </a:r>
            <a:r>
              <a:rPr lang="en-US" sz="5000" b="1" dirty="0">
                <a:solidFill>
                  <a:schemeClr val="tx1"/>
                </a:solidFill>
              </a:rPr>
              <a:t> </a:t>
            </a:r>
            <a:r>
              <a:rPr lang="en-US" sz="5000" b="1" dirty="0" err="1">
                <a:solidFill>
                  <a:schemeClr val="tx1"/>
                </a:solidFill>
              </a:rPr>
              <a:t>zdravotníkom</a:t>
            </a:r>
            <a:endParaRPr lang="sk-SK" sz="5000" b="1" dirty="0">
              <a:solidFill>
                <a:schemeClr val="tx1"/>
              </a:solidFill>
            </a:endParaRPr>
          </a:p>
        </p:txBody>
      </p:sp>
      <p:pic>
        <p:nvPicPr>
          <p:cNvPr id="2050" name="Picture 2" descr="In this photo, we see a medical professional, perhaps a doctor, surrounded by towering stacks of paperwork, each one potentially representing a patient's case or medical records. The doctor's expression is one of stress and fatigue, suggesting the immense pressure healthcare workers often face. The blue lighting casts a cool hue over the scene, emphasizing the clinical setting and the stark contrast between the paperwork and the technology present, hinted by the computer monitor in the background. This image vividly captures the challenges of modern medicine and the administrative load that can accompany it.">
            <a:extLst>
              <a:ext uri="{FF2B5EF4-FFF2-40B4-BE49-F238E27FC236}">
                <a16:creationId xmlns:a16="http://schemas.microsoft.com/office/drawing/2014/main" id="{753C6693-6349-E440-B3B1-89FDD3FBB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205" b="12775"/>
          <a:stretch/>
        </p:blipFill>
        <p:spPr bwMode="auto">
          <a:xfrm>
            <a:off x="3581400" y="2322238"/>
            <a:ext cx="5029200" cy="3873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20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4D67-1470-CE02-5D05-F4042452E943}"/>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A2608AEE-7EB7-203E-0736-7B6FAAA3A534}"/>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Ochrana</a:t>
            </a:r>
            <a:r>
              <a:rPr lang="en-US" dirty="0"/>
              <a:t> </a:t>
            </a:r>
            <a:r>
              <a:rPr lang="en-US" dirty="0" err="1"/>
              <a:t>termínov</a:t>
            </a:r>
            <a:r>
              <a:rPr lang="en-US" dirty="0"/>
              <a:t> pred </a:t>
            </a:r>
            <a:r>
              <a:rPr lang="en-US" dirty="0" err="1"/>
              <a:t>zneužitím</a:t>
            </a:r>
            <a:r>
              <a:rPr lang="en-US" dirty="0"/>
              <a:t> ("no-shows"), aby </a:t>
            </a:r>
            <a:r>
              <a:rPr lang="en-US" dirty="0" err="1"/>
              <a:t>špekulanti</a:t>
            </a:r>
            <a:r>
              <a:rPr lang="en-US" dirty="0"/>
              <a:t> </a:t>
            </a:r>
            <a:r>
              <a:rPr lang="en-US" dirty="0" err="1"/>
              <a:t>neblokovali</a:t>
            </a:r>
            <a:r>
              <a:rPr lang="en-US" dirty="0"/>
              <a:t> </a:t>
            </a:r>
            <a:r>
              <a:rPr lang="en-US" dirty="0" err="1"/>
              <a:t>chorých</a:t>
            </a:r>
            <a:r>
              <a:rPr lang="en-US" dirty="0"/>
              <a:t>.</a:t>
            </a:r>
            <a:endParaRPr lang="sk-SK" dirty="0"/>
          </a:p>
        </p:txBody>
      </p:sp>
      <p:sp>
        <p:nvSpPr>
          <p:cNvPr id="5" name="Nadpis 1">
            <a:extLst>
              <a:ext uri="{FF2B5EF4-FFF2-40B4-BE49-F238E27FC236}">
                <a16:creationId xmlns:a16="http://schemas.microsoft.com/office/drawing/2014/main" id="{86547C87-52A3-8A0F-DBDF-A97AEA72783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err="1">
                <a:solidFill>
                  <a:schemeClr val="tx1"/>
                </a:solidFill>
              </a:rPr>
              <a:t>Spravodlivá</a:t>
            </a:r>
            <a:r>
              <a:rPr lang="en-US" sz="5000" b="1" dirty="0">
                <a:solidFill>
                  <a:schemeClr val="tx1"/>
                </a:solidFill>
              </a:rPr>
              <a:t> </a:t>
            </a:r>
            <a:r>
              <a:rPr lang="en-US" sz="5000" b="1" dirty="0" err="1">
                <a:solidFill>
                  <a:schemeClr val="tx1"/>
                </a:solidFill>
              </a:rPr>
              <a:t>alokácia</a:t>
            </a:r>
            <a:r>
              <a:rPr lang="en-US" sz="5000" b="1" dirty="0">
                <a:solidFill>
                  <a:schemeClr val="tx1"/>
                </a:solidFill>
              </a:rPr>
              <a:t> </a:t>
            </a:r>
            <a:r>
              <a:rPr lang="en-US" sz="5000" b="1" dirty="0" err="1">
                <a:solidFill>
                  <a:schemeClr val="tx1"/>
                </a:solidFill>
              </a:rPr>
              <a:t>starostlivosti</a:t>
            </a:r>
            <a:endParaRPr lang="sk-SK" sz="5000" b="1" dirty="0">
              <a:solidFill>
                <a:schemeClr val="tx1"/>
              </a:solidFill>
            </a:endParaRPr>
          </a:p>
        </p:txBody>
      </p:sp>
      <p:pic>
        <p:nvPicPr>
          <p:cNvPr id="3074" name="Picture 2" descr="Modern Hospital Waiting Area with Empty Seats and Bright Interior Design  for Medical Facility 70576725 Stock Photo at Vecteezy">
            <a:extLst>
              <a:ext uri="{FF2B5EF4-FFF2-40B4-BE49-F238E27FC236}">
                <a16:creationId xmlns:a16="http://schemas.microsoft.com/office/drawing/2014/main" id="{E702D24E-FD0F-4791-3E4D-91101AB60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839" y="2897650"/>
            <a:ext cx="5784321" cy="3240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692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44F9-961B-5FDA-35A7-A22B5B81E215}"/>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660CA51E-D103-7EBA-80E4-822327A97F88}"/>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Hodnotenia</a:t>
            </a:r>
            <a:r>
              <a:rPr lang="en-US" dirty="0"/>
              <a:t> </a:t>
            </a:r>
            <a:r>
              <a:rPr lang="en-US" dirty="0" err="1"/>
              <a:t>nesmú</a:t>
            </a:r>
            <a:r>
              <a:rPr lang="en-US" dirty="0"/>
              <a:t> </a:t>
            </a:r>
            <a:r>
              <a:rPr lang="en-US" dirty="0" err="1"/>
              <a:t>trestať</a:t>
            </a:r>
            <a:r>
              <a:rPr lang="en-US" dirty="0"/>
              <a:t> </a:t>
            </a:r>
            <a:r>
              <a:rPr lang="en-US" dirty="0" err="1"/>
              <a:t>lekárov</a:t>
            </a:r>
            <a:r>
              <a:rPr lang="en-US" dirty="0"/>
              <a:t> za </a:t>
            </a:r>
            <a:r>
              <a:rPr lang="en-US" dirty="0" err="1"/>
              <a:t>vedecky</a:t>
            </a:r>
            <a:r>
              <a:rPr lang="en-US" dirty="0"/>
              <a:t> </a:t>
            </a:r>
            <a:r>
              <a:rPr lang="en-US" dirty="0" err="1"/>
              <a:t>správne</a:t>
            </a:r>
            <a:r>
              <a:rPr lang="en-US" dirty="0"/>
              <a:t>, no </a:t>
            </a:r>
            <a:r>
              <a:rPr lang="en-US" dirty="0" err="1"/>
              <a:t>nepopulárne</a:t>
            </a:r>
            <a:r>
              <a:rPr lang="en-US" dirty="0"/>
              <a:t> </a:t>
            </a:r>
            <a:r>
              <a:rPr lang="en-US" dirty="0" err="1"/>
              <a:t>rozhodnutia</a:t>
            </a:r>
            <a:r>
              <a:rPr lang="en-US" dirty="0"/>
              <a:t>.</a:t>
            </a:r>
            <a:endParaRPr lang="sk-SK" dirty="0"/>
          </a:p>
        </p:txBody>
      </p:sp>
      <p:sp>
        <p:nvSpPr>
          <p:cNvPr id="5" name="Nadpis 1">
            <a:extLst>
              <a:ext uri="{FF2B5EF4-FFF2-40B4-BE49-F238E27FC236}">
                <a16:creationId xmlns:a16="http://schemas.microsoft.com/office/drawing/2014/main" id="{D1356CDC-342B-B126-066B-02A264817E79}"/>
              </a:ext>
            </a:extLst>
          </p:cNvPr>
          <p:cNvSpPr txBox="1">
            <a:spLocks/>
          </p:cNvSpPr>
          <p:nvPr/>
        </p:nvSpPr>
        <p:spPr>
          <a:xfrm>
            <a:off x="1066800" y="788020"/>
            <a:ext cx="10058400" cy="95880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dirty="0" err="1">
                <a:solidFill>
                  <a:schemeClr val="tx1"/>
                </a:solidFill>
              </a:rPr>
              <a:t>Objektivita</a:t>
            </a:r>
            <a:r>
              <a:rPr lang="en-US" sz="5000" b="1" dirty="0">
                <a:solidFill>
                  <a:schemeClr val="tx1"/>
                </a:solidFill>
              </a:rPr>
              <a:t> vs. </a:t>
            </a:r>
            <a:r>
              <a:rPr lang="en-US" sz="5000" b="1" dirty="0" err="1">
                <a:solidFill>
                  <a:schemeClr val="tx1"/>
                </a:solidFill>
              </a:rPr>
              <a:t>Medicínsky</a:t>
            </a:r>
            <a:r>
              <a:rPr lang="en-US" sz="5000" b="1" dirty="0">
                <a:solidFill>
                  <a:schemeClr val="tx1"/>
                </a:solidFill>
              </a:rPr>
              <a:t> </a:t>
            </a:r>
            <a:r>
              <a:rPr lang="en-US" sz="5000" b="1" dirty="0" err="1">
                <a:solidFill>
                  <a:schemeClr val="tx1"/>
                </a:solidFill>
              </a:rPr>
              <a:t>populizmus</a:t>
            </a:r>
            <a:endParaRPr lang="sk-SK" sz="5000" b="1" dirty="0">
              <a:solidFill>
                <a:schemeClr val="tx1"/>
              </a:solidFill>
            </a:endParaRPr>
          </a:p>
        </p:txBody>
      </p:sp>
      <p:pic>
        <p:nvPicPr>
          <p:cNvPr id="4102" name="Picture 6" descr="Diagnostic Imaging - Santiam Hospital">
            <a:extLst>
              <a:ext uri="{FF2B5EF4-FFF2-40B4-BE49-F238E27FC236}">
                <a16:creationId xmlns:a16="http://schemas.microsoft.com/office/drawing/2014/main" id="{55BA7BF5-76DD-C578-D8F8-EE2D7798AC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4232" y="2897650"/>
            <a:ext cx="5823535" cy="3275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18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8A381-5ABB-A866-AAE3-C2000ADCA9C7}"/>
            </a:ext>
          </a:extLst>
        </p:cNvPr>
        <p:cNvGrpSpPr/>
        <p:nvPr/>
      </p:nvGrpSpPr>
      <p:grpSpPr>
        <a:xfrm>
          <a:off x="0" y="0"/>
          <a:ext cx="0" cy="0"/>
          <a:chOff x="0" y="0"/>
          <a:chExt cx="0" cy="0"/>
        </a:xfrm>
      </p:grpSpPr>
      <p:sp>
        <p:nvSpPr>
          <p:cNvPr id="3" name="Zástupný objekt pre obsah 6">
            <a:extLst>
              <a:ext uri="{FF2B5EF4-FFF2-40B4-BE49-F238E27FC236}">
                <a16:creationId xmlns:a16="http://schemas.microsoft.com/office/drawing/2014/main" id="{9CF6C093-0DC1-15BC-A8B0-F552A6B0A37E}"/>
              </a:ext>
            </a:extLst>
          </p:cNvPr>
          <p:cNvSpPr txBox="1">
            <a:spLocks/>
          </p:cNvSpPr>
          <p:nvPr/>
        </p:nvSpPr>
        <p:spPr>
          <a:xfrm>
            <a:off x="919286" y="1842835"/>
            <a:ext cx="9962074" cy="958805"/>
          </a:xfrm>
          <a:prstGeom prst="rect">
            <a:avLst/>
          </a:prstGeom>
        </p:spPr>
        <p:txBody>
          <a:bodyPr vert="horz" lIns="0" tIns="45720" rIns="0" bIns="45720" rtlCol="0" anchor="ctr">
            <a:normAutofit/>
          </a:bodyPr>
          <a:lstStyle>
            <a:lvl1pPr marL="91440" indent="-91440" defTabSz="914400">
              <a:lnSpc>
                <a:spcPct val="90000"/>
              </a:lnSpc>
              <a:spcBef>
                <a:spcPts val="1200"/>
              </a:spcBef>
              <a:spcAft>
                <a:spcPts val="200"/>
              </a:spcAft>
              <a:buClr>
                <a:schemeClr val="accent1"/>
              </a:buClr>
              <a:buSzPct val="100000"/>
              <a:buFont typeface="Wingdings" panose="05000000000000000000" pitchFamily="2" charset="2"/>
              <a:buChar char="Ø"/>
              <a:defRPr sz="2800"/>
            </a:lvl1pPr>
            <a:lvl2pPr marL="384048" indent="-182880" defTabSz="914400">
              <a:lnSpc>
                <a:spcPct val="90000"/>
              </a:lnSpc>
              <a:spcBef>
                <a:spcPts val="200"/>
              </a:spcBef>
              <a:spcAft>
                <a:spcPts val="400"/>
              </a:spcAft>
              <a:buClr>
                <a:schemeClr val="accent1"/>
              </a:buClr>
              <a:buFont typeface="Calibri" pitchFamily="34" charset="0"/>
              <a:buChar char="◦"/>
              <a:defRPr>
                <a:solidFill>
                  <a:schemeClr val="tx1">
                    <a:lumMod val="75000"/>
                    <a:lumOff val="25000"/>
                  </a:schemeClr>
                </a:solidFill>
              </a:defRPr>
            </a:lvl2pPr>
            <a:lvl3pPr marL="56692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3pPr>
            <a:lvl4pPr marL="74980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4pPr>
            <a:lvl5pPr marL="932688" indent="-18288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5pPr>
            <a:lvl6pPr marL="11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6pPr>
            <a:lvl7pPr marL="13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7pPr>
            <a:lvl8pPr marL="15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8pPr>
            <a:lvl9pPr marL="1700000" indent="-228600" defTabSz="914400">
              <a:lnSpc>
                <a:spcPct val="90000"/>
              </a:lnSpc>
              <a:spcBef>
                <a:spcPts val="200"/>
              </a:spcBef>
              <a:spcAft>
                <a:spcPts val="400"/>
              </a:spcAft>
              <a:buClr>
                <a:schemeClr val="accent1"/>
              </a:buClr>
              <a:buFont typeface="Calibri" pitchFamily="34" charset="0"/>
              <a:buChar char="◦"/>
              <a:defRPr sz="1400">
                <a:solidFill>
                  <a:schemeClr val="tx1">
                    <a:lumMod val="75000"/>
                    <a:lumOff val="25000"/>
                  </a:schemeClr>
                </a:solidFill>
              </a:defRPr>
            </a:lvl9pPr>
          </a:lstStyle>
          <a:p>
            <a:r>
              <a:rPr lang="en-US" dirty="0" err="1"/>
              <a:t>Ochrana</a:t>
            </a:r>
            <a:r>
              <a:rPr lang="en-US" dirty="0"/>
              <a:t> </a:t>
            </a:r>
            <a:r>
              <a:rPr lang="en-US" dirty="0" err="1"/>
              <a:t>mimoriadne</a:t>
            </a:r>
            <a:r>
              <a:rPr lang="en-US" dirty="0"/>
              <a:t> </a:t>
            </a:r>
            <a:r>
              <a:rPr lang="en-US" dirty="0" err="1"/>
              <a:t>citlivých</a:t>
            </a:r>
            <a:r>
              <a:rPr lang="en-US" dirty="0"/>
              <a:t> </a:t>
            </a:r>
            <a:r>
              <a:rPr lang="en-US" dirty="0" err="1"/>
              <a:t>dát</a:t>
            </a:r>
            <a:r>
              <a:rPr lang="en-US" dirty="0"/>
              <a:t> (</a:t>
            </a:r>
            <a:r>
              <a:rPr lang="en-US" dirty="0" err="1"/>
              <a:t>vyhľadávanie</a:t>
            </a:r>
            <a:r>
              <a:rPr lang="en-US" dirty="0"/>
              <a:t> </a:t>
            </a:r>
            <a:r>
              <a:rPr lang="en-US" dirty="0" err="1"/>
              <a:t>špecifických</a:t>
            </a:r>
            <a:r>
              <a:rPr lang="en-US" dirty="0"/>
              <a:t> </a:t>
            </a:r>
            <a:r>
              <a:rPr lang="en-US" dirty="0" err="1"/>
              <a:t>diagnóz</a:t>
            </a:r>
            <a:r>
              <a:rPr lang="en-US" dirty="0"/>
              <a:t> a </a:t>
            </a:r>
            <a:r>
              <a:rPr lang="en-US" dirty="0" err="1"/>
              <a:t>špecialistov</a:t>
            </a:r>
            <a:r>
              <a:rPr lang="en-US" dirty="0"/>
              <a:t>).</a:t>
            </a:r>
            <a:endParaRPr lang="sk-SK" dirty="0"/>
          </a:p>
        </p:txBody>
      </p:sp>
      <p:sp>
        <p:nvSpPr>
          <p:cNvPr id="5" name="Nadpis 1">
            <a:extLst>
              <a:ext uri="{FF2B5EF4-FFF2-40B4-BE49-F238E27FC236}">
                <a16:creationId xmlns:a16="http://schemas.microsoft.com/office/drawing/2014/main" id="{74C3070B-F8B3-1C77-30A8-37C853801F7F}"/>
              </a:ext>
            </a:extLst>
          </p:cNvPr>
          <p:cNvSpPr txBox="1">
            <a:spLocks/>
          </p:cNvSpPr>
          <p:nvPr/>
        </p:nvSpPr>
        <p:spPr>
          <a:xfrm>
            <a:off x="1066800" y="788020"/>
            <a:ext cx="10058400" cy="95880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5000" b="1">
                <a:solidFill>
                  <a:schemeClr val="tx1"/>
                </a:solidFill>
              </a:rPr>
              <a:t>Absolútne digitálne súkromie</a:t>
            </a:r>
            <a:endParaRPr lang="sk-SK" sz="5000" b="1" dirty="0">
              <a:solidFill>
                <a:schemeClr val="tx1"/>
              </a:solidFill>
            </a:endParaRPr>
          </a:p>
        </p:txBody>
      </p:sp>
      <p:pic>
        <p:nvPicPr>
          <p:cNvPr id="5122" name="Picture 2">
            <a:extLst>
              <a:ext uri="{FF2B5EF4-FFF2-40B4-BE49-F238E27FC236}">
                <a16:creationId xmlns:a16="http://schemas.microsoft.com/office/drawing/2014/main" id="{34BEE0E4-B8FA-7552-63DF-AD9CFD0B8C2A}"/>
              </a:ext>
            </a:extLst>
          </p:cNvPr>
          <p:cNvPicPr>
            <a:picLocks noChangeAspect="1" noChangeArrowheads="1"/>
          </p:cNvPicPr>
          <p:nvPr/>
        </p:nvPicPr>
        <p:blipFill>
          <a:blip r:embed="rId2"/>
          <a:srcRect/>
          <a:stretch/>
        </p:blipFill>
        <p:spPr bwMode="auto">
          <a:xfrm>
            <a:off x="3509466" y="2897650"/>
            <a:ext cx="5173067" cy="3233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911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A949E90-F384-5437-F77E-9A11A62AFF36}"/>
              </a:ext>
            </a:extLst>
          </p:cNvPr>
          <p:cNvSpPr>
            <a:spLocks noGrp="1"/>
          </p:cNvSpPr>
          <p:nvPr>
            <p:ph type="ctrTitle"/>
          </p:nvPr>
        </p:nvSpPr>
        <p:spPr>
          <a:xfrm>
            <a:off x="1286233" y="1947672"/>
            <a:ext cx="4568952" cy="2788282"/>
          </a:xfrm>
        </p:spPr>
        <p:txBody>
          <a:bodyPr anchor="ctr">
            <a:noAutofit/>
          </a:bodyPr>
          <a:lstStyle/>
          <a:p>
            <a:r>
              <a:rPr lang="sk-SK" sz="6000" b="1" dirty="0">
                <a:solidFill>
                  <a:schemeClr val="tx1"/>
                </a:solidFill>
              </a:rPr>
              <a:t>Ďakujeme za pozornosť</a:t>
            </a:r>
          </a:p>
        </p:txBody>
      </p:sp>
      <p:pic>
        <p:nvPicPr>
          <p:cNvPr id="9" name="Obrázok 8" descr="Obrázok, na ktorom je symbol, dizajn, čierno-biela&#10;&#10;Automaticky generovaný popis">
            <a:extLst>
              <a:ext uri="{FF2B5EF4-FFF2-40B4-BE49-F238E27FC236}">
                <a16:creationId xmlns:a16="http://schemas.microsoft.com/office/drawing/2014/main" id="{E62CAF4A-99F5-C8BC-0DE6-A11768800357}"/>
              </a:ext>
            </a:extLst>
          </p:cNvPr>
          <p:cNvPicPr>
            <a:picLocks noChangeAspect="1"/>
          </p:cNvPicPr>
          <p:nvPr/>
        </p:nvPicPr>
        <p:blipFill>
          <a:blip r:embed="rId3"/>
          <a:stretch>
            <a:fillRect/>
          </a:stretch>
        </p:blipFill>
        <p:spPr>
          <a:xfrm>
            <a:off x="6096000" y="1460170"/>
            <a:ext cx="5720751" cy="3937659"/>
          </a:xfrm>
          <a:prstGeom prst="rect">
            <a:avLst/>
          </a:prstGeom>
        </p:spPr>
      </p:pic>
    </p:spTree>
    <p:extLst>
      <p:ext uri="{BB962C8B-B14F-4D97-AF65-F5344CB8AC3E}">
        <p14:creationId xmlns:p14="http://schemas.microsoft.com/office/powerpoint/2010/main" val="319978229"/>
      </p:ext>
    </p:extLst>
  </p:cSld>
  <p:clrMapOvr>
    <a:masterClrMapping/>
  </p:clrMapOvr>
</p:sld>
</file>

<file path=ppt/theme/theme1.xml><?xml version="1.0" encoding="utf-8"?>
<a:theme xmlns:a="http://schemas.openxmlformats.org/drawingml/2006/main" name="Retrospektíva">
  <a:themeElements>
    <a:clrScheme name="Vlastné 16">
      <a:dk1>
        <a:sysClr val="windowText" lastClr="000000"/>
      </a:dk1>
      <a:lt1>
        <a:sysClr val="window" lastClr="FFFFFF"/>
      </a:lt1>
      <a:dk2>
        <a:srgbClr val="455F51"/>
      </a:dk2>
      <a:lt2>
        <a:srgbClr val="E2DFCC"/>
      </a:lt2>
      <a:accent1>
        <a:srgbClr val="303D8B"/>
      </a:accent1>
      <a:accent2>
        <a:srgbClr val="303D8B"/>
      </a:accent2>
      <a:accent3>
        <a:srgbClr val="303D8B"/>
      </a:accent3>
      <a:accent4>
        <a:srgbClr val="303D8B"/>
      </a:accent4>
      <a:accent5>
        <a:srgbClr val="303D8B"/>
      </a:accent5>
      <a:accent6>
        <a:srgbClr val="303D8B"/>
      </a:accent6>
      <a:hlink>
        <a:srgbClr val="303D8B"/>
      </a:hlink>
      <a:folHlink>
        <a:srgbClr val="303D8B"/>
      </a:folHlink>
    </a:clrScheme>
    <a:fontScheme name="Retrospektív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ktíva">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441</TotalTime>
  <Words>77</Words>
  <Application>Microsoft Macintosh PowerPoint</Application>
  <PresentationFormat>Širokouhlá</PresentationFormat>
  <Paragraphs>13</Paragraphs>
  <Slides>6</Slides>
  <Notes>1</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6</vt:i4>
      </vt:variant>
    </vt:vector>
  </HeadingPairs>
  <TitlesOfParts>
    <vt:vector size="10" baseType="lpstr">
      <vt:lpstr>Arial</vt:lpstr>
      <vt:lpstr>Calibri</vt:lpstr>
      <vt:lpstr>Calibri Light</vt:lpstr>
      <vt:lpstr>Retrospektíva</vt:lpstr>
      <vt:lpstr>Etické aspekty projektu</vt:lpstr>
      <vt:lpstr>Prezentácia programu PowerPoint</vt:lpstr>
      <vt:lpstr>Prezentácia programu PowerPoint</vt:lpstr>
      <vt:lpstr>Prezentácia programu PowerPoint</vt:lpstr>
      <vt:lpstr>Prezentácia programu PowerPoint</vt:lpstr>
      <vt:lpstr>Ďakujeme za pozornosť</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Budinský</dc:creator>
  <cp:lastModifiedBy>Richard Rúš</cp:lastModifiedBy>
  <cp:revision>26</cp:revision>
  <dcterms:created xsi:type="dcterms:W3CDTF">2026-02-24T18:24:02Z</dcterms:created>
  <dcterms:modified xsi:type="dcterms:W3CDTF">2026-03-12T15:17:29Z</dcterms:modified>
</cp:coreProperties>
</file>