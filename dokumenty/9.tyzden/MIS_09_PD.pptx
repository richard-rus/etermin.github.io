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42" r:id="rId1"/>
  </p:sldMasterIdLst>
  <p:notesMasterIdLst>
    <p:notesMasterId r:id="rId9"/>
  </p:notesMasterIdLst>
  <p:sldIdLst>
    <p:sldId id="256" r:id="rId2"/>
    <p:sldId id="281" r:id="rId3"/>
    <p:sldId id="282" r:id="rId4"/>
    <p:sldId id="286" r:id="rId5"/>
    <p:sldId id="285" r:id="rId6"/>
    <p:sldId id="284" r:id="rId7"/>
    <p:sldId id="27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redný štýl 2 - zvýrazneni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05" autoAdjust="0"/>
    <p:restoredTop sz="94702"/>
  </p:normalViewPr>
  <p:slideViewPr>
    <p:cSldViewPr snapToGrid="0">
      <p:cViewPr>
        <p:scale>
          <a:sx n="112" d="100"/>
          <a:sy n="112" d="100"/>
        </p:scale>
        <p:origin x="1560" y="7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hlavičk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3" name="Zástupný objekt pre dá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1D93F9-2FAE-4317-8508-8C34E94D399D}" type="datetimeFigureOut">
              <a:rPr lang="sk-SK" smtClean="0"/>
              <a:t>16.4.2026</a:t>
            </a:fld>
            <a:endParaRPr lang="sk-SK"/>
          </a:p>
        </p:txBody>
      </p:sp>
      <p:sp>
        <p:nvSpPr>
          <p:cNvPr id="4" name="Zástupný objekt pre obrázok snímky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k-SK"/>
          </a:p>
        </p:txBody>
      </p:sp>
      <p:sp>
        <p:nvSpPr>
          <p:cNvPr id="5" name="Zástupný objekt pre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6" name="Zástupný objekt pre pät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7" name="Zástupný objekt pre číslo snímky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84D178-9940-4229-B9AB-D1ABBAB2CB88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787789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84D178-9940-4229-B9AB-D1ABBAB2CB88}" type="slidenum">
              <a:rPr lang="sk-SK" smtClean="0"/>
              <a:t>7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2914482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56707" y="6400800"/>
            <a:ext cx="12248707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8" name="Rectangle 7"/>
          <p:cNvSpPr/>
          <p:nvPr userDrawn="1"/>
        </p:nvSpPr>
        <p:spPr>
          <a:xfrm>
            <a:off x="15" y="6334316"/>
            <a:ext cx="1219198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sk-SK"/>
              <a:t>Kliknutím upravte štýl predlohy podnadpisu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4/16/26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207658" y="4343400"/>
            <a:ext cx="4804953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6">
            <a:extLst>
              <a:ext uri="{FF2B5EF4-FFF2-40B4-BE49-F238E27FC236}">
                <a16:creationId xmlns:a16="http://schemas.microsoft.com/office/drawing/2014/main" id="{B557B41B-3F4A-458C-6282-6D94CEE66D36}"/>
              </a:ext>
            </a:extLst>
          </p:cNvPr>
          <p:cNvSpPr/>
          <p:nvPr userDrawn="1"/>
        </p:nvSpPr>
        <p:spPr>
          <a:xfrm>
            <a:off x="1" y="-46383"/>
            <a:ext cx="12204700" cy="506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608104C2-16AC-D39D-59FE-EA56610AEC27}"/>
              </a:ext>
            </a:extLst>
          </p:cNvPr>
          <p:cNvSpPr/>
          <p:nvPr userDrawn="1"/>
        </p:nvSpPr>
        <p:spPr>
          <a:xfrm>
            <a:off x="-1" y="470426"/>
            <a:ext cx="1220470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8264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4/16/26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353384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Hlavička sekci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4/16/26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5075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4/16/26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0321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4/16/26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8680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4/16/26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0852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11097" y="6400800"/>
            <a:ext cx="12203098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203098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4/16/26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1873172D-ECC8-2CA4-A467-DE5523E412B6}"/>
              </a:ext>
            </a:extLst>
          </p:cNvPr>
          <p:cNvSpPr/>
          <p:nvPr userDrawn="1"/>
        </p:nvSpPr>
        <p:spPr>
          <a:xfrm>
            <a:off x="-1" y="470426"/>
            <a:ext cx="1220470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3B05AC86-44A6-D1A7-20BA-AF3CB1D48D5C}"/>
              </a:ext>
            </a:extLst>
          </p:cNvPr>
          <p:cNvSpPr/>
          <p:nvPr userDrawn="1"/>
        </p:nvSpPr>
        <p:spPr>
          <a:xfrm>
            <a:off x="1" y="-46383"/>
            <a:ext cx="12204700" cy="506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426930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586B75A-687E-405C-8A0B-8D00578BA2C3}" type="datetimeFigureOut">
              <a:rPr lang="en-US" smtClean="0"/>
              <a:pPr/>
              <a:t>4/16/26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179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k-SK"/>
              <a:t>Kliknutím na ikonu pridáte obrázok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4/16/26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3996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4/16/26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0936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4/16/26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3604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586B75A-687E-405C-8A0B-8D00578BA2C3}" type="datetimeFigureOut">
              <a:rPr lang="en-US" smtClean="0"/>
              <a:pPr/>
              <a:t>4/16/26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6">
            <a:extLst>
              <a:ext uri="{FF2B5EF4-FFF2-40B4-BE49-F238E27FC236}">
                <a16:creationId xmlns:a16="http://schemas.microsoft.com/office/drawing/2014/main" id="{46CB1EA5-435B-B93D-1AB5-27774F31673B}"/>
              </a:ext>
            </a:extLst>
          </p:cNvPr>
          <p:cNvSpPr/>
          <p:nvPr userDrawn="1"/>
        </p:nvSpPr>
        <p:spPr>
          <a:xfrm>
            <a:off x="-12701" y="6400799"/>
            <a:ext cx="12217401" cy="4730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14" name="Rectangle 7">
            <a:extLst>
              <a:ext uri="{FF2B5EF4-FFF2-40B4-BE49-F238E27FC236}">
                <a16:creationId xmlns:a16="http://schemas.microsoft.com/office/drawing/2014/main" id="{FA60BC72-0426-9A61-9A42-6E59696A30DD}"/>
              </a:ext>
            </a:extLst>
          </p:cNvPr>
          <p:cNvSpPr/>
          <p:nvPr userDrawn="1"/>
        </p:nvSpPr>
        <p:spPr>
          <a:xfrm>
            <a:off x="-15861" y="6334316"/>
            <a:ext cx="1221740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1ADF2AC7-7C88-F5CE-6ED0-1DF84C7F971B}"/>
              </a:ext>
            </a:extLst>
          </p:cNvPr>
          <p:cNvSpPr/>
          <p:nvPr userDrawn="1"/>
        </p:nvSpPr>
        <p:spPr>
          <a:xfrm>
            <a:off x="1" y="-46383"/>
            <a:ext cx="12204700" cy="506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048880D3-048D-0FE3-98F0-F3459BB2C80F}"/>
              </a:ext>
            </a:extLst>
          </p:cNvPr>
          <p:cNvSpPr/>
          <p:nvPr userDrawn="1"/>
        </p:nvSpPr>
        <p:spPr>
          <a:xfrm>
            <a:off x="-1" y="470426"/>
            <a:ext cx="1220470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347341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3" r:id="rId1"/>
    <p:sldLayoutId id="2147483944" r:id="rId2"/>
    <p:sldLayoutId id="2147483945" r:id="rId3"/>
    <p:sldLayoutId id="2147483946" r:id="rId4"/>
    <p:sldLayoutId id="2147483947" r:id="rId5"/>
    <p:sldLayoutId id="2147483948" r:id="rId6"/>
    <p:sldLayoutId id="2147483949" r:id="rId7"/>
    <p:sldLayoutId id="2147483950" r:id="rId8"/>
    <p:sldLayoutId id="2147483951" r:id="rId9"/>
    <p:sldLayoutId id="2147483952" r:id="rId10"/>
    <p:sldLayoutId id="2147483953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5E195D7-4AE8-A637-8B15-A9230D9D45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2766" y="454152"/>
            <a:ext cx="8660973" cy="3566160"/>
          </a:xfrm>
        </p:spPr>
        <p:txBody>
          <a:bodyPr/>
          <a:lstStyle/>
          <a:p>
            <a:r>
              <a:rPr lang="sk-SK" b="1" dirty="0"/>
              <a:t>BPMN diagram</a:t>
            </a:r>
            <a:endParaRPr lang="sk-SK" b="1" dirty="0">
              <a:solidFill>
                <a:schemeClr val="tx1"/>
              </a:solidFill>
            </a:endParaRP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D138073C-523D-5175-986A-BCCF93A202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2766" y="4791236"/>
            <a:ext cx="7083691" cy="1186102"/>
          </a:xfrm>
        </p:spPr>
        <p:txBody>
          <a:bodyPr>
            <a:noAutofit/>
          </a:bodyPr>
          <a:lstStyle/>
          <a:p>
            <a:r>
              <a:rPr lang="sk-SK" b="1" dirty="0">
                <a:solidFill>
                  <a:schemeClr val="tx1"/>
                </a:solidFill>
                <a:latin typeface="+mn-lt"/>
              </a:rPr>
              <a:t>Terminátori:</a:t>
            </a:r>
          </a:p>
          <a:p>
            <a:r>
              <a:rPr lang="sk-SK" dirty="0">
                <a:solidFill>
                  <a:schemeClr val="tx1"/>
                </a:solidFill>
                <a:latin typeface="+mn-lt"/>
              </a:rPr>
              <a:t>Damián </a:t>
            </a:r>
            <a:r>
              <a:rPr lang="sk-SK" dirty="0" err="1">
                <a:solidFill>
                  <a:schemeClr val="tx1"/>
                </a:solidFill>
                <a:latin typeface="+mn-lt"/>
              </a:rPr>
              <a:t>Kaszycki</a:t>
            </a:r>
            <a:r>
              <a:rPr lang="sk-SK" dirty="0">
                <a:solidFill>
                  <a:schemeClr val="tx1"/>
                </a:solidFill>
                <a:latin typeface="+mn-lt"/>
              </a:rPr>
              <a:t>, Richard </a:t>
            </a:r>
            <a:r>
              <a:rPr lang="sk-SK" dirty="0" err="1">
                <a:solidFill>
                  <a:schemeClr val="tx1"/>
                </a:solidFill>
                <a:latin typeface="+mn-lt"/>
              </a:rPr>
              <a:t>Rúš</a:t>
            </a:r>
            <a:r>
              <a:rPr lang="sk-SK" dirty="0">
                <a:solidFill>
                  <a:schemeClr val="tx1"/>
                </a:solidFill>
                <a:latin typeface="+mn-lt"/>
              </a:rPr>
              <a:t>, Ľudmila </a:t>
            </a:r>
            <a:r>
              <a:rPr lang="sk-SK" dirty="0" err="1">
                <a:solidFill>
                  <a:schemeClr val="tx1"/>
                </a:solidFill>
                <a:latin typeface="+mn-lt"/>
              </a:rPr>
              <a:t>Koperdáková</a:t>
            </a:r>
            <a:r>
              <a:rPr lang="sk-SK" dirty="0">
                <a:solidFill>
                  <a:schemeClr val="tx1"/>
                </a:solidFill>
                <a:latin typeface="+mn-lt"/>
              </a:rPr>
              <a:t>, Samuel Budinský </a:t>
            </a:r>
          </a:p>
          <a:p>
            <a:endParaRPr lang="sk-SK" dirty="0"/>
          </a:p>
        </p:txBody>
      </p:sp>
      <p:pic>
        <p:nvPicPr>
          <p:cNvPr id="1028" name="Picture 4" descr="patient engagement technology - online scheduling ">
            <a:extLst>
              <a:ext uri="{FF2B5EF4-FFF2-40B4-BE49-F238E27FC236}">
                <a16:creationId xmlns:a16="http://schemas.microsoft.com/office/drawing/2014/main" id="{A5BBD175-13E6-7562-7A7B-86D1B9D9038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128" r="11872"/>
          <a:stretch/>
        </p:blipFill>
        <p:spPr bwMode="auto">
          <a:xfrm>
            <a:off x="7996714" y="1101459"/>
            <a:ext cx="3494049" cy="4655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0099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98E1C-A3E0-EBBD-8D9B-4A572E3F0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6">
            <a:extLst>
              <a:ext uri="{FF2B5EF4-FFF2-40B4-BE49-F238E27FC236}">
                <a16:creationId xmlns:a16="http://schemas.microsoft.com/office/drawing/2014/main" id="{D15866B9-11A5-4C59-9C03-41FDFD6D2808}"/>
              </a:ext>
            </a:extLst>
          </p:cNvPr>
          <p:cNvSpPr txBox="1">
            <a:spLocks/>
          </p:cNvSpPr>
          <p:nvPr/>
        </p:nvSpPr>
        <p:spPr>
          <a:xfrm>
            <a:off x="919286" y="1821897"/>
            <a:ext cx="10058400" cy="1607103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Ø"/>
              <a:defRPr sz="2800"/>
            </a:lvl1pPr>
            <a:lvl2pPr marL="38404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56692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74980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93268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11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 marL="13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15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17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r>
              <a:rPr lang="sk-SK" dirty="0"/>
              <a:t>Obsahuje 2 </a:t>
            </a:r>
            <a:r>
              <a:rPr lang="sk-SK" dirty="0" err="1"/>
              <a:t>swim</a:t>
            </a:r>
            <a:r>
              <a:rPr lang="sk-SK" dirty="0"/>
              <a:t> </a:t>
            </a:r>
            <a:r>
              <a:rPr lang="sk-SK" dirty="0" err="1"/>
              <a:t>lanes</a:t>
            </a:r>
            <a:endParaRPr lang="sk-SK" dirty="0"/>
          </a:p>
          <a:p>
            <a:pPr lvl="1"/>
            <a:r>
              <a:rPr lang="sk-SK" sz="2600" dirty="0">
                <a:solidFill>
                  <a:schemeClr val="tx1"/>
                </a:solidFill>
              </a:rPr>
              <a:t>Pacient</a:t>
            </a:r>
          </a:p>
          <a:p>
            <a:pPr lvl="1"/>
            <a:r>
              <a:rPr lang="sk-SK" sz="2600" dirty="0">
                <a:solidFill>
                  <a:schemeClr val="tx1"/>
                </a:solidFill>
              </a:rPr>
              <a:t>Systém</a:t>
            </a:r>
          </a:p>
        </p:txBody>
      </p:sp>
      <p:sp>
        <p:nvSpPr>
          <p:cNvPr id="5" name="Nadpis 1">
            <a:extLst>
              <a:ext uri="{FF2B5EF4-FFF2-40B4-BE49-F238E27FC236}">
                <a16:creationId xmlns:a16="http://schemas.microsoft.com/office/drawing/2014/main" id="{3E12D995-8BCD-5C93-AC22-49EBB493E016}"/>
              </a:ext>
            </a:extLst>
          </p:cNvPr>
          <p:cNvSpPr txBox="1">
            <a:spLocks/>
          </p:cNvSpPr>
          <p:nvPr/>
        </p:nvSpPr>
        <p:spPr>
          <a:xfrm>
            <a:off x="1066800" y="788020"/>
            <a:ext cx="10058400" cy="9588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k-SK" sz="5000" b="1" dirty="0">
                <a:solidFill>
                  <a:schemeClr val="tx1"/>
                </a:solidFill>
              </a:rPr>
              <a:t>Proces objednania termínu</a:t>
            </a:r>
          </a:p>
        </p:txBody>
      </p:sp>
      <p:pic>
        <p:nvPicPr>
          <p:cNvPr id="4" name="Obrázok 3">
            <a:extLst>
              <a:ext uri="{FF2B5EF4-FFF2-40B4-BE49-F238E27FC236}">
                <a16:creationId xmlns:a16="http://schemas.microsoft.com/office/drawing/2014/main" id="{B29D8C61-F2EE-9B3A-A2D6-A5E5BC6AD5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44" r="982"/>
          <a:stretch/>
        </p:blipFill>
        <p:spPr>
          <a:xfrm>
            <a:off x="408878" y="3504072"/>
            <a:ext cx="11374244" cy="2565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363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559AA-39CD-040E-C6A3-D217B8BC5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6">
            <a:extLst>
              <a:ext uri="{FF2B5EF4-FFF2-40B4-BE49-F238E27FC236}">
                <a16:creationId xmlns:a16="http://schemas.microsoft.com/office/drawing/2014/main" id="{795574E0-7C53-83F7-826A-F338FAE77B91}"/>
              </a:ext>
            </a:extLst>
          </p:cNvPr>
          <p:cNvSpPr txBox="1">
            <a:spLocks/>
          </p:cNvSpPr>
          <p:nvPr/>
        </p:nvSpPr>
        <p:spPr>
          <a:xfrm>
            <a:off x="919286" y="1821897"/>
            <a:ext cx="6468485" cy="4248083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Ø"/>
              <a:defRPr sz="2800"/>
            </a:lvl1pPr>
            <a:lvl2pPr marL="38404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56692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74980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93268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11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 marL="13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15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17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r>
              <a:rPr lang="sk-SK" dirty="0"/>
              <a:t>Pacient sa prihlási do aplikácie </a:t>
            </a:r>
          </a:p>
          <a:p>
            <a:r>
              <a:rPr lang="sk-SK" dirty="0"/>
              <a:t>Vyhľadá a vyberie lekára </a:t>
            </a:r>
          </a:p>
          <a:p>
            <a:r>
              <a:rPr lang="sk-SK" dirty="0"/>
              <a:t>Zobrazia sa dostupné termíny </a:t>
            </a:r>
          </a:p>
          <a:p>
            <a:r>
              <a:rPr lang="sk-SK" dirty="0"/>
              <a:t>Vyberie si termín </a:t>
            </a:r>
          </a:p>
        </p:txBody>
      </p:sp>
      <p:sp>
        <p:nvSpPr>
          <p:cNvPr id="5" name="Nadpis 1">
            <a:extLst>
              <a:ext uri="{FF2B5EF4-FFF2-40B4-BE49-F238E27FC236}">
                <a16:creationId xmlns:a16="http://schemas.microsoft.com/office/drawing/2014/main" id="{0ABCA0B8-9C1F-B524-06C6-CA047811693A}"/>
              </a:ext>
            </a:extLst>
          </p:cNvPr>
          <p:cNvSpPr txBox="1">
            <a:spLocks/>
          </p:cNvSpPr>
          <p:nvPr/>
        </p:nvSpPr>
        <p:spPr>
          <a:xfrm>
            <a:off x="1066800" y="788020"/>
            <a:ext cx="10058400" cy="9588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k-SK" sz="5000" b="1" dirty="0">
                <a:solidFill>
                  <a:schemeClr val="tx1"/>
                </a:solidFill>
              </a:rPr>
              <a:t>Proces objednania termínu</a:t>
            </a:r>
          </a:p>
        </p:txBody>
      </p:sp>
      <p:pic>
        <p:nvPicPr>
          <p:cNvPr id="2" name="Obrázok 1">
            <a:extLst>
              <a:ext uri="{FF2B5EF4-FFF2-40B4-BE49-F238E27FC236}">
                <a16:creationId xmlns:a16="http://schemas.microsoft.com/office/drawing/2014/main" id="{40F3A4A5-91A3-F3AA-FFCA-0CCC88793B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998464"/>
            <a:ext cx="6002226" cy="189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916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4ACF8-E7B8-6253-48A4-DD3EA88EE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6">
            <a:extLst>
              <a:ext uri="{FF2B5EF4-FFF2-40B4-BE49-F238E27FC236}">
                <a16:creationId xmlns:a16="http://schemas.microsoft.com/office/drawing/2014/main" id="{61A3D5EB-44F6-7461-3474-B17C85B1B85D}"/>
              </a:ext>
            </a:extLst>
          </p:cNvPr>
          <p:cNvSpPr txBox="1">
            <a:spLocks/>
          </p:cNvSpPr>
          <p:nvPr/>
        </p:nvSpPr>
        <p:spPr>
          <a:xfrm>
            <a:off x="919287" y="1821897"/>
            <a:ext cx="5269757" cy="4248083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Ø"/>
              <a:defRPr sz="2800"/>
            </a:lvl1pPr>
            <a:lvl2pPr marL="38404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56692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74980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93268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11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 marL="13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15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17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r>
              <a:rPr lang="sk-SK" dirty="0"/>
              <a:t>Systém overí dostupnosť </a:t>
            </a:r>
          </a:p>
          <a:p>
            <a:r>
              <a:rPr lang="sk-SK" dirty="0"/>
              <a:t>Pacient potvrdí rezerváciu </a:t>
            </a:r>
          </a:p>
          <a:p>
            <a:r>
              <a:rPr lang="sk-SK" dirty="0"/>
              <a:t>Systém vytvorí rezerváciu a odošle potvrdenie</a:t>
            </a:r>
          </a:p>
        </p:txBody>
      </p:sp>
      <p:sp>
        <p:nvSpPr>
          <p:cNvPr id="5" name="Nadpis 1">
            <a:extLst>
              <a:ext uri="{FF2B5EF4-FFF2-40B4-BE49-F238E27FC236}">
                <a16:creationId xmlns:a16="http://schemas.microsoft.com/office/drawing/2014/main" id="{55AEB7E7-9758-0B78-78E9-6A192AE5F230}"/>
              </a:ext>
            </a:extLst>
          </p:cNvPr>
          <p:cNvSpPr txBox="1">
            <a:spLocks/>
          </p:cNvSpPr>
          <p:nvPr/>
        </p:nvSpPr>
        <p:spPr>
          <a:xfrm>
            <a:off x="1066800" y="788020"/>
            <a:ext cx="10058400" cy="9588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k-SK" sz="5000" b="1" dirty="0">
                <a:solidFill>
                  <a:schemeClr val="tx1"/>
                </a:solidFill>
              </a:rPr>
              <a:t>Proces objednania termínu</a:t>
            </a:r>
          </a:p>
        </p:txBody>
      </p:sp>
      <p:pic>
        <p:nvPicPr>
          <p:cNvPr id="2" name="Obrázok 1">
            <a:extLst>
              <a:ext uri="{FF2B5EF4-FFF2-40B4-BE49-F238E27FC236}">
                <a16:creationId xmlns:a16="http://schemas.microsoft.com/office/drawing/2014/main" id="{D5D2899A-397F-12E1-02CA-18325A6C44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5792" y="3011749"/>
            <a:ext cx="5689208" cy="1868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455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6F5C6-C7D7-7329-AEC3-3C2C1481E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6">
            <a:extLst>
              <a:ext uri="{FF2B5EF4-FFF2-40B4-BE49-F238E27FC236}">
                <a16:creationId xmlns:a16="http://schemas.microsoft.com/office/drawing/2014/main" id="{4A3DA43D-231C-1DEE-BC47-30CD1B410A90}"/>
              </a:ext>
            </a:extLst>
          </p:cNvPr>
          <p:cNvSpPr txBox="1">
            <a:spLocks/>
          </p:cNvSpPr>
          <p:nvPr/>
        </p:nvSpPr>
        <p:spPr>
          <a:xfrm>
            <a:off x="919286" y="1821897"/>
            <a:ext cx="10058400" cy="1607103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Ø"/>
              <a:defRPr sz="2800"/>
            </a:lvl1pPr>
            <a:lvl2pPr marL="38404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56692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74980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93268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11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 marL="13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15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17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r>
              <a:rPr lang="sk-SK" dirty="0"/>
              <a:t>Obsahuje 2 </a:t>
            </a:r>
            <a:r>
              <a:rPr lang="sk-SK" dirty="0" err="1"/>
              <a:t>swim</a:t>
            </a:r>
            <a:r>
              <a:rPr lang="sk-SK" dirty="0"/>
              <a:t> </a:t>
            </a:r>
            <a:r>
              <a:rPr lang="sk-SK" dirty="0" err="1"/>
              <a:t>lanes</a:t>
            </a:r>
            <a:endParaRPr lang="sk-SK" dirty="0"/>
          </a:p>
          <a:p>
            <a:pPr lvl="1"/>
            <a:r>
              <a:rPr lang="sk-SK" sz="2600" dirty="0">
                <a:solidFill>
                  <a:schemeClr val="tx1"/>
                </a:solidFill>
              </a:rPr>
              <a:t>Pacient</a:t>
            </a:r>
          </a:p>
          <a:p>
            <a:pPr lvl="1"/>
            <a:r>
              <a:rPr lang="sk-SK" sz="2600" dirty="0">
                <a:solidFill>
                  <a:schemeClr val="tx1"/>
                </a:solidFill>
              </a:rPr>
              <a:t>Systém</a:t>
            </a:r>
          </a:p>
        </p:txBody>
      </p:sp>
      <p:sp>
        <p:nvSpPr>
          <p:cNvPr id="5" name="Nadpis 1">
            <a:extLst>
              <a:ext uri="{FF2B5EF4-FFF2-40B4-BE49-F238E27FC236}">
                <a16:creationId xmlns:a16="http://schemas.microsoft.com/office/drawing/2014/main" id="{E3376FEE-79FD-7445-F18C-31CA60B602B0}"/>
              </a:ext>
            </a:extLst>
          </p:cNvPr>
          <p:cNvSpPr txBox="1">
            <a:spLocks/>
          </p:cNvSpPr>
          <p:nvPr/>
        </p:nvSpPr>
        <p:spPr>
          <a:xfrm>
            <a:off x="1066800" y="788020"/>
            <a:ext cx="10058400" cy="9588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k-SK" sz="5000" b="1">
                <a:solidFill>
                  <a:schemeClr val="tx1"/>
                </a:solidFill>
              </a:rPr>
              <a:t>Proces recenzie</a:t>
            </a:r>
            <a:endParaRPr lang="sk-SK" sz="5000" b="1" dirty="0">
              <a:solidFill>
                <a:schemeClr val="tx1"/>
              </a:solidFill>
            </a:endParaRPr>
          </a:p>
        </p:txBody>
      </p:sp>
      <p:pic>
        <p:nvPicPr>
          <p:cNvPr id="2" name="Obrázok 1">
            <a:extLst>
              <a:ext uri="{FF2B5EF4-FFF2-40B4-BE49-F238E27FC236}">
                <a16:creationId xmlns:a16="http://schemas.microsoft.com/office/drawing/2014/main" id="{F79915FA-6F8A-A5E3-B1EF-A54FC74728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8694" y="2808593"/>
            <a:ext cx="6736506" cy="3261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1607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8EBFB-597A-6A7D-5BAF-DD01B8252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6">
            <a:extLst>
              <a:ext uri="{FF2B5EF4-FFF2-40B4-BE49-F238E27FC236}">
                <a16:creationId xmlns:a16="http://schemas.microsoft.com/office/drawing/2014/main" id="{87A24906-484F-DC55-7981-8790EFCA0C3E}"/>
              </a:ext>
            </a:extLst>
          </p:cNvPr>
          <p:cNvSpPr txBox="1">
            <a:spLocks/>
          </p:cNvSpPr>
          <p:nvPr/>
        </p:nvSpPr>
        <p:spPr>
          <a:xfrm>
            <a:off x="919287" y="1821897"/>
            <a:ext cx="5710114" cy="4248083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Ø"/>
              <a:defRPr sz="2800"/>
            </a:lvl1pPr>
            <a:lvl2pPr marL="38404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56692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74980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932688" indent="-18288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11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 marL="13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15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1700000" indent="-228600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r>
              <a:rPr lang="sk-SK" dirty="0"/>
              <a:t>Výzva na zanechanie recenzie po vyšetrení</a:t>
            </a:r>
          </a:p>
          <a:p>
            <a:r>
              <a:rPr lang="sk-SK" dirty="0"/>
              <a:t>Pacient napíše recenziu</a:t>
            </a:r>
          </a:p>
          <a:p>
            <a:r>
              <a:rPr lang="sk-SK" dirty="0"/>
              <a:t>Má možnosť ju uverejniť alebo neuverejniť</a:t>
            </a:r>
          </a:p>
          <a:p>
            <a:r>
              <a:rPr lang="sk-SK" dirty="0"/>
              <a:t>Ak sa rozhodne ju uverejniť systém ju uloží a zobrazí ostatným používateľom</a:t>
            </a:r>
          </a:p>
        </p:txBody>
      </p:sp>
      <p:sp>
        <p:nvSpPr>
          <p:cNvPr id="5" name="Nadpis 1">
            <a:extLst>
              <a:ext uri="{FF2B5EF4-FFF2-40B4-BE49-F238E27FC236}">
                <a16:creationId xmlns:a16="http://schemas.microsoft.com/office/drawing/2014/main" id="{E9155AF9-76D9-19B3-661C-065E79AA46C8}"/>
              </a:ext>
            </a:extLst>
          </p:cNvPr>
          <p:cNvSpPr txBox="1">
            <a:spLocks/>
          </p:cNvSpPr>
          <p:nvPr/>
        </p:nvSpPr>
        <p:spPr>
          <a:xfrm>
            <a:off x="1066800" y="788020"/>
            <a:ext cx="10058400" cy="9588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k-SK" sz="5000" b="1" dirty="0">
                <a:solidFill>
                  <a:schemeClr val="tx1"/>
                </a:solidFill>
              </a:rPr>
              <a:t>Proces recenzie</a:t>
            </a:r>
          </a:p>
        </p:txBody>
      </p:sp>
      <p:pic>
        <p:nvPicPr>
          <p:cNvPr id="4" name="Obrázok 3">
            <a:extLst>
              <a:ext uri="{FF2B5EF4-FFF2-40B4-BE49-F238E27FC236}">
                <a16:creationId xmlns:a16="http://schemas.microsoft.com/office/drawing/2014/main" id="{61EA2945-A867-1D1B-E6B4-29F6CED20E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458" y="2374666"/>
            <a:ext cx="5358923" cy="2108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5694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A949E90-F384-5437-F77E-9A11A62AFF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6233" y="1947672"/>
            <a:ext cx="4568952" cy="2788282"/>
          </a:xfrm>
        </p:spPr>
        <p:txBody>
          <a:bodyPr anchor="ctr">
            <a:noAutofit/>
          </a:bodyPr>
          <a:lstStyle/>
          <a:p>
            <a:r>
              <a:rPr lang="sk-SK" sz="6000" b="1" dirty="0">
                <a:solidFill>
                  <a:schemeClr val="tx1"/>
                </a:solidFill>
              </a:rPr>
              <a:t>Ďakujeme za pozornosť</a:t>
            </a:r>
          </a:p>
        </p:txBody>
      </p:sp>
      <p:pic>
        <p:nvPicPr>
          <p:cNvPr id="2050" name="Picture 2" descr="3,359 Happy Patient Mobile Stock Photos - Free &amp; Royalty-Free Stock Photos  from Dreamstime">
            <a:extLst>
              <a:ext uri="{FF2B5EF4-FFF2-40B4-BE49-F238E27FC236}">
                <a16:creationId xmlns:a16="http://schemas.microsoft.com/office/drawing/2014/main" id="{6C945456-01BE-A01C-6698-7C32DAE725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5185" y="1445780"/>
            <a:ext cx="5920059" cy="3966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97822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ktíva">
  <a:themeElements>
    <a:clrScheme name="Vlastné 16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303D8B"/>
      </a:accent1>
      <a:accent2>
        <a:srgbClr val="303D8B"/>
      </a:accent2>
      <a:accent3>
        <a:srgbClr val="303D8B"/>
      </a:accent3>
      <a:accent4>
        <a:srgbClr val="303D8B"/>
      </a:accent4>
      <a:accent5>
        <a:srgbClr val="303D8B"/>
      </a:accent5>
      <a:accent6>
        <a:srgbClr val="303D8B"/>
      </a:accent6>
      <a:hlink>
        <a:srgbClr val="303D8B"/>
      </a:hlink>
      <a:folHlink>
        <a:srgbClr val="303D8B"/>
      </a:folHlink>
    </a:clrScheme>
    <a:fontScheme name="Retrospektív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ktív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777</TotalTime>
  <Words>99</Words>
  <Application>Microsoft Macintosh PowerPoint</Application>
  <PresentationFormat>Širokouhlá</PresentationFormat>
  <Paragraphs>27</Paragraphs>
  <Slides>7</Slides>
  <Notes>1</Notes>
  <HiddenSlides>0</HiddenSlides>
  <MMClips>0</MMClips>
  <ScaleCrop>false</ScaleCrop>
  <HeadingPairs>
    <vt:vector size="6" baseType="variant">
      <vt:variant>
        <vt:lpstr>Použité písma</vt:lpstr>
      </vt:variant>
      <vt:variant>
        <vt:i4>3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Retrospektíva</vt:lpstr>
      <vt:lpstr>BPMN diagram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Ďakujeme za pozornosť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Samuel Budinský</dc:creator>
  <cp:lastModifiedBy>Richard Rúš</cp:lastModifiedBy>
  <cp:revision>33</cp:revision>
  <dcterms:created xsi:type="dcterms:W3CDTF">2026-02-24T18:24:02Z</dcterms:created>
  <dcterms:modified xsi:type="dcterms:W3CDTF">2026-04-16T18:05:14Z</dcterms:modified>
</cp:coreProperties>
</file>