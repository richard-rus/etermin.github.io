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2" r:id="rId1"/>
  </p:sldMasterIdLst>
  <p:notesMasterIdLst>
    <p:notesMasterId r:id="rId13"/>
  </p:notesMasterIdLst>
  <p:sldIdLst>
    <p:sldId id="256" r:id="rId2"/>
    <p:sldId id="257" r:id="rId3"/>
    <p:sldId id="263" r:id="rId4"/>
    <p:sldId id="264" r:id="rId5"/>
    <p:sldId id="265" r:id="rId6"/>
    <p:sldId id="262" r:id="rId7"/>
    <p:sldId id="261" r:id="rId8"/>
    <p:sldId id="268" r:id="rId9"/>
    <p:sldId id="269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D93F9-2FAE-4317-8508-8C34E94D399D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4D178-9940-4229-B9AB-D1ABBAB2CB8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778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4D178-9940-4229-B9AB-D1ABBAB2CB88}" type="slidenum">
              <a:rPr lang="sk-SK" smtClean="0"/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144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707" y="6400800"/>
            <a:ext cx="1224870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 userDrawn="1"/>
        </p:nvSpPr>
        <p:spPr>
          <a:xfrm>
            <a:off x="15" y="6334316"/>
            <a:ext cx="1219198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B557B41B-3F4A-458C-6282-6D94CEE66D36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08104C2-16AC-D39D-59FE-EA56610AEC27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3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0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097" y="6400800"/>
            <a:ext cx="1220309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20309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873172D-ECC8-2CA4-A467-DE5523E412B6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05AC86-44A6-D1A7-20BA-AF3CB1D48D5C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9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3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46CB1EA5-435B-B93D-1AB5-27774F31673B}"/>
              </a:ext>
            </a:extLst>
          </p:cNvPr>
          <p:cNvSpPr/>
          <p:nvPr userDrawn="1"/>
        </p:nvSpPr>
        <p:spPr>
          <a:xfrm>
            <a:off x="-12701" y="6400799"/>
            <a:ext cx="12217401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60BC72-0426-9A61-9A42-6E59696A30DD}"/>
              </a:ext>
            </a:extLst>
          </p:cNvPr>
          <p:cNvSpPr/>
          <p:nvPr userDrawn="1"/>
        </p:nvSpPr>
        <p:spPr>
          <a:xfrm>
            <a:off x="-15861" y="6334316"/>
            <a:ext cx="122174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ADF2AC7-7C88-F5CE-6ED0-1DF84C7F971B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48880D3-048D-0FE3-98F0-F3459BB2C80F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34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195D7-4AE8-A637-8B15-A9230D9D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8660973" cy="3566160"/>
          </a:xfrm>
        </p:spPr>
        <p:txBody>
          <a:bodyPr/>
          <a:lstStyle/>
          <a:p>
            <a:r>
              <a:rPr lang="sk-SK" b="1" dirty="0">
                <a:solidFill>
                  <a:schemeClr val="tx1"/>
                </a:solidFill>
              </a:rPr>
              <a:t>SWOT analýza projektu eTermín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38073C-523D-5175-986A-BCCF93A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5096036"/>
            <a:ext cx="7083691" cy="1186102"/>
          </a:xfrm>
        </p:spPr>
        <p:txBody>
          <a:bodyPr>
            <a:noAutofit/>
          </a:bodyPr>
          <a:lstStyle/>
          <a:p>
            <a:r>
              <a:rPr lang="sk-SK" b="1" dirty="0">
                <a:solidFill>
                  <a:schemeClr val="tx1"/>
                </a:solidFill>
                <a:latin typeface="+mn-lt"/>
              </a:rPr>
              <a:t>Terminátori:</a:t>
            </a:r>
          </a:p>
          <a:p>
            <a:r>
              <a:rPr lang="sk-SK" dirty="0">
                <a:solidFill>
                  <a:schemeClr val="tx1"/>
                </a:solidFill>
                <a:latin typeface="+mn-lt"/>
              </a:rPr>
              <a:t>Damián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Kaszycki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Richard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Rúš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Ľudmila 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Koperdáková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Samuel Budinský </a:t>
            </a:r>
          </a:p>
          <a:p>
            <a:endParaRPr lang="sk-SK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89CC1DB8-601B-D73B-C97E-DE718952A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26" t="16547" r="37129" b="9631"/>
          <a:stretch>
            <a:fillRect/>
          </a:stretch>
        </p:blipFill>
        <p:spPr>
          <a:xfrm>
            <a:off x="8457786" y="1200586"/>
            <a:ext cx="3734214" cy="418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9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DD71F5-26A0-A881-0E87-858F1108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8555"/>
            <a:ext cx="10058400" cy="958805"/>
          </a:xfrm>
        </p:spPr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Silné stránky</a:t>
            </a: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2A162A11-1F96-B2D6-147A-4A7F0B5AB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606" y="1737360"/>
            <a:ext cx="9962074" cy="356755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Centralizovaná platforma (prepojenie v reálnom čase)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Vysoká bezpečnosť (GDPR a šifrovanie dát)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Intuitívne UI pre všetky vekové kategórie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Efektívna technická spolupráca </a:t>
            </a:r>
            <a:r>
              <a:rPr lang="en-US" sz="2400" noProof="0" dirty="0">
                <a:solidFill>
                  <a:schemeClr val="tx1"/>
                </a:solidFill>
              </a:rPr>
              <a:t>(GitHub a verzionovanie)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Profesionálny dizajn v súlade s e-Health štandardmi</a:t>
            </a:r>
          </a:p>
        </p:txBody>
      </p:sp>
      <p:pic>
        <p:nvPicPr>
          <p:cNvPr id="15" name="Obrázok 14">
            <a:extLst>
              <a:ext uri="{FF2B5EF4-FFF2-40B4-BE49-F238E27FC236}">
                <a16:creationId xmlns:a16="http://schemas.microsoft.com/office/drawing/2014/main" id="{54409558-27C1-A856-6D10-A1400737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729" y="2487531"/>
            <a:ext cx="2333951" cy="2067213"/>
          </a:xfrm>
          <a:prstGeom prst="rect">
            <a:avLst/>
          </a:prstGeom>
        </p:spPr>
      </p:pic>
      <p:pic>
        <p:nvPicPr>
          <p:cNvPr id="17" name="Obrázok 16" descr="Obrázok, na ktorom je biely, dizajn&#10;&#10;Obsah vygenerovaný pomocou AI môže byť nesprávny.">
            <a:extLst>
              <a:ext uri="{FF2B5EF4-FFF2-40B4-BE49-F238E27FC236}">
                <a16:creationId xmlns:a16="http://schemas.microsoft.com/office/drawing/2014/main" id="{B3C05FC5-278F-8ED3-B650-56B3D4C14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387" y="2158872"/>
            <a:ext cx="666843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2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6AF36-25F0-EE26-A348-92D20929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85FCC9EE-3F71-4961-EAA0-67D7E338BABF}"/>
              </a:ext>
            </a:extLst>
          </p:cNvPr>
          <p:cNvSpPr txBox="1">
            <a:spLocks/>
          </p:cNvSpPr>
          <p:nvPr/>
        </p:nvSpPr>
        <p:spPr>
          <a:xfrm>
            <a:off x="1193606" y="1737360"/>
            <a:ext cx="9962074" cy="35675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Prototypová fáza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Vysoké náklady na </a:t>
            </a:r>
            <a:r>
              <a:rPr lang="sk-SK" sz="2400" b="1" dirty="0">
                <a:solidFill>
                  <a:schemeClr val="tx1"/>
                </a:solidFill>
              </a:rPr>
              <a:t>CAC</a:t>
            </a:r>
            <a:r>
              <a:rPr lang="sk-SK" sz="2400" dirty="0">
                <a:solidFill>
                  <a:schemeClr val="tx1"/>
                </a:solidFill>
              </a:rPr>
              <a:t> – </a:t>
            </a:r>
            <a:r>
              <a:rPr lang="en-US" sz="2400" dirty="0">
                <a:solidFill>
                  <a:schemeClr val="tx1"/>
                </a:solidFill>
              </a:rPr>
              <a:t>Customer Acquisition Cost</a:t>
            </a:r>
            <a:endParaRPr lang="sk-SK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Obmedzené personálne kapacity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Závislosť na stabilnom internetovom pripojení u lekárov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Potreba úvodného zaškolenia konzervatívnejších lekárov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9A5BE8-3D75-8168-C099-B5B0714D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noProof="0" dirty="0">
                <a:solidFill>
                  <a:schemeClr val="tx1"/>
                </a:solidFill>
              </a:rPr>
              <a:t>Slabé stránky</a:t>
            </a:r>
          </a:p>
        </p:txBody>
      </p:sp>
      <p:pic>
        <p:nvPicPr>
          <p:cNvPr id="10" name="Obrázok 9" descr="Obrázok, na ktorom je silueta, kreslený obrázok, ilustrácia&#10;&#10;Obsah vygenerovaný pomocou AI môže byť nesprávny.">
            <a:extLst>
              <a:ext uri="{FF2B5EF4-FFF2-40B4-BE49-F238E27FC236}">
                <a16:creationId xmlns:a16="http://schemas.microsoft.com/office/drawing/2014/main" id="{47F5A52D-7E57-32FC-6DF4-B39D04C78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730" y="2487531"/>
            <a:ext cx="2152950" cy="2067213"/>
          </a:xfrm>
          <a:prstGeom prst="rect">
            <a:avLst/>
          </a:prstGeom>
        </p:spPr>
      </p:pic>
      <p:pic>
        <p:nvPicPr>
          <p:cNvPr id="12" name="Obrázok 11" descr="Obrázok, na ktorom je biely, dizajn&#10;&#10;Obsah vygenerovaný pomocou AI môže byť nesprávny.">
            <a:extLst>
              <a:ext uri="{FF2B5EF4-FFF2-40B4-BE49-F238E27FC236}">
                <a16:creationId xmlns:a16="http://schemas.microsoft.com/office/drawing/2014/main" id="{0A18CAC3-475F-C181-AA3D-F9188809B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837" y="2236855"/>
            <a:ext cx="666843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11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EBE5-F5D1-2178-3C58-3066B7A7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392B4E-9B36-82BE-26D3-1913F265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Príležitosti</a:t>
            </a:r>
          </a:p>
        </p:txBody>
      </p:sp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606016D7-95B7-CEF8-0A5A-B047FED36A42}"/>
              </a:ext>
            </a:extLst>
          </p:cNvPr>
          <p:cNvSpPr txBox="1">
            <a:spLocks/>
          </p:cNvSpPr>
          <p:nvPr/>
        </p:nvSpPr>
        <p:spPr>
          <a:xfrm>
            <a:off x="1193606" y="1737360"/>
            <a:ext cx="9962074" cy="35675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Absencia jednotnej digitálnej platformy na Slovensku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Dopyt po znížení administratívnej záťaže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Digitalizácia a modernizácia zdravotníctva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Zníženie počtu zmeškaných termínov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Možnosť škálovania na ďalšie typy zdravotníckych zariadení</a:t>
            </a:r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47A713C6-2842-FC3A-8148-4BA77EA7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782" y="2458952"/>
            <a:ext cx="2133898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DD89-4C5D-5F08-5A7F-BB69FC1C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F8D630-0360-D0D9-6D2B-AF6B4E17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noProof="0" dirty="0">
                <a:solidFill>
                  <a:schemeClr val="tx1"/>
                </a:solidFill>
              </a:rPr>
              <a:t>Hrozby</a:t>
            </a:r>
          </a:p>
        </p:txBody>
      </p:sp>
      <p:sp>
        <p:nvSpPr>
          <p:cNvPr id="6" name="Zástupný objekt pre obsah 6">
            <a:extLst>
              <a:ext uri="{FF2B5EF4-FFF2-40B4-BE49-F238E27FC236}">
                <a16:creationId xmlns:a16="http://schemas.microsoft.com/office/drawing/2014/main" id="{9390DFCC-8767-7B70-BC0D-A5A16A6C9B64}"/>
              </a:ext>
            </a:extLst>
          </p:cNvPr>
          <p:cNvSpPr txBox="1">
            <a:spLocks/>
          </p:cNvSpPr>
          <p:nvPr/>
        </p:nvSpPr>
        <p:spPr>
          <a:xfrm>
            <a:off x="1193606" y="1737360"/>
            <a:ext cx="9962074" cy="35675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Kybernetické útoky na citlivé zdravotné údaje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Odpor lekárov k zmene zavedených telefónnych procesov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Časté zmeny legislatívy v oblasti GDPR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Konkurencia zo strany štátnych systémov alebo IT firiem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400" dirty="0">
                <a:solidFill>
                  <a:schemeClr val="tx1"/>
                </a:solidFill>
              </a:rPr>
              <a:t> Náklady na dlhodobú technickú údržbu a infraštruktúru</a:t>
            </a:r>
          </a:p>
        </p:txBody>
      </p:sp>
      <p:pic>
        <p:nvPicPr>
          <p:cNvPr id="12" name="Obrázok 11">
            <a:extLst>
              <a:ext uri="{FF2B5EF4-FFF2-40B4-BE49-F238E27FC236}">
                <a16:creationId xmlns:a16="http://schemas.microsoft.com/office/drawing/2014/main" id="{BC30AEA6-FD58-1C8D-0B7E-AFA203FE0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571" y="2401794"/>
            <a:ext cx="2391109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5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6D3A-8C02-0DC6-ED3C-C4335BFB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446DB9-B276-E96A-1E29-CE99863C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SWOT analýza eTermín</a:t>
            </a:r>
          </a:p>
        </p:txBody>
      </p:sp>
      <p:graphicFrame>
        <p:nvGraphicFramePr>
          <p:cNvPr id="3" name="Zástupný objekt pre obsah 2">
            <a:extLst>
              <a:ext uri="{FF2B5EF4-FFF2-40B4-BE49-F238E27FC236}">
                <a16:creationId xmlns:a16="http://schemas.microsoft.com/office/drawing/2014/main" id="{4343A543-7AEC-A157-82BB-F5D06F89B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83416"/>
              </p:ext>
            </p:extLst>
          </p:nvPr>
        </p:nvGraphicFramePr>
        <p:xfrm>
          <a:off x="1097280" y="1737360"/>
          <a:ext cx="10058399" cy="4305167"/>
        </p:xfrm>
        <a:graphic>
          <a:graphicData uri="http://schemas.openxmlformats.org/drawingml/2006/table">
            <a:tbl>
              <a:tblPr firstRow="1" firstCol="1" bandRow="1"/>
              <a:tblGrid>
                <a:gridCol w="4479506">
                  <a:extLst>
                    <a:ext uri="{9D8B030D-6E8A-4147-A177-3AD203B41FA5}">
                      <a16:colId xmlns:a16="http://schemas.microsoft.com/office/drawing/2014/main" val="4149151797"/>
                    </a:ext>
                  </a:extLst>
                </a:gridCol>
                <a:gridCol w="2133203">
                  <a:extLst>
                    <a:ext uri="{9D8B030D-6E8A-4147-A177-3AD203B41FA5}">
                      <a16:colId xmlns:a16="http://schemas.microsoft.com/office/drawing/2014/main" val="4229518840"/>
                    </a:ext>
                  </a:extLst>
                </a:gridCol>
                <a:gridCol w="1463298">
                  <a:extLst>
                    <a:ext uri="{9D8B030D-6E8A-4147-A177-3AD203B41FA5}">
                      <a16:colId xmlns:a16="http://schemas.microsoft.com/office/drawing/2014/main" val="3603529056"/>
                    </a:ext>
                  </a:extLst>
                </a:gridCol>
                <a:gridCol w="1982392">
                  <a:extLst>
                    <a:ext uri="{9D8B030D-6E8A-4147-A177-3AD203B41FA5}">
                      <a16:colId xmlns:a16="http://schemas.microsoft.com/office/drawing/2014/main" val="100551115"/>
                    </a:ext>
                  </a:extLst>
                </a:gridCol>
              </a:tblGrid>
              <a:tr h="5205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Silné Stránky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Známka (1-5)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 Váha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Konečná hodnota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27976"/>
                  </a:ext>
                </a:extLst>
              </a:tr>
              <a:tr h="4594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Digitalizácia a zefektívnenie procesov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1,0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18187"/>
                  </a:ext>
                </a:extLst>
              </a:tr>
              <a:tr h="856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Vysoká bezpečnosť a ochrana dát (GDPR)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0,3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1,5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722684"/>
                  </a:ext>
                </a:extLst>
              </a:tr>
              <a:tr h="617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Intuitívne UI pre všetky vekové kategórie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0,8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73860"/>
                  </a:ext>
                </a:extLst>
              </a:tr>
              <a:tr h="846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Škálovateľnosť pri raste počtu používateľov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0,3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840037"/>
                  </a:ext>
                </a:extLst>
              </a:tr>
              <a:tr h="735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Automatické notifikácie (email, SMS, </a:t>
                      </a:r>
                      <a:r>
                        <a:rPr lang="sk-SK" sz="1600" kern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push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0,8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8871"/>
                  </a:ext>
                </a:extLst>
              </a:tr>
              <a:tr h="269355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KHS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1,0 + 1,5 + 0,8 + 0,3 + 0,8 =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4,4</a:t>
                      </a:r>
                      <a:endParaRPr lang="sk-SK" sz="14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64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37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0CE7-9A09-2FEE-FF6E-64C19767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006BB0-1B6C-CF97-40D7-F482D387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SWOT analýza eTermín</a:t>
            </a:r>
          </a:p>
        </p:txBody>
      </p:sp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63C59155-0B5F-860B-C352-C183D9C2E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120210"/>
              </p:ext>
            </p:extLst>
          </p:nvPr>
        </p:nvGraphicFramePr>
        <p:xfrm>
          <a:off x="1097280" y="1737345"/>
          <a:ext cx="10058398" cy="4304680"/>
        </p:xfrm>
        <a:graphic>
          <a:graphicData uri="http://schemas.openxmlformats.org/drawingml/2006/table">
            <a:tbl>
              <a:tblPr firstRow="1" firstCol="1" bandRow="1"/>
              <a:tblGrid>
                <a:gridCol w="4479505">
                  <a:extLst>
                    <a:ext uri="{9D8B030D-6E8A-4147-A177-3AD203B41FA5}">
                      <a16:colId xmlns:a16="http://schemas.microsoft.com/office/drawing/2014/main" val="806842589"/>
                    </a:ext>
                  </a:extLst>
                </a:gridCol>
                <a:gridCol w="2133203">
                  <a:extLst>
                    <a:ext uri="{9D8B030D-6E8A-4147-A177-3AD203B41FA5}">
                      <a16:colId xmlns:a16="http://schemas.microsoft.com/office/drawing/2014/main" val="3428503352"/>
                    </a:ext>
                  </a:extLst>
                </a:gridCol>
                <a:gridCol w="1463298">
                  <a:extLst>
                    <a:ext uri="{9D8B030D-6E8A-4147-A177-3AD203B41FA5}">
                      <a16:colId xmlns:a16="http://schemas.microsoft.com/office/drawing/2014/main" val="1289329062"/>
                    </a:ext>
                  </a:extLst>
                </a:gridCol>
                <a:gridCol w="1982392">
                  <a:extLst>
                    <a:ext uri="{9D8B030D-6E8A-4147-A177-3AD203B41FA5}">
                      <a16:colId xmlns:a16="http://schemas.microsoft.com/office/drawing/2014/main" val="391565064"/>
                    </a:ext>
                  </a:extLst>
                </a:gridCol>
              </a:tblGrid>
              <a:tr h="5160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Slabé Stránky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Známka (1-5)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 Váha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Konečná hodnota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735214"/>
                  </a:ext>
                </a:extLst>
              </a:tr>
              <a:tr h="642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Nutnosť zmeny návykov u konzervatívnych osôb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0,3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0,6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595250"/>
                  </a:ext>
                </a:extLst>
              </a:tr>
              <a:tr h="5575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Úplná závislosť na internetovom pripojení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297141"/>
                  </a:ext>
                </a:extLst>
              </a:tr>
              <a:tr h="6691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Absencia detailného textu v dokumentácii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65537"/>
                  </a:ext>
                </a:extLst>
              </a:tr>
              <a:tr h="6787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Obmedzená integrácia v štádiu prototypu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63007"/>
                  </a:ext>
                </a:extLst>
              </a:tr>
              <a:tr h="6883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Náročnosť overovania zákonných zástupcov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14800"/>
                  </a:ext>
                </a:extLst>
              </a:tr>
              <a:tr h="275171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KHW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0,6 + 0,4 + 0,1 + 0,4 + 0,4 =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1,9</a:t>
                      </a:r>
                      <a:endParaRPr lang="sk-SK" sz="14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26664"/>
                  </a:ext>
                </a:extLst>
              </a:tr>
              <a:tr h="277595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Hodnota interného prostredia 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4,4 - 1,9 =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2,5</a:t>
                      </a:r>
                      <a:endParaRPr lang="sk-SK" sz="14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74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51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2FEAC-B333-D74E-D919-E23CF44E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2BC9B9-E796-F9F2-6849-D4FA788F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SWOT analýza eTermín</a:t>
            </a:r>
          </a:p>
        </p:txBody>
      </p:sp>
      <p:graphicFrame>
        <p:nvGraphicFramePr>
          <p:cNvPr id="8" name="Zástupný objekt pre obsah 7">
            <a:extLst>
              <a:ext uri="{FF2B5EF4-FFF2-40B4-BE49-F238E27FC236}">
                <a16:creationId xmlns:a16="http://schemas.microsoft.com/office/drawing/2014/main" id="{2525F06E-CD17-5DA1-D86D-03AE3EBA89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898308"/>
              </p:ext>
            </p:extLst>
          </p:nvPr>
        </p:nvGraphicFramePr>
        <p:xfrm>
          <a:off x="1097280" y="1737360"/>
          <a:ext cx="10027921" cy="4301594"/>
        </p:xfrm>
        <a:graphic>
          <a:graphicData uri="http://schemas.openxmlformats.org/drawingml/2006/table">
            <a:tbl>
              <a:tblPr firstRow="1" firstCol="1" bandRow="1"/>
              <a:tblGrid>
                <a:gridCol w="4465932">
                  <a:extLst>
                    <a:ext uri="{9D8B030D-6E8A-4147-A177-3AD203B41FA5}">
                      <a16:colId xmlns:a16="http://schemas.microsoft.com/office/drawing/2014/main" val="3970231819"/>
                    </a:ext>
                  </a:extLst>
                </a:gridCol>
                <a:gridCol w="2126738">
                  <a:extLst>
                    <a:ext uri="{9D8B030D-6E8A-4147-A177-3AD203B41FA5}">
                      <a16:colId xmlns:a16="http://schemas.microsoft.com/office/drawing/2014/main" val="1725595757"/>
                    </a:ext>
                  </a:extLst>
                </a:gridCol>
                <a:gridCol w="1458865">
                  <a:extLst>
                    <a:ext uri="{9D8B030D-6E8A-4147-A177-3AD203B41FA5}">
                      <a16:colId xmlns:a16="http://schemas.microsoft.com/office/drawing/2014/main" val="3568995582"/>
                    </a:ext>
                  </a:extLst>
                </a:gridCol>
                <a:gridCol w="1976386">
                  <a:extLst>
                    <a:ext uri="{9D8B030D-6E8A-4147-A177-3AD203B41FA5}">
                      <a16:colId xmlns:a16="http://schemas.microsoft.com/office/drawing/2014/main" val="3042503821"/>
                    </a:ext>
                  </a:extLst>
                </a:gridCol>
              </a:tblGrid>
              <a:tr h="5309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Príležitosti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Známka (1-5)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 Váha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Konečná hodnota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526904"/>
                  </a:ext>
                </a:extLst>
              </a:tr>
              <a:tr h="4806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Absencia jednotnej platformy na trhu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1,5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969342"/>
                  </a:ext>
                </a:extLst>
              </a:tr>
              <a:tr h="809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Potenciál integrácie do štátneho e-Health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15558"/>
                  </a:ext>
                </a:extLst>
              </a:tr>
              <a:tr h="807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Zníženie celkovej administratívnej záťaže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sk-S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sk-S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sk-S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17761"/>
                  </a:ext>
                </a:extLst>
              </a:tr>
              <a:tr h="537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Expanzia na natívne mobilné platformy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sk-S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sk-S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064559"/>
                  </a:ext>
                </a:extLst>
              </a:tr>
              <a:tr h="799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Zlepšenie dostupnosti zdravotnej starostlivosti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sk-S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sk-S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531304"/>
                  </a:ext>
                </a:extLst>
              </a:tr>
              <a:tr h="336178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KHO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1,5 + 0,8 + 0,8 + 0,3 + 0,8 =</a:t>
                      </a:r>
                      <a:endParaRPr lang="sk-S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  <a:endParaRPr lang="sk-SK" sz="1400" u="sng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419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44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42C96-300F-BA73-8AB6-B0DCE87C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819CD8-1B33-AA6A-2216-C919A1FE7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dirty="0">
                <a:solidFill>
                  <a:schemeClr val="tx1"/>
                </a:solidFill>
              </a:rPr>
              <a:t>SWOT analýza eTermín</a:t>
            </a:r>
          </a:p>
        </p:txBody>
      </p:sp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83F96FD7-D6DE-9D2E-F411-A9AA76040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146790"/>
              </p:ext>
            </p:extLst>
          </p:nvPr>
        </p:nvGraphicFramePr>
        <p:xfrm>
          <a:off x="1097280" y="1737359"/>
          <a:ext cx="10058399" cy="4304666"/>
        </p:xfrm>
        <a:graphic>
          <a:graphicData uri="http://schemas.openxmlformats.org/drawingml/2006/table">
            <a:tbl>
              <a:tblPr firstRow="1" firstCol="1" bandRow="1"/>
              <a:tblGrid>
                <a:gridCol w="4479505">
                  <a:extLst>
                    <a:ext uri="{9D8B030D-6E8A-4147-A177-3AD203B41FA5}">
                      <a16:colId xmlns:a16="http://schemas.microsoft.com/office/drawing/2014/main" val="4162629110"/>
                    </a:ext>
                  </a:extLst>
                </a:gridCol>
                <a:gridCol w="2133203">
                  <a:extLst>
                    <a:ext uri="{9D8B030D-6E8A-4147-A177-3AD203B41FA5}">
                      <a16:colId xmlns:a16="http://schemas.microsoft.com/office/drawing/2014/main" val="562929326"/>
                    </a:ext>
                  </a:extLst>
                </a:gridCol>
                <a:gridCol w="1463299">
                  <a:extLst>
                    <a:ext uri="{9D8B030D-6E8A-4147-A177-3AD203B41FA5}">
                      <a16:colId xmlns:a16="http://schemas.microsoft.com/office/drawing/2014/main" val="1658430942"/>
                    </a:ext>
                  </a:extLst>
                </a:gridCol>
                <a:gridCol w="1982392">
                  <a:extLst>
                    <a:ext uri="{9D8B030D-6E8A-4147-A177-3AD203B41FA5}">
                      <a16:colId xmlns:a16="http://schemas.microsoft.com/office/drawing/2014/main" val="3118631860"/>
                    </a:ext>
                  </a:extLst>
                </a:gridCol>
              </a:tblGrid>
              <a:tr h="5405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Hrozby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Známka (1-5)</a:t>
                      </a:r>
                      <a:endParaRPr lang="sk-SK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 Váha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8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Konečná hodnota</a:t>
                      </a:r>
                      <a:endParaRPr lang="sk-SK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22972"/>
                  </a:ext>
                </a:extLst>
              </a:tr>
              <a:tr h="806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Kybernetické útoky na zdravotné záznamy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1,6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947667"/>
                  </a:ext>
                </a:extLst>
              </a:tr>
              <a:tr h="8310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Odpor odborného personálu voči digitalizácii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906747"/>
                  </a:ext>
                </a:extLst>
              </a:tr>
              <a:tr h="5380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Časté zmeny legislatívy v oblasti GDPR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19003"/>
                  </a:ext>
                </a:extLst>
              </a:tr>
              <a:tr h="590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Vznik konkurencie v súkromnom sektore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238509"/>
                  </a:ext>
                </a:extLst>
              </a:tr>
              <a:tr h="3128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Výpadky kritickej sieťovej infraštruktúry</a:t>
                      </a:r>
                      <a:endParaRPr lang="sk-SK" sz="1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</a:t>
                      </a:r>
                      <a:endParaRPr lang="sk-SK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070984"/>
                  </a:ext>
                </a:extLst>
              </a:tr>
              <a:tr h="336917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KHT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1,6 + 0,4 + 0,2 + 0,2 + 0,4 =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2,8</a:t>
                      </a:r>
                      <a:endParaRPr lang="sk-SK" sz="14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56337"/>
                  </a:ext>
                </a:extLst>
              </a:tr>
              <a:tr h="347658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b="1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Hodnota externého prostredia</a:t>
                      </a:r>
                      <a:r>
                        <a:rPr lang="sk-SK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4,2 - 2,8 =</a:t>
                      </a:r>
                      <a:endParaRPr lang="sk-SK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k-SK" sz="1600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1,4</a:t>
                      </a:r>
                      <a:endParaRPr lang="sk-SK" sz="14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990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435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FE8436-58AA-638C-9854-FF8997FA97AF}"/>
              </a:ext>
            </a:extLst>
          </p:cNvPr>
          <p:cNvSpPr txBox="1">
            <a:spLocks/>
          </p:cNvSpPr>
          <p:nvPr/>
        </p:nvSpPr>
        <p:spPr>
          <a:xfrm>
            <a:off x="2261914" y="462464"/>
            <a:ext cx="7712378" cy="78698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solidFill>
                  <a:schemeClr val="tx1"/>
                </a:solidFill>
              </a:rPr>
              <a:t>Vyhodnotenie SWOT analýzy</a:t>
            </a:r>
            <a:endParaRPr lang="sk-SK" sz="5400" b="1" dirty="0">
              <a:solidFill>
                <a:schemeClr val="tx1"/>
              </a:solidFill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6EA11D3B-55FF-02C6-AA63-2AC6C9E8B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" t="5897" r="3326" b="1041"/>
          <a:stretch>
            <a:fillRect/>
          </a:stretch>
        </p:blipFill>
        <p:spPr bwMode="auto">
          <a:xfrm>
            <a:off x="2743200" y="1179646"/>
            <a:ext cx="6749807" cy="51443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8209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49E90-F384-5437-F77E-9A11A62A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705986"/>
            <a:ext cx="3955311" cy="1627632"/>
          </a:xfrm>
        </p:spPr>
        <p:txBody>
          <a:bodyPr anchor="ctr">
            <a:no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Ďakujeme za pozornosť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EA176534-DA61-E7F4-2BD4-61D9EAA3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67" t="3665" r="8833" b="16131"/>
          <a:stretch>
            <a:fillRect/>
          </a:stretch>
        </p:blipFill>
        <p:spPr>
          <a:xfrm>
            <a:off x="6429099" y="757927"/>
            <a:ext cx="5342144" cy="534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8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a">
  <a:themeElements>
    <a:clrScheme name="Vlastné 16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303D8B"/>
      </a:accent1>
      <a:accent2>
        <a:srgbClr val="303D8B"/>
      </a:accent2>
      <a:accent3>
        <a:srgbClr val="303D8B"/>
      </a:accent3>
      <a:accent4>
        <a:srgbClr val="303D8B"/>
      </a:accent4>
      <a:accent5>
        <a:srgbClr val="303D8B"/>
      </a:accent5>
      <a:accent6>
        <a:srgbClr val="303D8B"/>
      </a:accent6>
      <a:hlink>
        <a:srgbClr val="303D8B"/>
      </a:hlink>
      <a:folHlink>
        <a:srgbClr val="303D8B"/>
      </a:folHlink>
    </a:clrScheme>
    <a:fontScheme name="Retrospektí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123</TotalTime>
  <Words>451</Words>
  <Application>Microsoft Office PowerPoint</Application>
  <PresentationFormat>Širokouhlá</PresentationFormat>
  <Paragraphs>142</Paragraphs>
  <Slides>11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6" baseType="lpstr">
      <vt:lpstr>Aptos</vt:lpstr>
      <vt:lpstr>Calibri</vt:lpstr>
      <vt:lpstr>Calibri Light</vt:lpstr>
      <vt:lpstr>Wingdings</vt:lpstr>
      <vt:lpstr>Retrospektíva</vt:lpstr>
      <vt:lpstr>SWOT analýza projektu eTermín </vt:lpstr>
      <vt:lpstr>Silné stránky</vt:lpstr>
      <vt:lpstr>Slabé stránky</vt:lpstr>
      <vt:lpstr>Príležitosti</vt:lpstr>
      <vt:lpstr>Hrozby</vt:lpstr>
      <vt:lpstr>SWOT analýza eTermín</vt:lpstr>
      <vt:lpstr>SWOT analýza eTermín</vt:lpstr>
      <vt:lpstr>SWOT analýza eTermín</vt:lpstr>
      <vt:lpstr>SWOT analýza eTermín</vt:lpstr>
      <vt:lpstr>Prezentácia programu PowerPoint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Budinský</dc:creator>
  <cp:lastModifiedBy>Samuel Budinský</cp:lastModifiedBy>
  <cp:revision>23</cp:revision>
  <dcterms:created xsi:type="dcterms:W3CDTF">2026-02-24T18:24:02Z</dcterms:created>
  <dcterms:modified xsi:type="dcterms:W3CDTF">2026-02-26T15:56:12Z</dcterms:modified>
</cp:coreProperties>
</file>